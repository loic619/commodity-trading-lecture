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3.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Extra virgin, ex-mill Spain (EUR/t)</c:v>
                </c:pt>
              </c:strCache>
            </c:strRef>
          </c:tx>
          <c:spPr>
            <a:solidFill>
              <a:srgbClr val="A34B12"/>
            </a:solidFill>
            <a:ln w="38100" cap="flat">
              <a:solidFill>
                <a:srgbClr val="A34B1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A34B12"/>
              </a:solidFill>
              <a:ln w="9525" cap="flat">
                <a:solidFill>
                  <a:srgbClr val="A34B12"/>
                </a:solidFill>
                <a:prstDash val="solid"/>
                <a:round/>
              </a:ln>
              <a:effectLst/>
            </c:spPr>
          </c:marker>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2100</c:v>
                </c:pt>
                <c:pt idx="1">
                  <c:v>1900</c:v>
                </c:pt>
                <c:pt idx="2">
                  <c:v>3200</c:v>
                </c:pt>
                <c:pt idx="3">
                  <c:v>4000</c:v>
                </c:pt>
                <c:pt idx="4">
                  <c:v>7500</c:v>
                </c:pt>
                <c:pt idx="5">
                  <c:v>8900</c:v>
                </c:pt>
                <c:pt idx="6">
                  <c:v>3900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55F"/>
                </a:solidFill>
                <a:latin typeface="Courier New"/>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DF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55F"/>
                </a:solidFill>
                <a:latin typeface="Courier New"/>
              </a:defRPr>
            </a:pPr>
            <a:endParaRPr lang="en-US"/>
          </a:p>
        </c:txPr>
        <c:crossAx val="2094734554"/>
        <c:crosses val="autoZero"/>
        <c:crossBetween val="between"/>
        <c:majorUnit val="2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Producer cash flow (USD)</c:v>
                </c:pt>
              </c:strCache>
            </c:strRef>
          </c:tx>
          <c:spPr>
            <a:solidFill>
              <a:srgbClr val="A34B12"/>
            </a:solidFill>
            <a:effectLst/>
          </c:spPr>
          <c:invertIfNegative val="0"/>
          <c:dLbls>
            <c:numFmt formatCode="#,##0;-#,##0" sourceLinked="0"/>
            <c:txPr>
              <a:bodyPr/>
              <a:lstStyle/>
              <a:p>
                <a:pPr>
                  <a:defRPr b="0" i="0" strike="noStrike" sz="1000" u="none">
                    <a:solidFill>
                      <a:srgbClr val="221E1B"/>
                    </a:solidFill>
                    <a:latin typeface="Courier New"/>
                  </a:defRPr>
                </a:pPr>
              </a:p>
            </c:txPr>
            <c:showLegendKey val="0"/>
            <c:showVal val="1"/>
            <c:showCatName val="0"/>
            <c:showSerName val="0"/>
            <c:showPercent val="0"/>
            <c:showBubbleSize val="0"/>
            <c:showLeaderLines val="0"/>
          </c:dLbls>
          <c:dPt>
            <c:idx val="0"/>
            <c:invertIfNegative val="0"/>
            <c:bubble3D val="0"/>
            <c:spPr>
              <a:solidFill>
                <a:srgbClr val="A34B12"/>
              </a:solidFill>
              <a:effectLst/>
            </c:spPr>
          </c:dPt>
          <c:dPt>
            <c:idx val="1"/>
            <c:invertIfNegative val="0"/>
            <c:bubble3D val="0"/>
            <c:spPr>
              <a:solidFill>
                <a:srgbClr val="6B655F"/>
              </a:solidFill>
              <a:effectLst/>
            </c:spPr>
          </c:dPt>
          <c:dPt>
            <c:idx val="2"/>
            <c:invertIfNegative val="0"/>
            <c:bubble3D val="0"/>
            <c:spPr>
              <a:solidFill>
                <a:srgbClr val="A34B12"/>
              </a:solidFill>
              <a:effectLst/>
            </c:spPr>
          </c:dPt>
          <c:cat>
            <c:multiLvlStrRef>
              <c:f>Sheet1!$A$2:$A$4</c:f>
              <c:multiLvlStrCache>
                <c:ptCount val="3"/>
                <c:lvl>
                  <c:pt idx="0">
                    <c:v>January</c:v>
                  </c:pt>
                  <c:pt idx="1">
                    <c:v>February</c:v>
                  </c:pt>
                  <c:pt idx="2">
                    <c:v>March</c:v>
                  </c:pt>
                </c:lvl>
              </c:multiLvlStrCache>
            </c:multiLvlStrRef>
          </c:cat>
          <c:val>
            <c:numRef>
              <c:f>Sheet1!$B$2:$B$4</c:f>
              <c:numCache>
                <c:formatCode>General</c:formatCode>
                <c:ptCount val="3"/>
                <c:pt idx="0">
                  <c:v>75000</c:v>
                </c:pt>
                <c:pt idx="1">
                  <c:v>-60000</c:v>
                </c:pt>
                <c:pt idx="2">
                  <c:v>0</c:v>
                </c:pt>
              </c:numCache>
            </c:numRef>
          </c:val>
        </c:ser>
        <c:dLbls>
          <c:numFmt formatCode="#,##0;-#,##0" sourceLinked="0"/>
          <c:txPr>
            <a:bodyPr/>
            <a:lstStyle/>
            <a:p>
              <a:pPr>
                <a:defRPr b="0" i="0" strike="noStrike" sz="1000" u="none">
                  <a:solidFill>
                    <a:srgbClr val="221E1B"/>
                  </a:solidFill>
                  <a:latin typeface="Courier New"/>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55F"/>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DF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55F"/>
                </a:solidFill>
                <a:latin typeface="Courier New"/>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Contango</c:v>
                </c:pt>
              </c:strCache>
            </c:strRef>
          </c:tx>
          <c:spPr>
            <a:solidFill>
              <a:srgbClr val="A34B12"/>
            </a:solidFill>
            <a:ln w="38100" cap="flat">
              <a:solidFill>
                <a:srgbClr val="A34B1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A34B12"/>
              </a:solidFill>
              <a:ln w="9525" cap="flat">
                <a:solidFill>
                  <a:srgbClr val="A34B12"/>
                </a:solidFill>
                <a:prstDash val="solid"/>
                <a:round/>
              </a:ln>
              <a:effectLst/>
            </c:spPr>
          </c:marker>
          <c:cat>
            <c:multiLvlStrRef>
              <c:f>Sheet1!$A$2:$A$8</c:f>
              <c:multiLvlStrCache>
                <c:ptCount val="7"/>
                <c:lvl>
                  <c:pt idx="0">
                    <c:v>Spot</c:v>
                  </c:pt>
                  <c:pt idx="1">
                    <c:v>+1m</c:v>
                  </c:pt>
                  <c:pt idx="2">
                    <c:v>+2m</c:v>
                  </c:pt>
                  <c:pt idx="3">
                    <c:v>+3m</c:v>
                  </c:pt>
                  <c:pt idx="4">
                    <c:v>+4m</c:v>
                  </c:pt>
                  <c:pt idx="5">
                    <c:v>+5m</c:v>
                  </c:pt>
                  <c:pt idx="6">
                    <c:v>+6m</c:v>
                  </c:pt>
                </c:lvl>
              </c:multiLvlStrCache>
            </c:multiLvlStrRef>
          </c:cat>
          <c:val>
            <c:numRef>
              <c:f>Sheet1!$B$2:$B$8</c:f>
              <c:numCache>
                <c:formatCode>General</c:formatCode>
                <c:ptCount val="7"/>
                <c:pt idx="0">
                  <c:v>60</c:v>
                </c:pt>
                <c:pt idx="1">
                  <c:v>61.2</c:v>
                </c:pt>
                <c:pt idx="2">
                  <c:v>62.4</c:v>
                </c:pt>
                <c:pt idx="3">
                  <c:v>63.5</c:v>
                </c:pt>
                <c:pt idx="4">
                  <c:v>64.7</c:v>
                </c:pt>
                <c:pt idx="5">
                  <c:v>65.9</c:v>
                </c:pt>
                <c:pt idx="6">
                  <c:v>67</c:v>
                </c:pt>
              </c:numCache>
            </c:numRef>
          </c:val>
          <c:smooth val="0"/>
        </c:ser>
        <c:ser>
          <c:idx val="1"/>
          <c:order val="1"/>
          <c:tx>
            <c:strRef>
              <c:f>Sheet1!$C$1</c:f>
              <c:strCache>
                <c:ptCount val="1"/>
                <c:pt idx="0">
                  <c:v>Backwardation</c:v>
                </c:pt>
              </c:strCache>
            </c:strRef>
          </c:tx>
          <c:spPr>
            <a:solidFill>
              <a:srgbClr val="46505A"/>
            </a:solidFill>
            <a:ln w="38100" cap="flat">
              <a:solidFill>
                <a:srgbClr val="46505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6505A"/>
              </a:solidFill>
              <a:ln w="9525" cap="flat">
                <a:solidFill>
                  <a:srgbClr val="46505A"/>
                </a:solidFill>
                <a:prstDash val="solid"/>
                <a:round/>
              </a:ln>
              <a:effectLst/>
            </c:spPr>
          </c:marker>
          <c:cat>
            <c:multiLvlStrRef>
              <c:f>Sheet1!$A$2:$A$8</c:f>
              <c:multiLvlStrCache>
                <c:ptCount val="7"/>
                <c:lvl>
                  <c:pt idx="0">
                    <c:v>Spot</c:v>
                  </c:pt>
                  <c:pt idx="1">
                    <c:v>+1m</c:v>
                  </c:pt>
                  <c:pt idx="2">
                    <c:v>+2m</c:v>
                  </c:pt>
                  <c:pt idx="3">
                    <c:v>+3m</c:v>
                  </c:pt>
                  <c:pt idx="4">
                    <c:v>+4m</c:v>
                  </c:pt>
                  <c:pt idx="5">
                    <c:v>+5m</c:v>
                  </c:pt>
                  <c:pt idx="6">
                    <c:v>+6m</c:v>
                  </c:pt>
                </c:lvl>
              </c:multiLvlStrCache>
            </c:multiLvlStrRef>
          </c:cat>
          <c:val>
            <c:numRef>
              <c:f>Sheet1!$C$2:$C$8</c:f>
              <c:numCache>
                <c:formatCode>General</c:formatCode>
                <c:ptCount val="7"/>
                <c:pt idx="0">
                  <c:v>60</c:v>
                </c:pt>
                <c:pt idx="1">
                  <c:v>58.6</c:v>
                </c:pt>
                <c:pt idx="2">
                  <c:v>57.4</c:v>
                </c:pt>
                <c:pt idx="3">
                  <c:v>56.4</c:v>
                </c:pt>
                <c:pt idx="4">
                  <c:v>55.6</c:v>
                </c:pt>
                <c:pt idx="5">
                  <c:v>55</c:v>
                </c:pt>
                <c:pt idx="6">
                  <c:v>54.6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55F"/>
                </a:solidFill>
                <a:latin typeface="Courier New"/>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DF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55F"/>
                </a:solidFill>
                <a:latin typeface="Courier New"/>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655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Housekeeping first, 2 min: three hours, one break. Phones face down except for the trading screen later.
Frame the session: today is vocabulary and panorama. You will not hedge anything today — that is Module 2.
Promise: by 17:00 you can read a futures screen and say what a commodity trader is actually paid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first: what does a commodity trader do all day? Collect answers on the board — most will say "buy low sell high".
Then: that is one third of it, and the easiest third.
Each card = a department, and a way to lose the margin. Name the three failure stories: priced well but no vessel; shipped but never paid; paid but the quality was rejected.
Callback later: the exchange has three functions too. Same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obvious answer: the product is not coffee. Coffee moves through the desk untouched.
Walk the list slowly. For each, ask for an example from a market they know.
Counterparty risk: flag it now, it comes back twice today — olive oil, and the clearing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reframes the industry. Take your time.
Ask: is Carrefour a commodity trader? Let them argue. Most say no.
Then: they buy forward, they store, they carry price risk, they resell. Which part is not trading?
End on the question — do NOT answer it. The next four slides are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the 250g pack on the shelf. Its price was effectively decided months ago.
Ask: how often does the coffee price on the shelf change? Once or twice a year. Now compare with the futures screen, which changes every second.
That gap between the two clocks is the whole problem this course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one quick — it is the obvious move, and it is a trap.
Let them agree with it. The next slide takes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whole introduction. Slow down.
Ask: whose problem is it when your supplier walks away? Yours. You still owe the retailer a year of product at a fixed price.
Forward-reference: this is exactly what happened in olive oil in 2023. We come back to it in twenty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how you would escape the trap before showing the cards. Someone usually gets it.
The insight is that a contract bundles two decisions, and bundling is 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formula on the board as you say it: invoice price = futures fixing + differential.
Emphasise: this is the single most important contract in physical commodity trading, and we derived it from a supermarket shelf.
Module 2 is essentially three hours on this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in one sentence. Make them write it down.
Consequence 1: if the trader keeps the differential and not the flat price, they need somewhere to lay the flat price off. That is the exchange — next section.
Consequence 2: they must understand what moves the reference AND what moves the differential. That is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Thought experiment, out loud: delete ICE from the world tonight. What breaks tomorrow morning?
Draw on the board: 5 sellers x 5 buyers = 25 bilateral negotiations. Then 50 x 50. Quadratic.
One central marketplace turns that into linear — and makes the price public.
These two problems are the whole reason the rest of the course exists. Everything today answers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market, recent, and they have all seen the price in the supermarket. Use that.
Ask: what should a good olive-oil buyer have done in 2022? Let them propose. Next slide kills both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this is the trap from the introduction, now in a real market.
Plant the flag: remember this failure. In fifteen minutes we meet the institution invented specifically to kill it — the clearing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onion case is the one to dwell on — a natural experiment run by the US Congress.
The farmers lobbied for the ban because they blamed speculators for volatility. They got more volatility.
Ask: why would removing the futures market make prices LESS stable? Let them reason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designed by economists — improvised by merchants who lived the no-market world every autumn.
Point at each date and map it back to the two problems: 1848 solves the reference price, 1850s solves protection in advance, 1925 solves counterparty risk.
The olive-oil failure structurally cannot happen on a cleared exchange. That is the whole point of 1925.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slide 3: three aspects of a trade, three functions of an exchange. The market is built to serve the job.
The 2,000x number always gets a reaction. Ask what it means: most trading is risk transfer and liquidity, not people wanting coffee.
Pre-empt the "speculators are parasites" objection here — without that volume the farmer has nobody to sell his hedge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slide. The point is scope: what you learn on coffee transfers to metals and energy.
ABCD: ask if anyone has heard of Cargill. Usually nobody. Largest private company in America — that lands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idea of a pre-printed page with one blank. That image does the work.
Note the units are all different and all traditional — 37,500 lbs is not a round number by accident, it is a railcar.
Most contracts are never delivered: they are offset before expiry. Delivery matters because it is POSSIBLE, not because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quality ladder: Class 1 delivers at contract price, better earns a premium, worse a discount — and the exchange sets those, they are not negotiated.
That is what keeps delivery predictable, and it is the bridge between an idealised contract and messy real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back on the word "guarantee" — students hear it as risk-free. Use the 2018 Nasdaq case to show it is not.
That matters professionally: your clearing member can still fail, and you post margin to a default waterfall.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will trade this book in the web app later. Here just establish that a "price" is really two prices and a queue.
Ask: if you must buy 40 lots right now, what price do you get? Not the screen price. That gap is a real cost, and it is why size is a disadvantage.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two-trade mechanic on the board: A buys from B — volume +1, OI +1, new risk created. A then sells to C — volume +1, OI unchanged, the promise just changed owner.
Third case worth stating: A buys back from B, both close — volume +1, OI −1. Risk destroyed.
The last row is the professional read. "Rally on falling open interest" is a short-covering rally, and it usually does not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people who have read about hedging from people who have done it.
Symmetric point: if the market falls, the hedge PAYS you daily while the stock loses on paper. Just as misleading if the cash gets spent.
Ashanti 1999 is worth two minutes if there is time — a gold miner hedged correctly and nearly died of margin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difference from futures: custom size, custom tenor, custom settlement — and counterparty credit risk, because there is no clearing house.
At the trade date NO cash changes hands. A swap is not an option; there is no premium. Students confuse these constantly.
How it actually gets done: by voice and instant message through an OTC broker — TOTSA in Geneva, PVM in London — papered under an ISDA, settled against a published average. Not a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both shapes on the board freehand before showing the chart. They should be able to sketch these by the end of the module.
Emphasise storable vs non-storable: power and livestock have no carry linking one month to the next, so no contango logic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arbitrage is what makes the curve an equation rather than an opinion. That sets up the next slide.
Practical: a trader with a warehouse owns an option on the calendar spread. We price that in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mistake in the room and in the press. Make them say the wrong version out loud first.
Ask: if the curve predicted the future, what would that imply about anyone holding the spot commodity?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Robusta market has had recurring squeezes — this is not theoretical for a coffee trader.
LME nickel 2022 is the case to mention: the exchange cancelled trades. Ask what that does to trust in a market. Good debate if time allows.
Link forward: an unplanned long in the delivery month is a decision, not 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animated version in the web app here — one real year of Robusta, six contracts, the crowd handing over.
This is where open interest from the instruments section pays off. Watch the bands trade places.
The roll also has an economics: in backwardation you buy each deferred cheap and ride it up to spot. That is roll yield — Module 2 prices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discipline to teach: every supply headline on the screen is a sentence about ONE of these factors. Knowing the tree tells you how many tons the headline is really worth.
Test it live: "drought in Minas Gerais" — which factor? Yield per tree. "Farmers replanting with avocado" — hectares, and with a lag of years.
That lag matters: hectares move over years, yield moves within a season. Different trades.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it on the board as an accountant would, two columns, and force the totals to match.
The chain is the lesson: thin carry-out, nervous market, outsized reaction to news. That is the 2024/25 backdrop behind the spike they will trade in the app.
Walk the driver tree in the web app afterwards — click carry-in and ask "do farmers LIKE the price?" That question is real and it is not in any textbook.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wheel in the app, and switch it to wheat and corn so they see the same logic in another crop.
Point at today's date on the wheel: whose harvest is running right now? That is who is pressing the market this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diarise the WASDE release — the report itself moves the market at a known minute. Knowing the calendar is part of the job.
Everyone has the same public data. The differentiation is the private adjustment and the speed of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read out five real headlines, let them shout the box. Fast, thirty seconds each.
The useful follow-up question each time: how many tons, and for how long? A supply shock to yield is one season; a shock to hectares is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Careers moment. Be direct: the classic path runs through the back office — operations, then execution and logistics, then a junior trading seat.
The desk trusts people who know how cargo really moves. Say that plainly; it is the most useful careers advice in the module.
Every interview in this industry assumes you understand this structure. Some will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twice, deliberately. First as a map of JOBS: every step is a role you could be hired into next year, and each one sees the whole trade.
Then as a map of CONTROLS: the person who does the deal never confirms it, never wires the cash, never marks their own book. Barings built into the furniture.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flows do not run together — that is the whole point, and it is where the money and the risk live.
Operations move the goods, back office owns the paper, treasury moves the cash, and the front office hedge protects the price the whole way.
Close the loop: that hedge is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list out. Ask them to close laptops and tell YOU what a commodity trader is paid for. Then show the slide.
Set the work before Module 2: run the futures screen and the junior inbox in the web app.
Module 2 codeword: antwerp.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1E1B"/>
        </a:solidFill>
      </p:bgPr>
    </p:bg>
    <p:spTree>
      <p:nvGrpSpPr>
        <p:cNvPr id="1" name=""/>
        <p:cNvGrpSpPr/>
        <p:nvPr/>
      </p:nvGrpSpPr>
      <p:grpSpPr>
        <a:xfrm>
          <a:off x="0" y="0"/>
          <a:ext cx="0" cy="0"/>
          <a:chOff x="0" y="0"/>
          <a:chExt cx="0" cy="0"/>
        </a:xfrm>
      </p:grpSpPr>
      <p:sp>
        <p:nvSpPr>
          <p:cNvPr id="2" name="Text 0"/>
          <p:cNvSpPr txBox="1"/>
          <p:nvPr/>
        </p:nvSpPr>
        <p:spPr>
          <a:xfrm>
            <a:off x="548640" y="1417320"/>
            <a:ext cx="804672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Commodity Trading</a:t>
            </a:r>
            <a:endParaRPr lang="en-US" sz="4600" dirty="0"/>
          </a:p>
        </p:txBody>
      </p:sp>
      <p:sp>
        <p:nvSpPr>
          <p:cNvPr id="3" name="Text 1"/>
          <p:cNvSpPr txBox="1"/>
          <p:nvPr/>
        </p:nvSpPr>
        <p:spPr>
          <a:xfrm>
            <a:off x="548640" y="2286000"/>
            <a:ext cx="8046720" cy="411480"/>
          </a:xfrm>
          <a:prstGeom prst="rect">
            <a:avLst/>
          </a:prstGeom>
          <a:noFill/>
          <a:ln/>
        </p:spPr>
        <p:txBody>
          <a:bodyPr wrap="square" lIns="0" tIns="0" rIns="0" bIns="0" rtlCol="0" anchor="ctr"/>
          <a:lstStyle/>
          <a:p>
            <a:pPr indent="0" marL="0">
              <a:buNone/>
            </a:pPr>
            <a:r>
              <a:rPr lang="en-US" sz="2000" dirty="0">
                <a:solidFill>
                  <a:srgbClr val="A34B12"/>
                </a:solidFill>
                <a:latin typeface="Cambria" pitchFamily="34" charset="0"/>
                <a:ea typeface="Cambria" pitchFamily="34" charset="-122"/>
                <a:cs typeface="Cambria" pitchFamily="34" charset="-120"/>
              </a:rPr>
              <a:t>Module 1 — Panorama and vocabulary</a:t>
            </a:r>
            <a:endParaRPr lang="en-US" sz="2000" dirty="0"/>
          </a:p>
        </p:txBody>
      </p:sp>
      <p:sp>
        <p:nvSpPr>
          <p:cNvPr id="4" name="Text 2"/>
          <p:cNvSpPr txBox="1"/>
          <p:nvPr/>
        </p:nvSpPr>
        <p:spPr>
          <a:xfrm>
            <a:off x="548640" y="3977640"/>
            <a:ext cx="8046720" cy="274320"/>
          </a:xfrm>
          <a:prstGeom prst="rect">
            <a:avLst/>
          </a:prstGeom>
          <a:noFill/>
          <a:ln/>
        </p:spPr>
        <p:txBody>
          <a:bodyPr wrap="square" lIns="0" tIns="0" rIns="0" bIns="0" rtlCol="0" anchor="ctr"/>
          <a:lstStyle/>
          <a:p>
            <a:pPr indent="0" marL="0">
              <a:buNone/>
            </a:pPr>
            <a:r>
              <a:rPr lang="en-US" sz="1000" spc="80" kern="0" dirty="0">
                <a:solidFill>
                  <a:srgbClr val="9A8F86"/>
                </a:solidFill>
                <a:latin typeface="Courier New" pitchFamily="34" charset="0"/>
                <a:ea typeface="Courier New" pitchFamily="34" charset="-122"/>
                <a:cs typeface="Courier New" pitchFamily="34" charset="-120"/>
              </a:rPr>
              <a:t>Loïc Scanu   ·   Université Paris-Panthéon-Assas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21E1B"/>
        </a:solidFill>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lstStyle/>
          <a:p>
            <a:pPr indent="0" marL="0">
              <a:buNone/>
            </a:pPr>
            <a:r>
              <a:rPr lang="en-US" sz="5400" dirty="0">
                <a:solidFill>
                  <a:srgbClr val="A34B12"/>
                </a:solidFill>
                <a:latin typeface="Courier New" pitchFamily="34" charset="0"/>
                <a:ea typeface="Courier New" pitchFamily="34" charset="-122"/>
                <a:cs typeface="Courier New" pitchFamily="34" charset="-120"/>
              </a:rPr>
              <a:t>01</a:t>
            </a:r>
            <a:endParaRPr lang="en-US" sz="5400" dirty="0"/>
          </a:p>
        </p:txBody>
      </p:sp>
      <p:sp>
        <p:nvSpPr>
          <p:cNvPr id="3" name="Text 1"/>
          <p:cNvSpPr txBox="1"/>
          <p:nvPr/>
        </p:nvSpPr>
        <p:spPr>
          <a:xfrm>
            <a:off x="548640" y="2377440"/>
            <a:ext cx="80467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the job actually is</a:t>
            </a:r>
            <a:endParaRPr lang="en-US" sz="3400" dirty="0"/>
          </a:p>
        </p:txBody>
      </p:sp>
      <p:sp>
        <p:nvSpPr>
          <p:cNvPr id="4" name="Text 2"/>
          <p:cNvSpPr txBox="1"/>
          <p:nvPr/>
        </p:nvSpPr>
        <p:spPr>
          <a:xfrm>
            <a:off x="548640" y="3200400"/>
            <a:ext cx="6675120" cy="548640"/>
          </a:xfrm>
          <a:prstGeom prst="rect">
            <a:avLst/>
          </a:prstGeom>
          <a:noFill/>
          <a:ln/>
        </p:spPr>
        <p:txBody>
          <a:bodyPr wrap="square" lIns="0" tIns="0" rIns="0" bIns="0" rtlCol="0" anchor="ctr"/>
          <a:lstStyle/>
          <a:p>
            <a:pPr indent="0" marL="0">
              <a:lnSpc>
                <a:spcPts val="2000"/>
              </a:lnSpc>
              <a:buNone/>
            </a:pPr>
            <a:r>
              <a:rPr lang="en-US" sz="1400" dirty="0">
                <a:solidFill>
                  <a:srgbClr val="9A8F86"/>
                </a:solidFill>
                <a:latin typeface="Calibri" pitchFamily="34" charset="0"/>
                <a:ea typeface="Calibri" pitchFamily="34" charset="-122"/>
                <a:cs typeface="Calibri" pitchFamily="34" charset="-120"/>
              </a:rPr>
              <a:t>Three aspects, a basket of risks, and one contract that falls out of the constraints.</a:t>
            </a:r>
            <a:endParaRPr lang="en-US" sz="1400" dirty="0"/>
          </a:p>
        </p:txBody>
      </p:sp>
      <p:sp>
        <p:nvSpPr>
          <p:cNvPr id="5" name="Text 3"/>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E6259"/>
                </a:solidFill>
                <a:latin typeface="Courier New" pitchFamily="34" charset="0"/>
                <a:ea typeface="Courier New" pitchFamily="34" charset="-122"/>
                <a:cs typeface="Courier New" pitchFamily="34" charset="-120"/>
              </a:rPr>
              <a:t>WHAT THE JOB ACTUALLY IS</a:t>
            </a:r>
            <a:endParaRPr lang="en-US" sz="800" dirty="0"/>
          </a:p>
        </p:txBody>
      </p:sp>
      <p:sp>
        <p:nvSpPr>
          <p:cNvPr id="6" name="Text 4"/>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E6259"/>
                </a:solidFill>
                <a:latin typeface="Courier New" pitchFamily="34" charset="0"/>
                <a:ea typeface="Courier New" pitchFamily="34" charset="-122"/>
                <a:cs typeface="Courier New"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job</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Every trade clears three tests at once</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WHAT THE JOB ACTUALLY IS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2</a:t>
            </a:r>
            <a:endParaRPr lang="en-US" sz="800" dirty="0"/>
          </a:p>
        </p:txBody>
      </p:sp>
      <p:sp>
        <p:nvSpPr>
          <p:cNvPr id="6" name="Shape 4"/>
          <p:cNvSpPr/>
          <p:nvPr/>
        </p:nvSpPr>
        <p:spPr>
          <a:xfrm>
            <a:off x="548640" y="1645920"/>
            <a:ext cx="2499360" cy="2286000"/>
          </a:xfrm>
          <a:prstGeom prst="roundRect">
            <a:avLst>
              <a:gd name="adj" fmla="val 2400"/>
            </a:avLst>
          </a:prstGeom>
          <a:solidFill>
            <a:srgbClr val="F7F5F3"/>
          </a:solidFill>
          <a:ln w="9525">
            <a:solidFill>
              <a:srgbClr val="E3DFDA"/>
            </a:solidFill>
            <a:prstDash val="solid"/>
          </a:ln>
        </p:spPr>
      </p:sp>
      <p:sp>
        <p:nvSpPr>
          <p:cNvPr id="7" name="Text 5"/>
          <p:cNvSpPr txBox="1"/>
          <p:nvPr/>
        </p:nvSpPr>
        <p:spPr>
          <a:xfrm>
            <a:off x="749808" y="1847088"/>
            <a:ext cx="209702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Commercial</a:t>
            </a:r>
            <a:endParaRPr lang="en-US" sz="1500" dirty="0"/>
          </a:p>
        </p:txBody>
      </p:sp>
      <p:sp>
        <p:nvSpPr>
          <p:cNvPr id="8" name="Text 6"/>
          <p:cNvSpPr txBox="1"/>
          <p:nvPr/>
        </p:nvSpPr>
        <p:spPr>
          <a:xfrm>
            <a:off x="749808" y="2249424"/>
            <a:ext cx="2097024" cy="148132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Can I buy it and sell it at a margin?</a:t>
            </a:r>
            <a:endParaRPr lang="en-US" sz="1200" dirty="0"/>
          </a:p>
          <a:p>
            <a:pPr indent="0" marL="0">
              <a:lnSpc>
                <a:spcPts val="1700"/>
              </a:lnSpc>
              <a:buNone/>
            </a:pP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Counterparties, the price form, supply and demand, which risk to keep.</a:t>
            </a:r>
            <a:endParaRPr lang="en-US" sz="1200" dirty="0"/>
          </a:p>
        </p:txBody>
      </p:sp>
      <p:sp>
        <p:nvSpPr>
          <p:cNvPr id="9" name="Shape 7"/>
          <p:cNvSpPr/>
          <p:nvPr/>
        </p:nvSpPr>
        <p:spPr>
          <a:xfrm>
            <a:off x="3322320" y="1645920"/>
            <a:ext cx="2499360" cy="2286000"/>
          </a:xfrm>
          <a:prstGeom prst="roundRect">
            <a:avLst>
              <a:gd name="adj" fmla="val 2400"/>
            </a:avLst>
          </a:prstGeom>
          <a:solidFill>
            <a:srgbClr val="F7F5F3"/>
          </a:solidFill>
          <a:ln w="9525">
            <a:solidFill>
              <a:srgbClr val="E3DFDA"/>
            </a:solidFill>
            <a:prstDash val="solid"/>
          </a:ln>
        </p:spPr>
      </p:sp>
      <p:sp>
        <p:nvSpPr>
          <p:cNvPr id="10" name="Text 8"/>
          <p:cNvSpPr txBox="1"/>
          <p:nvPr/>
        </p:nvSpPr>
        <p:spPr>
          <a:xfrm>
            <a:off x="3523488" y="1847088"/>
            <a:ext cx="209702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Logistics</a:t>
            </a:r>
            <a:endParaRPr lang="en-US" sz="1500" dirty="0"/>
          </a:p>
        </p:txBody>
      </p:sp>
      <p:sp>
        <p:nvSpPr>
          <p:cNvPr id="11" name="Text 9"/>
          <p:cNvSpPr txBox="1"/>
          <p:nvPr/>
        </p:nvSpPr>
        <p:spPr>
          <a:xfrm>
            <a:off x="3523488" y="2249424"/>
            <a:ext cx="2097024" cy="148132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Can I move it, on spec and on time?</a:t>
            </a:r>
            <a:endParaRPr lang="en-US" sz="1200" dirty="0"/>
          </a:p>
          <a:p>
            <a:pPr indent="0" marL="0">
              <a:lnSpc>
                <a:spcPts val="1700"/>
              </a:lnSpc>
              <a:buNone/>
            </a:pP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Freight, quality, documents, timing. The goods have to physically travel.</a:t>
            </a:r>
            <a:endParaRPr lang="en-US" sz="1200" dirty="0"/>
          </a:p>
        </p:txBody>
      </p:sp>
      <p:sp>
        <p:nvSpPr>
          <p:cNvPr id="12" name="Shape 10"/>
          <p:cNvSpPr/>
          <p:nvPr/>
        </p:nvSpPr>
        <p:spPr>
          <a:xfrm>
            <a:off x="6096000" y="1645920"/>
            <a:ext cx="2499360" cy="2286000"/>
          </a:xfrm>
          <a:prstGeom prst="roundRect">
            <a:avLst>
              <a:gd name="adj" fmla="val 2400"/>
            </a:avLst>
          </a:prstGeom>
          <a:solidFill>
            <a:srgbClr val="F7F5F3"/>
          </a:solidFill>
          <a:ln w="9525">
            <a:solidFill>
              <a:srgbClr val="E3DFDA"/>
            </a:solidFill>
            <a:prstDash val="solid"/>
          </a:ln>
        </p:spPr>
      </p:sp>
      <p:sp>
        <p:nvSpPr>
          <p:cNvPr id="13" name="Text 11"/>
          <p:cNvSpPr txBox="1"/>
          <p:nvPr/>
        </p:nvSpPr>
        <p:spPr>
          <a:xfrm>
            <a:off x="6297168" y="1847088"/>
            <a:ext cx="209702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Financial</a:t>
            </a:r>
            <a:endParaRPr lang="en-US" sz="1500" dirty="0"/>
          </a:p>
        </p:txBody>
      </p:sp>
      <p:sp>
        <p:nvSpPr>
          <p:cNvPr id="14" name="Text 12"/>
          <p:cNvSpPr txBox="1"/>
          <p:nvPr/>
        </p:nvSpPr>
        <p:spPr>
          <a:xfrm>
            <a:off x="6297168" y="2249424"/>
            <a:ext cx="2097024" cy="148132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Can I fund it, and will I be paid?</a:t>
            </a:r>
            <a:endParaRPr lang="en-US" sz="1200" dirty="0"/>
          </a:p>
          <a:p>
            <a:pPr indent="0" marL="0">
              <a:lnSpc>
                <a:spcPts val="1700"/>
              </a:lnSpc>
              <a:buNone/>
            </a:pP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The cargo is paid for months before the customer pays you.</a:t>
            </a:r>
            <a:endParaRPr lang="en-US" sz="1200" dirty="0"/>
          </a:p>
        </p:txBody>
      </p:sp>
      <p:sp>
        <p:nvSpPr>
          <p:cNvPr id="15" name="Text 13"/>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300" i="1" dirty="0">
                <a:solidFill>
                  <a:srgbClr val="6B655F"/>
                </a:solidFill>
                <a:latin typeface="Calibri" pitchFamily="34" charset="0"/>
                <a:ea typeface="Calibri" pitchFamily="34" charset="-122"/>
                <a:cs typeface="Calibri" pitchFamily="34" charset="-120"/>
              </a:rPr>
              <a:t>Not a sequence. A simultaneous test — a good price on a cargo that cannot ship is not a good trade.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job</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What we actually trade is risk</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WHAT THE JOB ACTUALLY IS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3</a:t>
            </a:r>
            <a:endParaRPr lang="en-US" sz="800" dirty="0"/>
          </a:p>
        </p:txBody>
      </p:sp>
      <p:sp>
        <p:nvSpPr>
          <p:cNvPr id="6" name="Text 4"/>
          <p:cNvSpPr txBox="1"/>
          <p:nvPr/>
        </p:nvSpPr>
        <p:spPr>
          <a:xfrm>
            <a:off x="548640" y="1554480"/>
            <a:ext cx="5120640" cy="2651760"/>
          </a:xfrm>
          <a:prstGeom prst="rect">
            <a:avLst/>
          </a:prstGeom>
          <a:noFill/>
          <a:ln/>
        </p:spPr>
        <p:txBody>
          <a:bodyPr wrap="square" lIns="0" tIns="0" rIns="0" bIns="0" rtlCol="0" anchor="t"/>
          <a:lstStyle/>
          <a:p>
            <a:pPr marL="342900" indent="-342900">
              <a:lnSpc>
                <a:spcPts val="2600"/>
              </a:lnSpc>
              <a:spcAft>
                <a:spcPts val="200"/>
              </a:spcAft>
              <a:buSzPct val="100000"/>
              <a:buChar char="–"/>
            </a:pPr>
            <a:r>
              <a:rPr lang="en-US" sz="1400" dirty="0">
                <a:solidFill>
                  <a:srgbClr val="221E1B"/>
                </a:solidFill>
                <a:latin typeface="Calibri" pitchFamily="34" charset="0"/>
                <a:ea typeface="Calibri" pitchFamily="34" charset="-122"/>
                <a:cs typeface="Calibri" pitchFamily="34" charset="-120"/>
              </a:rPr>
              <a:t>Price (flat) — what you own moves while you hold it</a:t>
            </a:r>
            <a:endParaRPr lang="en-US" sz="1400" dirty="0"/>
          </a:p>
          <a:p>
            <a:pPr marL="342900" indent="-342900">
              <a:lnSpc>
                <a:spcPts val="2600"/>
              </a:lnSpc>
              <a:spcAft>
                <a:spcPts val="200"/>
              </a:spcAft>
              <a:buSzPct val="100000"/>
              <a:buChar char="–"/>
            </a:pPr>
            <a:r>
              <a:rPr lang="en-US" sz="1400" dirty="0">
                <a:solidFill>
                  <a:srgbClr val="221E1B"/>
                </a:solidFill>
                <a:latin typeface="Calibri" pitchFamily="34" charset="0"/>
                <a:ea typeface="Calibri" pitchFamily="34" charset="-122"/>
                <a:cs typeface="Calibri" pitchFamily="34" charset="-120"/>
              </a:rPr>
              <a:t>Counterparty — they fail to perform, precisely when the price moved against them</a:t>
            </a:r>
            <a:endParaRPr lang="en-US" sz="1400" dirty="0"/>
          </a:p>
          <a:p>
            <a:pPr marL="342900" indent="-342900">
              <a:lnSpc>
                <a:spcPts val="2600"/>
              </a:lnSpc>
              <a:spcAft>
                <a:spcPts val="200"/>
              </a:spcAft>
              <a:buSzPct val="100000"/>
              <a:buChar char="–"/>
            </a:pPr>
            <a:r>
              <a:rPr lang="en-US" sz="1400" dirty="0">
                <a:solidFill>
                  <a:srgbClr val="221E1B"/>
                </a:solidFill>
                <a:latin typeface="Calibri" pitchFamily="34" charset="0"/>
                <a:ea typeface="Calibri" pitchFamily="34" charset="-122"/>
                <a:cs typeface="Calibri" pitchFamily="34" charset="-120"/>
              </a:rPr>
              <a:t>Logistic — delays, vessels, congestion, strikes, a closed canal</a:t>
            </a:r>
            <a:endParaRPr lang="en-US" sz="1400" dirty="0"/>
          </a:p>
          <a:p>
            <a:pPr marL="342900" indent="-342900">
              <a:lnSpc>
                <a:spcPts val="2600"/>
              </a:lnSpc>
              <a:spcAft>
                <a:spcPts val="200"/>
              </a:spcAft>
              <a:buSzPct val="100000"/>
              <a:buChar char="–"/>
            </a:pPr>
            <a:r>
              <a:rPr lang="en-US" sz="1400" dirty="0">
                <a:solidFill>
                  <a:srgbClr val="221E1B"/>
                </a:solidFill>
                <a:latin typeface="Calibri" pitchFamily="34" charset="0"/>
                <a:ea typeface="Calibri" pitchFamily="34" charset="-122"/>
                <a:cs typeface="Calibri" pitchFamily="34" charset="-120"/>
              </a:rPr>
              <a:t>Quality — what arrives does not match the contract</a:t>
            </a:r>
            <a:endParaRPr lang="en-US" sz="1400" dirty="0"/>
          </a:p>
          <a:p>
            <a:pPr marL="342900" indent="-342900">
              <a:lnSpc>
                <a:spcPts val="2600"/>
              </a:lnSpc>
              <a:spcAft>
                <a:spcPts val="200"/>
              </a:spcAft>
              <a:buSzPct val="100000"/>
              <a:buChar char="–"/>
            </a:pPr>
            <a:r>
              <a:rPr lang="en-US" sz="1400" dirty="0">
                <a:solidFill>
                  <a:srgbClr val="221E1B"/>
                </a:solidFill>
                <a:latin typeface="Calibri" pitchFamily="34" charset="0"/>
                <a:ea typeface="Calibri" pitchFamily="34" charset="-122"/>
                <a:cs typeface="Calibri" pitchFamily="34" charset="-120"/>
              </a:rPr>
              <a:t>Financing — you pay months before you are paid</a:t>
            </a:r>
            <a:endParaRPr lang="en-US" sz="1400" dirty="0"/>
          </a:p>
          <a:p>
            <a:pPr marL="342900" indent="-342900">
              <a:lnSpc>
                <a:spcPts val="2600"/>
              </a:lnSpc>
              <a:spcAft>
                <a:spcPts val="200"/>
              </a:spcAft>
              <a:buSzPct val="100000"/>
              <a:buChar char="–"/>
            </a:pPr>
            <a:r>
              <a:rPr lang="en-US" sz="1400" dirty="0">
                <a:solidFill>
                  <a:srgbClr val="221E1B"/>
                </a:solidFill>
                <a:latin typeface="Calibri" pitchFamily="34" charset="0"/>
                <a:ea typeface="Calibri" pitchFamily="34" charset="-122"/>
                <a:cs typeface="Calibri" pitchFamily="34" charset="-120"/>
              </a:rPr>
              <a:t>Currency — you buy in one currency and sell in another</a:t>
            </a:r>
            <a:endParaRPr lang="en-US" sz="1400" dirty="0"/>
          </a:p>
          <a:p>
            <a:pPr marL="342900" indent="-342900">
              <a:lnSpc>
                <a:spcPts val="2600"/>
              </a:lnSpc>
              <a:spcAft>
                <a:spcPts val="200"/>
              </a:spcAft>
              <a:buSzPct val="100000"/>
              <a:buChar char="–"/>
            </a:pPr>
            <a:r>
              <a:rPr lang="en-US" sz="1400" dirty="0">
                <a:solidFill>
                  <a:srgbClr val="221E1B"/>
                </a:solidFill>
                <a:latin typeface="Calibri" pitchFamily="34" charset="0"/>
                <a:ea typeface="Calibri" pitchFamily="34" charset="-122"/>
                <a:cs typeface="Calibri" pitchFamily="34" charset="-120"/>
              </a:rPr>
              <a:t>Political — export bans, tariffs, sanctions, new compliance regimes</a:t>
            </a:r>
            <a:endParaRPr lang="en-US" sz="1400" dirty="0"/>
          </a:p>
        </p:txBody>
      </p:sp>
      <p:sp>
        <p:nvSpPr>
          <p:cNvPr id="7" name="Shape 5"/>
          <p:cNvSpPr/>
          <p:nvPr/>
        </p:nvSpPr>
        <p:spPr>
          <a:xfrm>
            <a:off x="5943600" y="1554480"/>
            <a:ext cx="2651760" cy="2286000"/>
          </a:xfrm>
          <a:prstGeom prst="roundRect">
            <a:avLst>
              <a:gd name="adj" fmla="val 2400"/>
            </a:avLst>
          </a:prstGeom>
          <a:solidFill>
            <a:srgbClr val="F7F5F3"/>
          </a:solidFill>
          <a:ln w="9525">
            <a:solidFill>
              <a:srgbClr val="E3DFDA"/>
            </a:solidFill>
            <a:prstDash val="solid"/>
          </a:ln>
        </p:spPr>
      </p:sp>
      <p:sp>
        <p:nvSpPr>
          <p:cNvPr id="8" name="Text 6"/>
          <p:cNvSpPr txBox="1"/>
          <p:nvPr/>
        </p:nvSpPr>
        <p:spPr>
          <a:xfrm>
            <a:off x="6126480" y="1755648"/>
            <a:ext cx="2286000" cy="1920240"/>
          </a:xfrm>
          <a:prstGeom prst="rect">
            <a:avLst/>
          </a:prstGeom>
          <a:noFill/>
          <a:ln/>
        </p:spPr>
        <p:txBody>
          <a:bodyPr wrap="square" lIns="0" tIns="0" rIns="0" bIns="0" rtlCol="0" anchor="ctr"/>
          <a:lstStyle/>
          <a:p>
            <a:pPr indent="0" marL="0">
              <a:lnSpc>
                <a:spcPts val="1800"/>
              </a:lnSpc>
              <a:buNone/>
            </a:pPr>
            <a:r>
              <a:rPr lang="en-US" sz="1250" dirty="0">
                <a:solidFill>
                  <a:srgbClr val="221E1B"/>
                </a:solidFill>
                <a:latin typeface="Calibri" pitchFamily="34" charset="0"/>
                <a:ea typeface="Calibri" pitchFamily="34" charset="-122"/>
                <a:cs typeface="Calibri" pitchFamily="34" charset="-120"/>
              </a:rPr>
              <a:t>The goods pass through.</a:t>
            </a:r>
            <a:endParaRPr lang="en-US" sz="1250" dirty="0"/>
          </a:p>
          <a:p>
            <a:pPr indent="0" marL="0">
              <a:lnSpc>
                <a:spcPts val="1800"/>
              </a:lnSpc>
              <a:buNone/>
            </a:pPr>
            <a:endParaRPr lang="en-US" sz="1250" dirty="0"/>
          </a:p>
          <a:p>
            <a:pPr indent="0" marL="0">
              <a:lnSpc>
                <a:spcPts val="1800"/>
              </a:lnSpc>
              <a:buNone/>
            </a:pPr>
            <a:r>
              <a:rPr lang="en-US" sz="1250" dirty="0">
                <a:solidFill>
                  <a:srgbClr val="221E1B"/>
                </a:solidFill>
                <a:latin typeface="Calibri" pitchFamily="34" charset="0"/>
                <a:ea typeface="Calibri" pitchFamily="34" charset="-122"/>
                <a:cs typeface="Calibri" pitchFamily="34" charset="-120"/>
              </a:rPr>
              <a:t>The basket stays with whoever holds the position — and the paper is how it is transferred.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job</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Anyone between the producer and the consumer is a trader</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WHAT THE JOB ACTUALLY IS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4</a:t>
            </a:r>
            <a:endParaRPr lang="en-US" sz="800" dirty="0"/>
          </a:p>
        </p:txBody>
      </p:sp>
      <p:sp>
        <p:nvSpPr>
          <p:cNvPr id="6" name="Shape 4"/>
          <p:cNvSpPr/>
          <p:nvPr/>
        </p:nvSpPr>
        <p:spPr>
          <a:xfrm>
            <a:off x="548640" y="1691640"/>
            <a:ext cx="1463040" cy="685800"/>
          </a:xfrm>
          <a:prstGeom prst="roundRect">
            <a:avLst>
              <a:gd name="adj" fmla="val 8000"/>
            </a:avLst>
          </a:prstGeom>
          <a:solidFill>
            <a:srgbClr val="FFFFFF"/>
          </a:solidFill>
          <a:ln w="9525">
            <a:solidFill>
              <a:srgbClr val="E3DFDA"/>
            </a:solidFill>
            <a:prstDash val="solid"/>
          </a:ln>
        </p:spPr>
      </p:sp>
      <p:sp>
        <p:nvSpPr>
          <p:cNvPr id="7" name="Text 5"/>
          <p:cNvSpPr txBox="1"/>
          <p:nvPr/>
        </p:nvSpPr>
        <p:spPr>
          <a:xfrm>
            <a:off x="548640" y="1691640"/>
            <a:ext cx="1463040" cy="685800"/>
          </a:xfrm>
          <a:prstGeom prst="rect">
            <a:avLst/>
          </a:prstGeom>
          <a:noFill/>
          <a:ln/>
        </p:spPr>
        <p:txBody>
          <a:bodyPr wrap="square" lIns="0" tIns="0" rIns="0" bIns="0" rtlCol="0" anchor="ctr"/>
          <a:lstStyle/>
          <a:p>
            <a:pPr algn="ctr" indent="0" marL="0">
              <a:buNone/>
            </a:pPr>
            <a:r>
              <a:rPr lang="en-US" sz="1200" dirty="0">
                <a:solidFill>
                  <a:srgbClr val="221E1B"/>
                </a:solidFill>
                <a:latin typeface="Calibri" pitchFamily="34" charset="0"/>
                <a:ea typeface="Calibri" pitchFamily="34" charset="-122"/>
                <a:cs typeface="Calibri" pitchFamily="34" charset="-120"/>
              </a:rPr>
              <a:t>Producer</a:t>
            </a:r>
            <a:endParaRPr lang="en-US" sz="1200" dirty="0"/>
          </a:p>
        </p:txBody>
      </p:sp>
      <p:sp>
        <p:nvSpPr>
          <p:cNvPr id="8" name="Text 6"/>
          <p:cNvSpPr txBox="1"/>
          <p:nvPr/>
        </p:nvSpPr>
        <p:spPr>
          <a:xfrm>
            <a:off x="2011680" y="1691640"/>
            <a:ext cx="201168" cy="685800"/>
          </a:xfrm>
          <a:prstGeom prst="rect">
            <a:avLst/>
          </a:prstGeom>
          <a:noFill/>
          <a:ln/>
        </p:spPr>
        <p:txBody>
          <a:bodyPr wrap="square" lIns="0" tIns="0" rIns="0" bIns="0" rtlCol="0" anchor="ctr"/>
          <a:lstStyle/>
          <a:p>
            <a:pPr algn="ctr" indent="0" marL="0">
              <a:buNone/>
            </a:pPr>
            <a:r>
              <a:rPr lang="en-US" sz="1200" dirty="0">
                <a:solidFill>
                  <a:srgbClr val="6B655F"/>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2212848" y="1691640"/>
            <a:ext cx="1463040" cy="685800"/>
          </a:xfrm>
          <a:prstGeom prst="roundRect">
            <a:avLst>
              <a:gd name="adj" fmla="val 8000"/>
            </a:avLst>
          </a:prstGeom>
          <a:solidFill>
            <a:srgbClr val="F7F5F3"/>
          </a:solidFill>
          <a:ln w="12700">
            <a:solidFill>
              <a:srgbClr val="A34B12"/>
            </a:solidFill>
            <a:prstDash val="solid"/>
          </a:ln>
        </p:spPr>
      </p:sp>
      <p:sp>
        <p:nvSpPr>
          <p:cNvPr id="10" name="Text 8"/>
          <p:cNvSpPr txBox="1"/>
          <p:nvPr/>
        </p:nvSpPr>
        <p:spPr>
          <a:xfrm>
            <a:off x="2212848" y="1691640"/>
            <a:ext cx="1463040" cy="685800"/>
          </a:xfrm>
          <a:prstGeom prst="rect">
            <a:avLst/>
          </a:prstGeom>
          <a:noFill/>
          <a:ln/>
        </p:spPr>
        <p:txBody>
          <a:bodyPr wrap="square" lIns="0" tIns="0" rIns="0" bIns="0" rtlCol="0" anchor="ctr"/>
          <a:lstStyle/>
          <a:p>
            <a:pPr algn="ctr" indent="0" marL="0">
              <a:buNone/>
            </a:pPr>
            <a:r>
              <a:rPr lang="en-US" sz="1200" b="1" dirty="0">
                <a:solidFill>
                  <a:srgbClr val="221E1B"/>
                </a:solidFill>
                <a:latin typeface="Calibri" pitchFamily="34" charset="0"/>
                <a:ea typeface="Calibri" pitchFamily="34" charset="-122"/>
                <a:cs typeface="Calibri" pitchFamily="34" charset="-120"/>
              </a:rPr>
              <a:t>Trade house</a:t>
            </a:r>
            <a:endParaRPr lang="en-US" sz="1200" dirty="0"/>
          </a:p>
        </p:txBody>
      </p:sp>
      <p:sp>
        <p:nvSpPr>
          <p:cNvPr id="11" name="Text 9"/>
          <p:cNvSpPr txBox="1"/>
          <p:nvPr/>
        </p:nvSpPr>
        <p:spPr>
          <a:xfrm>
            <a:off x="3675888" y="1691640"/>
            <a:ext cx="201168" cy="685800"/>
          </a:xfrm>
          <a:prstGeom prst="rect">
            <a:avLst/>
          </a:prstGeom>
          <a:noFill/>
          <a:ln/>
        </p:spPr>
        <p:txBody>
          <a:bodyPr wrap="square" lIns="0" tIns="0" rIns="0" bIns="0" rtlCol="0" anchor="ctr"/>
          <a:lstStyle/>
          <a:p>
            <a:pPr algn="ctr" indent="0" marL="0">
              <a:buNone/>
            </a:pPr>
            <a:r>
              <a:rPr lang="en-US" sz="1200" dirty="0">
                <a:solidFill>
                  <a:srgbClr val="6B655F"/>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3877056" y="1691640"/>
            <a:ext cx="1463040" cy="685800"/>
          </a:xfrm>
          <a:prstGeom prst="roundRect">
            <a:avLst>
              <a:gd name="adj" fmla="val 8000"/>
            </a:avLst>
          </a:prstGeom>
          <a:solidFill>
            <a:srgbClr val="F7F5F3"/>
          </a:solidFill>
          <a:ln w="12700">
            <a:solidFill>
              <a:srgbClr val="A34B12"/>
            </a:solidFill>
            <a:prstDash val="solid"/>
          </a:ln>
        </p:spPr>
      </p:sp>
      <p:sp>
        <p:nvSpPr>
          <p:cNvPr id="13" name="Text 11"/>
          <p:cNvSpPr txBox="1"/>
          <p:nvPr/>
        </p:nvSpPr>
        <p:spPr>
          <a:xfrm>
            <a:off x="3877056" y="1691640"/>
            <a:ext cx="1463040" cy="685800"/>
          </a:xfrm>
          <a:prstGeom prst="rect">
            <a:avLst/>
          </a:prstGeom>
          <a:noFill/>
          <a:ln/>
        </p:spPr>
        <p:txBody>
          <a:bodyPr wrap="square" lIns="0" tIns="0" rIns="0" bIns="0" rtlCol="0" anchor="ctr"/>
          <a:lstStyle/>
          <a:p>
            <a:pPr algn="ctr" indent="0" marL="0">
              <a:buNone/>
            </a:pPr>
            <a:r>
              <a:rPr lang="en-US" sz="1200" b="1" dirty="0">
                <a:solidFill>
                  <a:srgbClr val="221E1B"/>
                </a:solidFill>
                <a:latin typeface="Calibri" pitchFamily="34" charset="0"/>
                <a:ea typeface="Calibri" pitchFamily="34" charset="-122"/>
                <a:cs typeface="Calibri" pitchFamily="34" charset="-120"/>
              </a:rPr>
              <a:t>Factory</a:t>
            </a:r>
            <a:endParaRPr lang="en-US" sz="1200" dirty="0"/>
          </a:p>
        </p:txBody>
      </p:sp>
      <p:sp>
        <p:nvSpPr>
          <p:cNvPr id="14" name="Text 12"/>
          <p:cNvSpPr txBox="1"/>
          <p:nvPr/>
        </p:nvSpPr>
        <p:spPr>
          <a:xfrm>
            <a:off x="5340096" y="1691640"/>
            <a:ext cx="201168" cy="685800"/>
          </a:xfrm>
          <a:prstGeom prst="rect">
            <a:avLst/>
          </a:prstGeom>
          <a:noFill/>
          <a:ln/>
        </p:spPr>
        <p:txBody>
          <a:bodyPr wrap="square" lIns="0" tIns="0" rIns="0" bIns="0" rtlCol="0" anchor="ctr"/>
          <a:lstStyle/>
          <a:p>
            <a:pPr algn="ctr" indent="0" marL="0">
              <a:buNone/>
            </a:pPr>
            <a:r>
              <a:rPr lang="en-US" sz="1200" dirty="0">
                <a:solidFill>
                  <a:srgbClr val="6B655F"/>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5541264" y="1691640"/>
            <a:ext cx="1463040" cy="685800"/>
          </a:xfrm>
          <a:prstGeom prst="roundRect">
            <a:avLst>
              <a:gd name="adj" fmla="val 8000"/>
            </a:avLst>
          </a:prstGeom>
          <a:solidFill>
            <a:srgbClr val="F7F5F3"/>
          </a:solidFill>
          <a:ln w="12700">
            <a:solidFill>
              <a:srgbClr val="A34B12"/>
            </a:solidFill>
            <a:prstDash val="solid"/>
          </a:ln>
        </p:spPr>
      </p:sp>
      <p:sp>
        <p:nvSpPr>
          <p:cNvPr id="16" name="Text 14"/>
          <p:cNvSpPr txBox="1"/>
          <p:nvPr/>
        </p:nvSpPr>
        <p:spPr>
          <a:xfrm>
            <a:off x="5541264" y="1691640"/>
            <a:ext cx="1463040" cy="685800"/>
          </a:xfrm>
          <a:prstGeom prst="rect">
            <a:avLst/>
          </a:prstGeom>
          <a:noFill/>
          <a:ln/>
        </p:spPr>
        <p:txBody>
          <a:bodyPr wrap="square" lIns="0" tIns="0" rIns="0" bIns="0" rtlCol="0" anchor="ctr"/>
          <a:lstStyle/>
          <a:p>
            <a:pPr algn="ctr" indent="0" marL="0">
              <a:buNone/>
            </a:pPr>
            <a:r>
              <a:rPr lang="en-US" sz="1200" b="1" dirty="0">
                <a:solidFill>
                  <a:srgbClr val="221E1B"/>
                </a:solidFill>
                <a:latin typeface="Calibri" pitchFamily="34" charset="0"/>
                <a:ea typeface="Calibri" pitchFamily="34" charset="-122"/>
                <a:cs typeface="Calibri" pitchFamily="34" charset="-120"/>
              </a:rPr>
              <a:t>Supermarket</a:t>
            </a:r>
            <a:endParaRPr lang="en-US" sz="1200" dirty="0"/>
          </a:p>
        </p:txBody>
      </p:sp>
      <p:sp>
        <p:nvSpPr>
          <p:cNvPr id="17" name="Text 15"/>
          <p:cNvSpPr txBox="1"/>
          <p:nvPr/>
        </p:nvSpPr>
        <p:spPr>
          <a:xfrm>
            <a:off x="7004304" y="1691640"/>
            <a:ext cx="201168" cy="685800"/>
          </a:xfrm>
          <a:prstGeom prst="rect">
            <a:avLst/>
          </a:prstGeom>
          <a:noFill/>
          <a:ln/>
        </p:spPr>
        <p:txBody>
          <a:bodyPr wrap="square" lIns="0" tIns="0" rIns="0" bIns="0" rtlCol="0" anchor="ctr"/>
          <a:lstStyle/>
          <a:p>
            <a:pPr algn="ctr" indent="0" marL="0">
              <a:buNone/>
            </a:pPr>
            <a:r>
              <a:rPr lang="en-US" sz="1200" dirty="0">
                <a:solidFill>
                  <a:srgbClr val="6B655F"/>
                </a:solidFill>
                <a:latin typeface="Calibri" pitchFamily="34" charset="0"/>
                <a:ea typeface="Calibri" pitchFamily="34" charset="-122"/>
                <a:cs typeface="Calibri" pitchFamily="34" charset="-120"/>
              </a:rPr>
              <a:t>→</a:t>
            </a:r>
            <a:endParaRPr lang="en-US" sz="1200" dirty="0"/>
          </a:p>
        </p:txBody>
      </p:sp>
      <p:sp>
        <p:nvSpPr>
          <p:cNvPr id="18" name="Shape 16"/>
          <p:cNvSpPr/>
          <p:nvPr/>
        </p:nvSpPr>
        <p:spPr>
          <a:xfrm>
            <a:off x="7205472" y="1691640"/>
            <a:ext cx="1463040" cy="685800"/>
          </a:xfrm>
          <a:prstGeom prst="roundRect">
            <a:avLst>
              <a:gd name="adj" fmla="val 8000"/>
            </a:avLst>
          </a:prstGeom>
          <a:solidFill>
            <a:srgbClr val="FFFFFF"/>
          </a:solidFill>
          <a:ln w="9525">
            <a:solidFill>
              <a:srgbClr val="E3DFDA"/>
            </a:solidFill>
            <a:prstDash val="solid"/>
          </a:ln>
        </p:spPr>
      </p:sp>
      <p:sp>
        <p:nvSpPr>
          <p:cNvPr id="19" name="Text 17"/>
          <p:cNvSpPr txBox="1"/>
          <p:nvPr/>
        </p:nvSpPr>
        <p:spPr>
          <a:xfrm>
            <a:off x="7205472" y="1691640"/>
            <a:ext cx="1463040" cy="685800"/>
          </a:xfrm>
          <a:prstGeom prst="rect">
            <a:avLst/>
          </a:prstGeom>
          <a:noFill/>
          <a:ln/>
        </p:spPr>
        <p:txBody>
          <a:bodyPr wrap="square" lIns="0" tIns="0" rIns="0" bIns="0" rtlCol="0" anchor="ctr"/>
          <a:lstStyle/>
          <a:p>
            <a:pPr algn="ctr" indent="0" marL="0">
              <a:buNone/>
            </a:pPr>
            <a:r>
              <a:rPr lang="en-US" sz="1200" dirty="0">
                <a:solidFill>
                  <a:srgbClr val="221E1B"/>
                </a:solidFill>
                <a:latin typeface="Calibri" pitchFamily="34" charset="0"/>
                <a:ea typeface="Calibri" pitchFamily="34" charset="-122"/>
                <a:cs typeface="Calibri" pitchFamily="34" charset="-120"/>
              </a:rPr>
              <a:t>Consumer</a:t>
            </a:r>
            <a:endParaRPr lang="en-US" sz="1200" dirty="0"/>
          </a:p>
        </p:txBody>
      </p:sp>
      <p:sp>
        <p:nvSpPr>
          <p:cNvPr id="20" name="Text 18"/>
          <p:cNvSpPr txBox="1"/>
          <p:nvPr/>
        </p:nvSpPr>
        <p:spPr>
          <a:xfrm>
            <a:off x="2212848" y="2432304"/>
            <a:ext cx="4791456" cy="228600"/>
          </a:xfrm>
          <a:prstGeom prst="rect">
            <a:avLst/>
          </a:prstGeom>
          <a:noFill/>
          <a:ln/>
        </p:spPr>
        <p:txBody>
          <a:bodyPr wrap="square" lIns="0" tIns="0" rIns="0" bIns="0" rtlCol="0" anchor="ctr"/>
          <a:lstStyle/>
          <a:p>
            <a:pPr algn="ctr" indent="0" marL="0">
              <a:buNone/>
            </a:pPr>
            <a:r>
              <a:rPr lang="en-US" sz="900" spc="100" kern="0" dirty="0">
                <a:solidFill>
                  <a:srgbClr val="A34B12"/>
                </a:solidFill>
                <a:latin typeface="Courier New" pitchFamily="34" charset="0"/>
                <a:ea typeface="Courier New" pitchFamily="34" charset="-122"/>
                <a:cs typeface="Courier New" pitchFamily="34" charset="-120"/>
              </a:rPr>
              <a:t>in between</a:t>
            </a:r>
            <a:endParaRPr lang="en-US" sz="900" dirty="0"/>
          </a:p>
        </p:txBody>
      </p:sp>
      <p:sp>
        <p:nvSpPr>
          <p:cNvPr id="21" name="Text 19"/>
          <p:cNvSpPr txBox="1"/>
          <p:nvPr/>
        </p:nvSpPr>
        <p:spPr>
          <a:xfrm>
            <a:off x="548640" y="2926080"/>
            <a:ext cx="8046720" cy="1554480"/>
          </a:xfrm>
          <a:prstGeom prst="rect">
            <a:avLst/>
          </a:prstGeom>
          <a:noFill/>
          <a:ln/>
        </p:spPr>
        <p:txBody>
          <a:bodyPr wrap="square" lIns="0" tIns="0" rIns="0" bIns="0" rtlCol="0" anchor="t"/>
          <a:lstStyle/>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A supermarket buys enormous volumes forward, warehouses them and resells at a posted price. That is a trader.</a:t>
            </a:r>
            <a:endParaRPr lang="en-US" sz="1400" dirty="0"/>
          </a:p>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A factory buys raw material, holds it, transforms it, sells the output. Also a trader.</a:t>
            </a:r>
            <a:endParaRPr lang="en-US" sz="1400" dirty="0"/>
          </a:p>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They carry almost the same basket of risks as the trade house. So what is the difference?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21E1B"/>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2011680"/>
          </a:xfrm>
          <a:prstGeom prst="rect">
            <a:avLst/>
          </a:prstGeom>
          <a:noFill/>
          <a:ln/>
        </p:spPr>
        <p:txBody>
          <a:bodyPr wrap="square" lIns="0" tIns="0" rIns="0" bIns="0" rtlCol="0" anchor="ctr"/>
          <a:lstStyle/>
          <a:p>
            <a:pPr indent="0" marL="0">
              <a:lnSpc>
                <a:spcPts val="3800"/>
              </a:lnSpc>
              <a:buNone/>
            </a:pPr>
            <a:r>
              <a:rPr lang="en-US" sz="3000" dirty="0">
                <a:solidFill>
                  <a:srgbClr val="FFFFFF"/>
                </a:solidFill>
                <a:latin typeface="Cambria" pitchFamily="34" charset="0"/>
                <a:ea typeface="Cambria" pitchFamily="34" charset="-122"/>
                <a:cs typeface="Cambria" pitchFamily="34" charset="-120"/>
              </a:rPr>
              <a:t>The difference is one line of the basket:</a:t>
            </a:r>
            <a:endParaRPr lang="en-US" sz="3000" dirty="0"/>
          </a:p>
          <a:p>
            <a:pPr indent="0" marL="0">
              <a:lnSpc>
                <a:spcPts val="3800"/>
              </a:lnSpc>
              <a:buNone/>
            </a:pPr>
            <a:r>
              <a:rPr lang="en-US" sz="3000" dirty="0">
                <a:solidFill>
                  <a:srgbClr val="FFFFFF"/>
                </a:solidFill>
                <a:latin typeface="Cambria" pitchFamily="34" charset="0"/>
                <a:ea typeface="Cambria" pitchFamily="34" charset="-122"/>
                <a:cs typeface="Cambria" pitchFamily="34" charset="-120"/>
              </a:rPr>
              <a:t>how the price risk is managed.</a:t>
            </a:r>
            <a:endParaRPr lang="en-US" sz="3000" dirty="0"/>
          </a:p>
        </p:txBody>
      </p:sp>
      <p:sp>
        <p:nvSpPr>
          <p:cNvPr id="3" name="Text 1"/>
          <p:cNvSpPr txBox="1"/>
          <p:nvPr/>
        </p:nvSpPr>
        <p:spPr>
          <a:xfrm>
            <a:off x="548640" y="3566160"/>
            <a:ext cx="8046720" cy="640080"/>
          </a:xfrm>
          <a:prstGeom prst="rect">
            <a:avLst/>
          </a:prstGeom>
          <a:noFill/>
          <a:ln/>
        </p:spPr>
        <p:txBody>
          <a:bodyPr wrap="square" lIns="0" tIns="0" rIns="0" bIns="0" rtlCol="0" anchor="ctr"/>
          <a:lstStyle/>
          <a:p>
            <a:pPr indent="0" marL="0">
              <a:lnSpc>
                <a:spcPts val="1900"/>
              </a:lnSpc>
              <a:buNone/>
            </a:pPr>
            <a:r>
              <a:rPr lang="en-US" sz="1300" dirty="0">
                <a:solidFill>
                  <a:srgbClr val="9A8F86"/>
                </a:solidFill>
                <a:latin typeface="Calibri" pitchFamily="34" charset="0"/>
                <a:ea typeface="Calibri" pitchFamily="34" charset="-122"/>
                <a:cs typeface="Calibri" pitchFamily="34" charset="-120"/>
              </a:rPr>
              <a:t>Follow the logic backwards from the supermarket shelf. It ends somewhere very specific.</a:t>
            </a:r>
            <a:endParaRPr lang="en-US" sz="13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E6259"/>
                </a:solidFill>
                <a:latin typeface="Courier New" pitchFamily="34" charset="0"/>
                <a:ea typeface="Courier New" pitchFamily="34" charset="-122"/>
                <a:cs typeface="Courier New" pitchFamily="34" charset="-120"/>
              </a:rPr>
              <a:t>WHAT THE JOB ACTUALLY IS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E6259"/>
                </a:solidFill>
                <a:latin typeface="Courier New" pitchFamily="34" charset="0"/>
                <a:ea typeface="Courier New" pitchFamily="34" charset="-122"/>
                <a:cs typeface="Courier New"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job</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Start at the shelf</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WHAT THE JOB ACTUALLY IS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6</a:t>
            </a:r>
            <a:endParaRPr lang="en-US" sz="800" dirty="0"/>
          </a:p>
        </p:txBody>
      </p:sp>
      <p:sp>
        <p:nvSpPr>
          <p:cNvPr id="6" name="Text 4"/>
          <p:cNvSpPr txBox="1"/>
          <p:nvPr/>
        </p:nvSpPr>
        <p:spPr>
          <a:xfrm>
            <a:off x="548640" y="1600200"/>
            <a:ext cx="5394960" cy="2651760"/>
          </a:xfrm>
          <a:prstGeom prst="rect">
            <a:avLst/>
          </a:prstGeom>
          <a:noFill/>
          <a:ln/>
        </p:spPr>
        <p:txBody>
          <a:bodyPr wrap="square" lIns="0" tIns="0" rIns="0" bIns="0" rtlCol="0" anchor="t"/>
          <a:lstStyle/>
          <a:p>
            <a:pPr indent="0" marL="0">
              <a:lnSpc>
                <a:spcPts val="2300"/>
              </a:lnSpc>
              <a:spcAft>
                <a:spcPts val="800"/>
              </a:spcAft>
              <a:buNone/>
            </a:pPr>
            <a:r>
              <a:rPr lang="en-US" sz="1400" dirty="0">
                <a:solidFill>
                  <a:srgbClr val="221E1B"/>
                </a:solidFill>
                <a:latin typeface="Calibri" pitchFamily="34" charset="0"/>
                <a:ea typeface="Calibri" pitchFamily="34" charset="-122"/>
                <a:cs typeface="Calibri" pitchFamily="34" charset="-120"/>
              </a:rPr>
              <a:t>The final consumer buys spot. The goods must physically be on the shelf, with a known purchase cost, before any selling price can be printed.</a:t>
            </a:r>
            <a:endParaRPr lang="en-US" sz="1400" dirty="0"/>
          </a:p>
          <a:p>
            <a:pPr indent="0" marL="0">
              <a:lnSpc>
                <a:spcPts val="2300"/>
              </a:lnSpc>
              <a:spcAft>
                <a:spcPts val="800"/>
              </a:spcAft>
              <a:buNone/>
            </a:pPr>
            <a:r>
              <a:rPr lang="en-US" sz="1400" dirty="0">
                <a:solidFill>
                  <a:srgbClr val="221E1B"/>
                </a:solidFill>
                <a:latin typeface="Calibri" pitchFamily="34" charset="0"/>
                <a:ea typeface="Calibri" pitchFamily="34" charset="-122"/>
                <a:cs typeface="Calibri" pitchFamily="34" charset="-120"/>
              </a:rPr>
              <a:t>And a retailer cannot reprice its shelves every morning.</a:t>
            </a:r>
            <a:endParaRPr lang="en-US" sz="1400" dirty="0"/>
          </a:p>
          <a:p>
            <a:pPr indent="0" marL="0">
              <a:lnSpc>
                <a:spcPts val="2300"/>
              </a:lnSpc>
              <a:spcAft>
                <a:spcPts val="800"/>
              </a:spcAft>
              <a:buNone/>
            </a:pPr>
            <a:r>
              <a:rPr lang="en-US" sz="1400" dirty="0">
                <a:solidFill>
                  <a:srgbClr val="221E1B"/>
                </a:solidFill>
                <a:latin typeface="Calibri" pitchFamily="34" charset="0"/>
                <a:ea typeface="Calibri" pitchFamily="34" charset="-122"/>
                <a:cs typeface="Calibri" pitchFamily="34" charset="-120"/>
              </a:rPr>
              <a:t>So it negotiates huge volumes, over six months or a year, at a fixed price.</a:t>
            </a:r>
            <a:endParaRPr lang="en-US" sz="1400" dirty="0"/>
          </a:p>
        </p:txBody>
      </p:sp>
      <p:sp>
        <p:nvSpPr>
          <p:cNvPr id="7" name="Text 5"/>
          <p:cNvSpPr txBox="1"/>
          <p:nvPr/>
        </p:nvSpPr>
        <p:spPr>
          <a:xfrm>
            <a:off x="6309360" y="1737360"/>
            <a:ext cx="2286000" cy="685800"/>
          </a:xfrm>
          <a:prstGeom prst="rect">
            <a:avLst/>
          </a:prstGeom>
          <a:noFill/>
          <a:ln/>
        </p:spPr>
        <p:txBody>
          <a:bodyPr wrap="square" lIns="0" tIns="0" rIns="0" bIns="0" rtlCol="0" anchor="ctr"/>
          <a:lstStyle/>
          <a:p>
            <a:pPr indent="0" marL="0">
              <a:buNone/>
            </a:pPr>
            <a:r>
              <a:rPr lang="en-US" sz="3400" b="1" dirty="0">
                <a:solidFill>
                  <a:srgbClr val="A34B12"/>
                </a:solidFill>
                <a:latin typeface="Courier New" pitchFamily="34" charset="0"/>
                <a:ea typeface="Courier New" pitchFamily="34" charset="-122"/>
                <a:cs typeface="Courier New" pitchFamily="34" charset="-120"/>
              </a:rPr>
              <a:t>6–12</a:t>
            </a:r>
            <a:endParaRPr lang="en-US" sz="3400" dirty="0"/>
          </a:p>
        </p:txBody>
      </p:sp>
      <p:sp>
        <p:nvSpPr>
          <p:cNvPr id="8" name="Text 6"/>
          <p:cNvSpPr txBox="1"/>
          <p:nvPr/>
        </p:nvSpPr>
        <p:spPr>
          <a:xfrm>
            <a:off x="6309360" y="2395728"/>
            <a:ext cx="2286000" cy="731520"/>
          </a:xfrm>
          <a:prstGeom prst="rect">
            <a:avLst/>
          </a:prstGeom>
          <a:noFill/>
          <a:ln/>
        </p:spPr>
        <p:txBody>
          <a:bodyPr wrap="square" lIns="0" tIns="0" rIns="0" bIns="0" rtlCol="0" anchor="ctr"/>
          <a:lstStyle/>
          <a:p>
            <a:pPr indent="0" marL="0">
              <a:lnSpc>
                <a:spcPts val="1600"/>
              </a:lnSpc>
              <a:buNone/>
            </a:pPr>
            <a:r>
              <a:rPr lang="en-US" sz="1200" dirty="0">
                <a:solidFill>
                  <a:srgbClr val="6B655F"/>
                </a:solidFill>
                <a:latin typeface="Calibri" pitchFamily="34" charset="0"/>
                <a:ea typeface="Calibri" pitchFamily="34" charset="-122"/>
                <a:cs typeface="Calibri" pitchFamily="34" charset="-120"/>
              </a:rPr>
              <a:t>months of volume, at one</a:t>
            </a:r>
            <a:endParaRPr lang="en-US" sz="1200" dirty="0"/>
          </a:p>
          <a:p>
            <a:pPr indent="0" marL="0">
              <a:lnSpc>
                <a:spcPts val="1600"/>
              </a:lnSpc>
              <a:buNone/>
            </a:pPr>
            <a:r>
              <a:rPr lang="en-US" sz="1200" dirty="0">
                <a:solidFill>
                  <a:srgbClr val="6B655F"/>
                </a:solidFill>
                <a:latin typeface="Calibri" pitchFamily="34" charset="0"/>
                <a:ea typeface="Calibri" pitchFamily="34" charset="-122"/>
                <a:cs typeface="Calibri" pitchFamily="34" charset="-120"/>
              </a:rPr>
              <a:t>fixed price, agreed in advance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job</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The factory inherits a fixed price</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WHAT THE JOB ACTUALLY IS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7</a:t>
            </a:r>
            <a:endParaRPr lang="en-US" sz="800" dirty="0"/>
          </a:p>
        </p:txBody>
      </p:sp>
      <p:sp>
        <p:nvSpPr>
          <p:cNvPr id="6" name="Text 4"/>
          <p:cNvSpPr txBox="1"/>
          <p:nvPr/>
        </p:nvSpPr>
        <p:spPr>
          <a:xfrm>
            <a:off x="548640" y="1600200"/>
            <a:ext cx="5394960" cy="1417320"/>
          </a:xfrm>
          <a:prstGeom prst="rect">
            <a:avLst/>
          </a:prstGeom>
          <a:noFill/>
          <a:ln/>
        </p:spPr>
        <p:txBody>
          <a:bodyPr wrap="square" lIns="0" tIns="0" rIns="0" bIns="0" rtlCol="0" anchor="t"/>
          <a:lstStyle/>
          <a:p>
            <a:pPr indent="0" marL="0">
              <a:lnSpc>
                <a:spcPts val="2300"/>
              </a:lnSpc>
              <a:spcAft>
                <a:spcPts val="800"/>
              </a:spcAft>
              <a:buNone/>
            </a:pPr>
            <a:r>
              <a:rPr lang="en-US" sz="1400" dirty="0">
                <a:solidFill>
                  <a:srgbClr val="221E1B"/>
                </a:solidFill>
                <a:latin typeface="Calibri" pitchFamily="34" charset="0"/>
                <a:ea typeface="Calibri" pitchFamily="34" charset="-122"/>
                <a:cs typeface="Calibri" pitchFamily="34" charset="-120"/>
              </a:rPr>
              <a:t>The manufacturer has now SOLD a year of production at a flat price. Whatever it pays for raw material, the revenue side is frozen.</a:t>
            </a:r>
            <a:endParaRPr lang="en-US" sz="1400" dirty="0"/>
          </a:p>
          <a:p>
            <a:pPr indent="0" marL="0">
              <a:lnSpc>
                <a:spcPts val="2300"/>
              </a:lnSpc>
              <a:spcAft>
                <a:spcPts val="800"/>
              </a:spcAft>
              <a:buNone/>
            </a:pPr>
            <a:r>
              <a:rPr lang="en-US" sz="1400" dirty="0">
                <a:solidFill>
                  <a:srgbClr val="221E1B"/>
                </a:solidFill>
                <a:latin typeface="Calibri" pitchFamily="34" charset="0"/>
                <a:ea typeface="Calibri" pitchFamily="34" charset="-122"/>
                <a:cs typeface="Calibri" pitchFamily="34" charset="-120"/>
              </a:rPr>
              <a:t>Symmetry says: if you sold flat, buy flat. Cover the sale with a fixed-price purchase and the margin is locked.</a:t>
            </a:r>
            <a:endParaRPr lang="en-US" sz="1400" dirty="0"/>
          </a:p>
          <a:p>
            <a:pPr indent="0" marL="0">
              <a:lnSpc>
                <a:spcPts val="2300"/>
              </a:lnSpc>
              <a:spcAft>
                <a:spcPts val="800"/>
              </a:spcAft>
              <a:buNone/>
            </a:pPr>
            <a:r>
              <a:rPr lang="en-US" sz="1400" dirty="0">
                <a:solidFill>
                  <a:srgbClr val="221E1B"/>
                </a:solidFill>
                <a:latin typeface="Calibri" pitchFamily="34" charset="0"/>
                <a:ea typeface="Calibri" pitchFamily="34" charset="-122"/>
                <a:cs typeface="Calibri" pitchFamily="34" charset="-120"/>
              </a:rPr>
              <a:t>So the factory goes out and buys the whole year forward.</a:t>
            </a:r>
            <a:endParaRPr lang="en-US" sz="1400" dirty="0"/>
          </a:p>
        </p:txBody>
      </p:sp>
      <p:sp>
        <p:nvSpPr>
          <p:cNvPr id="7" name="Shape 5"/>
          <p:cNvSpPr/>
          <p:nvPr/>
        </p:nvSpPr>
        <p:spPr>
          <a:xfrm>
            <a:off x="548640" y="3154680"/>
            <a:ext cx="3886200" cy="1234440"/>
          </a:xfrm>
          <a:prstGeom prst="roundRect">
            <a:avLst>
              <a:gd name="adj" fmla="val 4444"/>
            </a:avLst>
          </a:prstGeom>
          <a:solidFill>
            <a:srgbClr val="F7F5F3"/>
          </a:solidFill>
          <a:ln w="9525">
            <a:solidFill>
              <a:srgbClr val="E3DFDA"/>
            </a:solidFill>
            <a:prstDash val="solid"/>
          </a:ln>
        </p:spPr>
      </p:sp>
      <p:sp>
        <p:nvSpPr>
          <p:cNvPr id="8" name="Text 6"/>
          <p:cNvSpPr txBox="1"/>
          <p:nvPr/>
        </p:nvSpPr>
        <p:spPr>
          <a:xfrm>
            <a:off x="749808" y="3355848"/>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Sold</a:t>
            </a:r>
            <a:endParaRPr lang="en-US" sz="1500" dirty="0"/>
          </a:p>
        </p:txBody>
      </p:sp>
      <p:sp>
        <p:nvSpPr>
          <p:cNvPr id="9" name="Text 7"/>
          <p:cNvSpPr txBox="1"/>
          <p:nvPr/>
        </p:nvSpPr>
        <p:spPr>
          <a:xfrm>
            <a:off x="749808" y="3758184"/>
            <a:ext cx="3483864" cy="42976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one year, flat price,</a:t>
            </a: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to the retailer</a:t>
            </a:r>
            <a:endParaRPr lang="en-US" sz="1150" dirty="0"/>
          </a:p>
        </p:txBody>
      </p:sp>
      <p:sp>
        <p:nvSpPr>
          <p:cNvPr id="10" name="Shape 8"/>
          <p:cNvSpPr/>
          <p:nvPr/>
        </p:nvSpPr>
        <p:spPr>
          <a:xfrm>
            <a:off x="4709160" y="3154680"/>
            <a:ext cx="3886200" cy="1234440"/>
          </a:xfrm>
          <a:prstGeom prst="roundRect">
            <a:avLst>
              <a:gd name="adj" fmla="val 4444"/>
            </a:avLst>
          </a:prstGeom>
          <a:solidFill>
            <a:srgbClr val="F7F5F3"/>
          </a:solidFill>
          <a:ln w="9525">
            <a:solidFill>
              <a:srgbClr val="E3DFDA"/>
            </a:solidFill>
            <a:prstDash val="solid"/>
          </a:ln>
        </p:spPr>
      </p:sp>
      <p:sp>
        <p:nvSpPr>
          <p:cNvPr id="11" name="Text 9"/>
          <p:cNvSpPr txBox="1"/>
          <p:nvPr/>
        </p:nvSpPr>
        <p:spPr>
          <a:xfrm>
            <a:off x="4910328" y="3355848"/>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So buy</a:t>
            </a:r>
            <a:endParaRPr lang="en-US" sz="1500" dirty="0"/>
          </a:p>
        </p:txBody>
      </p:sp>
      <p:sp>
        <p:nvSpPr>
          <p:cNvPr id="12" name="Text 10"/>
          <p:cNvSpPr txBox="1"/>
          <p:nvPr/>
        </p:nvSpPr>
        <p:spPr>
          <a:xfrm>
            <a:off x="4910328" y="3758184"/>
            <a:ext cx="3483864" cy="42976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one year, flat price,</a:t>
            </a: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from the supplier</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job</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And that is where it breaks</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WHAT THE JOB ACTUALLY IS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8</a:t>
            </a:r>
            <a:endParaRPr lang="en-US" sz="800" dirty="0"/>
          </a:p>
        </p:txBody>
      </p:sp>
      <p:sp>
        <p:nvSpPr>
          <p:cNvPr id="6" name="Text 4"/>
          <p:cNvSpPr txBox="1"/>
          <p:nvPr/>
        </p:nvSpPr>
        <p:spPr>
          <a:xfrm>
            <a:off x="548640" y="1600200"/>
            <a:ext cx="5120640" cy="1188720"/>
          </a:xfrm>
          <a:prstGeom prst="rect">
            <a:avLst/>
          </a:prstGeom>
          <a:noFill/>
          <a:ln/>
        </p:spPr>
        <p:txBody>
          <a:bodyPr wrap="square" lIns="0" tIns="0" rIns="0" bIns="0" rtlCol="0" anchor="t"/>
          <a:lstStyle/>
          <a:p>
            <a:pPr indent="0" marL="0">
              <a:lnSpc>
                <a:spcPts val="2400"/>
              </a:lnSpc>
              <a:spcAft>
                <a:spcPts val="800"/>
              </a:spcAft>
              <a:buNone/>
            </a:pPr>
            <a:r>
              <a:rPr lang="en-US" sz="1500" dirty="0">
                <a:solidFill>
                  <a:srgbClr val="221E1B"/>
                </a:solidFill>
                <a:latin typeface="Calibri" pitchFamily="34" charset="0"/>
                <a:ea typeface="Calibri" pitchFamily="34" charset="-122"/>
                <a:cs typeface="Calibri" pitchFamily="34" charset="-120"/>
              </a:rPr>
              <a:t>Six months later the market has doubled.</a:t>
            </a:r>
            <a:endParaRPr lang="en-US" sz="1500" dirty="0"/>
          </a:p>
          <a:p>
            <a:pPr indent="0" marL="0">
              <a:lnSpc>
                <a:spcPts val="2400"/>
              </a:lnSpc>
              <a:spcAft>
                <a:spcPts val="800"/>
              </a:spcAft>
              <a:buNone/>
            </a:pPr>
            <a:r>
              <a:rPr lang="en-US" sz="1500" dirty="0">
                <a:solidFill>
                  <a:srgbClr val="221E1B"/>
                </a:solidFill>
                <a:latin typeface="Calibri" pitchFamily="34" charset="0"/>
                <a:ea typeface="Calibri" pitchFamily="34" charset="-122"/>
                <a:cs typeface="Calibri" pitchFamily="34" charset="-120"/>
              </a:rPr>
              <a:t>The supplier is committed to deliver a full year at half the market price. The incentive to default is now enormous — and many do.</a:t>
            </a:r>
            <a:endParaRPr lang="en-US" sz="1500" dirty="0"/>
          </a:p>
        </p:txBody>
      </p:sp>
      <p:sp>
        <p:nvSpPr>
          <p:cNvPr id="7" name="Shape 5"/>
          <p:cNvSpPr/>
          <p:nvPr/>
        </p:nvSpPr>
        <p:spPr>
          <a:xfrm>
            <a:off x="548640" y="2880360"/>
            <a:ext cx="8046720" cy="1051560"/>
          </a:xfrm>
          <a:prstGeom prst="roundRect">
            <a:avLst>
              <a:gd name="adj" fmla="val 5217"/>
            </a:avLst>
          </a:prstGeom>
          <a:solidFill>
            <a:srgbClr val="F7F5F3"/>
          </a:solidFill>
          <a:ln w="12700">
            <a:solidFill>
              <a:srgbClr val="A34B12"/>
            </a:solidFill>
            <a:prstDash val="solid"/>
          </a:ln>
        </p:spPr>
      </p:sp>
      <p:sp>
        <p:nvSpPr>
          <p:cNvPr id="8" name="Text 6"/>
          <p:cNvSpPr txBox="1"/>
          <p:nvPr/>
        </p:nvSpPr>
        <p:spPr>
          <a:xfrm>
            <a:off x="822960" y="3035808"/>
            <a:ext cx="7498080" cy="777240"/>
          </a:xfrm>
          <a:prstGeom prst="rect">
            <a:avLst/>
          </a:prstGeom>
          <a:noFill/>
          <a:ln/>
        </p:spPr>
        <p:txBody>
          <a:bodyPr wrap="square" lIns="0" tIns="0" rIns="0" bIns="0" rtlCol="0" anchor="ctr"/>
          <a:lstStyle/>
          <a:p>
            <a:pPr indent="0" marL="0">
              <a:lnSpc>
                <a:spcPts val="2600"/>
              </a:lnSpc>
              <a:buNone/>
            </a:pPr>
            <a:r>
              <a:rPr lang="en-US" sz="1800" b="1" dirty="0">
                <a:solidFill>
                  <a:srgbClr val="221E1B"/>
                </a:solidFill>
                <a:latin typeface="Cambria" pitchFamily="34" charset="0"/>
                <a:ea typeface="Cambria" pitchFamily="34" charset="-122"/>
                <a:cs typeface="Cambria" pitchFamily="34" charset="-120"/>
              </a:rPr>
              <a:t>Buying the whole year forward did not remove risk.</a:t>
            </a:r>
            <a:endParaRPr lang="en-US" sz="1800" dirty="0"/>
          </a:p>
          <a:p>
            <a:pPr indent="0" marL="0">
              <a:lnSpc>
                <a:spcPts val="2600"/>
              </a:lnSpc>
              <a:buNone/>
            </a:pPr>
            <a:r>
              <a:rPr lang="en-US" sz="1800" b="1" dirty="0">
                <a:solidFill>
                  <a:srgbClr val="221E1B"/>
                </a:solidFill>
                <a:latin typeface="Cambria" pitchFamily="34" charset="0"/>
                <a:ea typeface="Cambria" pitchFamily="34" charset="-122"/>
                <a:cs typeface="Cambria" pitchFamily="34" charset="-120"/>
              </a:rPr>
              <a:t>It converted price risk into counterparty risk.</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job</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So split the two decisions</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WHAT THE JOB ACTUALLY IS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9</a:t>
            </a:r>
            <a:endParaRPr lang="en-US" sz="800" dirty="0"/>
          </a:p>
        </p:txBody>
      </p:sp>
      <p:sp>
        <p:nvSpPr>
          <p:cNvPr id="6" name="Shape 4"/>
          <p:cNvSpPr/>
          <p:nvPr/>
        </p:nvSpPr>
        <p:spPr>
          <a:xfrm>
            <a:off x="548640" y="1691640"/>
            <a:ext cx="3886200" cy="1371600"/>
          </a:xfrm>
          <a:prstGeom prst="roundRect">
            <a:avLst>
              <a:gd name="adj" fmla="val 4000"/>
            </a:avLst>
          </a:prstGeom>
          <a:solidFill>
            <a:srgbClr val="F7F5F3"/>
          </a:solidFill>
          <a:ln w="9525">
            <a:solidFill>
              <a:srgbClr val="E3DFDA"/>
            </a:solidFill>
            <a:prstDash val="solid"/>
          </a:ln>
        </p:spPr>
      </p:sp>
      <p:sp>
        <p:nvSpPr>
          <p:cNvPr id="7" name="Text 5"/>
          <p:cNvSpPr txBox="1"/>
          <p:nvPr/>
        </p:nvSpPr>
        <p:spPr>
          <a:xfrm>
            <a:off x="749808" y="1892808"/>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Secure the volume — now</a:t>
            </a:r>
            <a:endParaRPr lang="en-US" sz="1500" dirty="0"/>
          </a:p>
        </p:txBody>
      </p:sp>
      <p:sp>
        <p:nvSpPr>
          <p:cNvPr id="8" name="Text 6"/>
          <p:cNvSpPr txBox="1"/>
          <p:nvPr/>
        </p:nvSpPr>
        <p:spPr>
          <a:xfrm>
            <a:off x="749808" y="2295144"/>
            <a:ext cx="3483864" cy="56692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The cargo is booked, the origin committed, the logistics planned. You know you will have the coffee.</a:t>
            </a:r>
            <a:endParaRPr lang="en-US" sz="1200" dirty="0"/>
          </a:p>
        </p:txBody>
      </p:sp>
      <p:sp>
        <p:nvSpPr>
          <p:cNvPr id="9" name="Shape 7"/>
          <p:cNvSpPr/>
          <p:nvPr/>
        </p:nvSpPr>
        <p:spPr>
          <a:xfrm>
            <a:off x="4709160" y="1691640"/>
            <a:ext cx="3886200" cy="1371600"/>
          </a:xfrm>
          <a:prstGeom prst="roundRect">
            <a:avLst>
              <a:gd name="adj" fmla="val 4000"/>
            </a:avLst>
          </a:prstGeom>
          <a:solidFill>
            <a:srgbClr val="F7F5F3"/>
          </a:solidFill>
          <a:ln w="9525">
            <a:solidFill>
              <a:srgbClr val="E3DFDA"/>
            </a:solidFill>
            <a:prstDash val="solid"/>
          </a:ln>
        </p:spPr>
      </p:sp>
      <p:sp>
        <p:nvSpPr>
          <p:cNvPr id="10" name="Text 8"/>
          <p:cNvSpPr txBox="1"/>
          <p:nvPr/>
        </p:nvSpPr>
        <p:spPr>
          <a:xfrm>
            <a:off x="4910328" y="1892808"/>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Fix the price — later</a:t>
            </a:r>
            <a:endParaRPr lang="en-US" sz="1500" dirty="0"/>
          </a:p>
        </p:txBody>
      </p:sp>
      <p:sp>
        <p:nvSpPr>
          <p:cNvPr id="11" name="Text 9"/>
          <p:cNvSpPr txBox="1"/>
          <p:nvPr/>
        </p:nvSpPr>
        <p:spPr>
          <a:xfrm>
            <a:off x="4910328" y="2295144"/>
            <a:ext cx="3483864" cy="56692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Ideally at the last minute, when the exposure is short and performing stays rational for both sides.</a:t>
            </a:r>
            <a:endParaRPr lang="en-US" sz="1200" dirty="0"/>
          </a:p>
        </p:txBody>
      </p:sp>
      <p:sp>
        <p:nvSpPr>
          <p:cNvPr id="12" name="Text 10"/>
          <p:cNvSpPr txBox="1"/>
          <p:nvPr/>
        </p:nvSpPr>
        <p:spPr>
          <a:xfrm>
            <a:off x="548640" y="3291840"/>
            <a:ext cx="8046720" cy="1005840"/>
          </a:xfrm>
          <a:prstGeom prst="rect">
            <a:avLst/>
          </a:prstGeom>
          <a:noFill/>
          <a:ln/>
        </p:spPr>
        <p:txBody>
          <a:bodyPr wrap="square" lIns="0" tIns="0" rIns="0" bIns="0" rtlCol="0" anchor="t"/>
          <a:lstStyle/>
          <a:p>
            <a:pPr indent="0" marL="0">
              <a:lnSpc>
                <a:spcPts val="2200"/>
              </a:lnSpc>
              <a:spcAft>
                <a:spcPts val="800"/>
              </a:spcAft>
              <a:buNone/>
            </a:pPr>
            <a:r>
              <a:rPr lang="en-US" sz="1400" dirty="0">
                <a:solidFill>
                  <a:srgbClr val="221E1B"/>
                </a:solidFill>
                <a:latin typeface="Calibri" pitchFamily="34" charset="0"/>
                <a:ea typeface="Calibri" pitchFamily="34" charset="-122"/>
                <a:cs typeface="Calibri" pitchFamily="34" charset="-120"/>
              </a:rPr>
              <a:t>A purchase contract does two things at once: it secures the GOODS and it sets the PRICE. Nothing says they must happen on the same day.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job</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To fix the price later, dismantle it</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WHAT THE JOB ACTUALLY IS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10</a:t>
            </a:r>
            <a:endParaRPr lang="en-US" sz="800" dirty="0"/>
          </a:p>
        </p:txBody>
      </p:sp>
      <p:sp>
        <p:nvSpPr>
          <p:cNvPr id="6" name="Shape 4"/>
          <p:cNvSpPr/>
          <p:nvPr/>
        </p:nvSpPr>
        <p:spPr>
          <a:xfrm>
            <a:off x="548640" y="1737360"/>
            <a:ext cx="3840480" cy="1143000"/>
          </a:xfrm>
          <a:prstGeom prst="roundRect">
            <a:avLst>
              <a:gd name="adj" fmla="val 4800"/>
            </a:avLst>
          </a:prstGeom>
          <a:solidFill>
            <a:srgbClr val="F7F5F3"/>
          </a:solidFill>
          <a:ln w="9525">
            <a:solidFill>
              <a:srgbClr val="E3DFDA"/>
            </a:solidFill>
            <a:prstDash val="solid"/>
          </a:ln>
        </p:spPr>
      </p:sp>
      <p:sp>
        <p:nvSpPr>
          <p:cNvPr id="7" name="Text 5"/>
          <p:cNvSpPr txBox="1"/>
          <p:nvPr/>
        </p:nvSpPr>
        <p:spPr>
          <a:xfrm>
            <a:off x="777240" y="1901952"/>
            <a:ext cx="3383280" cy="320040"/>
          </a:xfrm>
          <a:prstGeom prst="rect">
            <a:avLst/>
          </a:prstGeom>
          <a:noFill/>
          <a:ln/>
        </p:spPr>
        <p:txBody>
          <a:bodyPr wrap="square" lIns="0" tIns="0" rIns="0" bIns="0" rtlCol="0" anchor="ctr"/>
          <a:lstStyle/>
          <a:p>
            <a:pPr indent="0" marL="0">
              <a:buNone/>
            </a:pPr>
            <a:r>
              <a:rPr lang="en-US" sz="1600" b="1" dirty="0">
                <a:solidFill>
                  <a:srgbClr val="A34B12"/>
                </a:solidFill>
                <a:latin typeface="Cambria" pitchFamily="34" charset="0"/>
                <a:ea typeface="Cambria" pitchFamily="34" charset="-122"/>
                <a:cs typeface="Cambria" pitchFamily="34" charset="-120"/>
              </a:rPr>
              <a:t>A floating reference</a:t>
            </a:r>
            <a:endParaRPr lang="en-US" sz="1600" dirty="0"/>
          </a:p>
        </p:txBody>
      </p:sp>
      <p:sp>
        <p:nvSpPr>
          <p:cNvPr id="8" name="Text 6"/>
          <p:cNvSpPr txBox="1"/>
          <p:nvPr/>
        </p:nvSpPr>
        <p:spPr>
          <a:xfrm>
            <a:off x="777240" y="2240280"/>
            <a:ext cx="3383280" cy="548640"/>
          </a:xfrm>
          <a:prstGeom prst="rect">
            <a:avLst/>
          </a:prstGeom>
          <a:noFill/>
          <a:ln/>
        </p:spPr>
        <p:txBody>
          <a:bodyPr wrap="square" lIns="0" tIns="0" rIns="0" bIns="0" rtlCol="0" anchor="ctr"/>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Observable by anyone, moves every day.</a:t>
            </a: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The futures price. Fixed LATER.</a:t>
            </a:r>
            <a:endParaRPr lang="en-US" sz="1200" dirty="0"/>
          </a:p>
        </p:txBody>
      </p:sp>
      <p:sp>
        <p:nvSpPr>
          <p:cNvPr id="9" name="Text 7"/>
          <p:cNvSpPr txBox="1"/>
          <p:nvPr/>
        </p:nvSpPr>
        <p:spPr>
          <a:xfrm>
            <a:off x="4389120" y="1737360"/>
            <a:ext cx="365760" cy="1143000"/>
          </a:xfrm>
          <a:prstGeom prst="rect">
            <a:avLst/>
          </a:prstGeom>
          <a:noFill/>
          <a:ln/>
        </p:spPr>
        <p:txBody>
          <a:bodyPr wrap="square" lIns="0" tIns="0" rIns="0" bIns="0" rtlCol="0" anchor="ctr"/>
          <a:lstStyle/>
          <a:p>
            <a:pPr algn="ctr" indent="0" marL="0">
              <a:buNone/>
            </a:pPr>
            <a:r>
              <a:rPr lang="en-US" sz="2400" dirty="0">
                <a:solidFill>
                  <a:srgbClr val="6B655F"/>
                </a:solidFill>
                <a:latin typeface="Cambria" pitchFamily="34" charset="0"/>
                <a:ea typeface="Cambria" pitchFamily="34" charset="-122"/>
                <a:cs typeface="Cambria" pitchFamily="34" charset="-120"/>
              </a:rPr>
              <a:t>+</a:t>
            </a:r>
            <a:endParaRPr lang="en-US" sz="2400" dirty="0"/>
          </a:p>
        </p:txBody>
      </p:sp>
      <p:sp>
        <p:nvSpPr>
          <p:cNvPr id="10" name="Shape 8"/>
          <p:cNvSpPr/>
          <p:nvPr/>
        </p:nvSpPr>
        <p:spPr>
          <a:xfrm>
            <a:off x="4754880" y="1737360"/>
            <a:ext cx="3840480" cy="1143000"/>
          </a:xfrm>
          <a:prstGeom prst="roundRect">
            <a:avLst>
              <a:gd name="adj" fmla="val 4800"/>
            </a:avLst>
          </a:prstGeom>
          <a:solidFill>
            <a:srgbClr val="F7F5F3"/>
          </a:solidFill>
          <a:ln w="9525">
            <a:solidFill>
              <a:srgbClr val="E3DFDA"/>
            </a:solidFill>
            <a:prstDash val="solid"/>
          </a:ln>
        </p:spPr>
      </p:sp>
      <p:sp>
        <p:nvSpPr>
          <p:cNvPr id="11" name="Text 9"/>
          <p:cNvSpPr txBox="1"/>
          <p:nvPr/>
        </p:nvSpPr>
        <p:spPr>
          <a:xfrm>
            <a:off x="4983480" y="1901952"/>
            <a:ext cx="3383280" cy="320040"/>
          </a:xfrm>
          <a:prstGeom prst="rect">
            <a:avLst/>
          </a:prstGeom>
          <a:noFill/>
          <a:ln/>
        </p:spPr>
        <p:txBody>
          <a:bodyPr wrap="square" lIns="0" tIns="0" rIns="0" bIns="0" rtlCol="0" anchor="ctr"/>
          <a:lstStyle/>
          <a:p>
            <a:pPr indent="0" marL="0">
              <a:buNone/>
            </a:pPr>
            <a:r>
              <a:rPr lang="en-US" sz="1600" b="1" dirty="0">
                <a:solidFill>
                  <a:srgbClr val="A34B12"/>
                </a:solidFill>
                <a:latin typeface="Cambria" pitchFamily="34" charset="0"/>
                <a:ea typeface="Cambria" pitchFamily="34" charset="-122"/>
                <a:cs typeface="Cambria" pitchFamily="34" charset="-120"/>
              </a:rPr>
              <a:t>A fixed differential</a:t>
            </a:r>
            <a:endParaRPr lang="en-US" sz="1600" dirty="0"/>
          </a:p>
        </p:txBody>
      </p:sp>
      <p:sp>
        <p:nvSpPr>
          <p:cNvPr id="12" name="Text 10"/>
          <p:cNvSpPr txBox="1"/>
          <p:nvPr/>
        </p:nvSpPr>
        <p:spPr>
          <a:xfrm>
            <a:off x="4983480" y="2240280"/>
            <a:ext cx="3383280" cy="548640"/>
          </a:xfrm>
          <a:prstGeom prst="rect">
            <a:avLst/>
          </a:prstGeom>
          <a:noFill/>
          <a:ln/>
        </p:spPr>
        <p:txBody>
          <a:bodyPr wrap="square" lIns="0" tIns="0" rIns="0" bIns="0" rtlCol="0" anchor="ctr"/>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Origin, quality, port, timing.</a:t>
            </a: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This specific coffee. Agreed TODAY.</a:t>
            </a:r>
            <a:endParaRPr lang="en-US" sz="1200" dirty="0"/>
          </a:p>
        </p:txBody>
      </p:sp>
      <p:sp>
        <p:nvSpPr>
          <p:cNvPr id="13" name="Text 11"/>
          <p:cNvSpPr txBox="1"/>
          <p:nvPr/>
        </p:nvSpPr>
        <p:spPr>
          <a:xfrm>
            <a:off x="548640" y="3246120"/>
            <a:ext cx="8046720" cy="457200"/>
          </a:xfrm>
          <a:prstGeom prst="rect">
            <a:avLst/>
          </a:prstGeom>
          <a:noFill/>
          <a:ln/>
        </p:spPr>
        <p:txBody>
          <a:bodyPr wrap="square" lIns="0" tIns="0" rIns="0" bIns="0" rtlCol="0" anchor="ctr"/>
          <a:lstStyle/>
          <a:p>
            <a:pPr indent="0" marL="0">
              <a:buNone/>
            </a:pPr>
            <a:r>
              <a:rPr lang="en-US" sz="2000" b="1" dirty="0">
                <a:solidFill>
                  <a:srgbClr val="221E1B"/>
                </a:solidFill>
                <a:latin typeface="Cambria" pitchFamily="34" charset="0"/>
                <a:ea typeface="Cambria" pitchFamily="34" charset="-122"/>
                <a:cs typeface="Cambria" pitchFamily="34" charset="-120"/>
              </a:rPr>
              <a:t>You have just invented the PTBF contract — Price To Be Fixed.</a:t>
            </a:r>
            <a:endParaRPr lang="en-US" sz="2000" dirty="0"/>
          </a:p>
        </p:txBody>
      </p:sp>
      <p:sp>
        <p:nvSpPr>
          <p:cNvPr id="14" name="Text 12"/>
          <p:cNvSpPr txBox="1"/>
          <p:nvPr/>
        </p:nvSpPr>
        <p:spPr>
          <a:xfrm>
            <a:off x="548640" y="3703320"/>
            <a:ext cx="8046720" cy="365760"/>
          </a:xfrm>
          <a:prstGeom prst="rect">
            <a:avLst/>
          </a:prstGeom>
          <a:noFill/>
          <a:ln/>
        </p:spPr>
        <p:txBody>
          <a:bodyPr wrap="square" lIns="0" tIns="0" rIns="0" bIns="0" rtlCol="0" anchor="ctr"/>
          <a:lstStyle/>
          <a:p>
            <a:pPr indent="0" marL="0">
              <a:buNone/>
            </a:pPr>
            <a:r>
              <a:rPr lang="en-US" sz="1300" i="1" dirty="0">
                <a:solidFill>
                  <a:srgbClr val="6B655F"/>
                </a:solidFill>
                <a:latin typeface="Calibri" pitchFamily="34" charset="0"/>
                <a:ea typeface="Calibri" pitchFamily="34" charset="-122"/>
                <a:cs typeface="Calibri" pitchFamily="34" charset="-120"/>
              </a:rPr>
              <a:t>Nobody designed it in a committee. It falls out of the constraints.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job</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The other end wants the opposite</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WHAT THE JOB ACTUALLY IS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11</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1554480"/>
                <a:gridCol w="3246120"/>
                <a:gridCol w="3246120"/>
              </a:tblGrid>
              <a:tr h="384048">
                <a:tc>
                  <a:txBody>
                    <a:bodyPr/>
                    <a:lstStyle/>
                    <a:p>
                      <a:pPr indent="0" marL="0">
                        <a:buNone/>
                      </a:pP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c>
                  <a:txBody>
                    <a:bodyPr/>
                    <a:lstStyle/>
                    <a:p>
                      <a:pPr indent="0" marL="0">
                        <a:buNone/>
                      </a:pPr>
                      <a:r>
                        <a:rPr lang="en-US" sz="1250" b="1" dirty="0">
                          <a:solidFill>
                            <a:srgbClr val="221E1B"/>
                          </a:solidFill>
                          <a:latin typeface="Calibri" pitchFamily="34" charset="0"/>
                          <a:ea typeface="Calibri" pitchFamily="34" charset="-122"/>
                          <a:cs typeface="Calibri" pitchFamily="34" charset="-120"/>
                        </a:rPr>
                        <a:t>Producer</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c>
                  <a:txBody>
                    <a:bodyPr/>
                    <a:lstStyle/>
                    <a:p>
                      <a:pPr indent="0" marL="0">
                        <a:buNone/>
                      </a:pPr>
                      <a:r>
                        <a:rPr lang="en-US" sz="1250" b="1" dirty="0">
                          <a:solidFill>
                            <a:srgbClr val="221E1B"/>
                          </a:solidFill>
                          <a:latin typeface="Calibri" pitchFamily="34" charset="0"/>
                          <a:ea typeface="Calibri" pitchFamily="34" charset="-122"/>
                          <a:cs typeface="Calibri" pitchFamily="34" charset="-120"/>
                        </a:rPr>
                        <a:t>Factory</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r>
              <a:tr h="384048">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Cost / revenue</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Fixed cost of production</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Revenue fixed by a 1-year sale</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84048">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Wants to</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Sell flat, now, when the crop is in</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Fix late, at the last minute</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84048">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Fears</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A collapse before selling</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A rally after buying — and default</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bl>
          </a:graphicData>
        </a:graphic>
      </p:graphicFrame>
      <p:sp>
        <p:nvSpPr>
          <p:cNvPr id="7" name="Shape 4"/>
          <p:cNvSpPr/>
          <p:nvPr/>
        </p:nvSpPr>
        <p:spPr>
          <a:xfrm>
            <a:off x="548640" y="3291840"/>
            <a:ext cx="8046720" cy="914400"/>
          </a:xfrm>
          <a:prstGeom prst="roundRect">
            <a:avLst>
              <a:gd name="adj" fmla="val 6000"/>
            </a:avLst>
          </a:prstGeom>
          <a:solidFill>
            <a:srgbClr val="221E1B"/>
          </a:solidFill>
          <a:ln w="12700">
            <a:solidFill>
              <a:srgbClr val="221E1B"/>
            </a:solidFill>
            <a:prstDash val="solid"/>
          </a:ln>
        </p:spPr>
      </p:sp>
      <p:sp>
        <p:nvSpPr>
          <p:cNvPr id="8" name="Text 5"/>
          <p:cNvSpPr txBox="1"/>
          <p:nvPr/>
        </p:nvSpPr>
        <p:spPr>
          <a:xfrm>
            <a:off x="822960" y="3456432"/>
            <a:ext cx="7498080" cy="640080"/>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Cambria" pitchFamily="34" charset="0"/>
                <a:ea typeface="Cambria" pitchFamily="34" charset="-122"/>
                <a:cs typeface="Cambria" pitchFamily="34" charset="-120"/>
              </a:rPr>
              <a:t>The trader stands between them and converts a flat-price risk into a differential risk — then keeps it.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21E1B"/>
        </a:solidFill>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lstStyle/>
          <a:p>
            <a:pPr indent="0" marL="0">
              <a:buNone/>
            </a:pPr>
            <a:r>
              <a:rPr lang="en-US" sz="5400" dirty="0">
                <a:solidFill>
                  <a:srgbClr val="A34B12"/>
                </a:solidFill>
                <a:latin typeface="Courier New" pitchFamily="34" charset="0"/>
                <a:ea typeface="Courier New" pitchFamily="34" charset="-122"/>
                <a:cs typeface="Courier New" pitchFamily="34" charset="-120"/>
              </a:rPr>
              <a:t>02</a:t>
            </a:r>
            <a:endParaRPr lang="en-US" sz="5400" dirty="0"/>
          </a:p>
        </p:txBody>
      </p:sp>
      <p:sp>
        <p:nvSpPr>
          <p:cNvPr id="3" name="Text 1"/>
          <p:cNvSpPr txBox="1"/>
          <p:nvPr/>
        </p:nvSpPr>
        <p:spPr>
          <a:xfrm>
            <a:off x="548640" y="2377440"/>
            <a:ext cx="80467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Why the market exists</a:t>
            </a:r>
            <a:endParaRPr lang="en-US" sz="3400" dirty="0"/>
          </a:p>
        </p:txBody>
      </p:sp>
      <p:sp>
        <p:nvSpPr>
          <p:cNvPr id="4" name="Text 2"/>
          <p:cNvSpPr txBox="1"/>
          <p:nvPr/>
        </p:nvSpPr>
        <p:spPr>
          <a:xfrm>
            <a:off x="548640" y="3200400"/>
            <a:ext cx="6675120" cy="548640"/>
          </a:xfrm>
          <a:prstGeom prst="rect">
            <a:avLst/>
          </a:prstGeom>
          <a:noFill/>
          <a:ln/>
        </p:spPr>
        <p:txBody>
          <a:bodyPr wrap="square" lIns="0" tIns="0" rIns="0" bIns="0" rtlCol="0" anchor="ctr"/>
          <a:lstStyle/>
          <a:p>
            <a:pPr indent="0" marL="0">
              <a:lnSpc>
                <a:spcPts val="2000"/>
              </a:lnSpc>
              <a:buNone/>
            </a:pPr>
            <a:r>
              <a:rPr lang="en-US" sz="1400" dirty="0">
                <a:solidFill>
                  <a:srgbClr val="9A8F86"/>
                </a:solidFill>
                <a:latin typeface="Calibri" pitchFamily="34" charset="0"/>
                <a:ea typeface="Calibri" pitchFamily="34" charset="-122"/>
                <a:cs typeface="Calibri" pitchFamily="34" charset="-120"/>
              </a:rPr>
              <a:t>Start from the opposite end: imagine there is no market at all.</a:t>
            </a:r>
            <a:endParaRPr lang="en-US" sz="1400" dirty="0"/>
          </a:p>
        </p:txBody>
      </p:sp>
      <p:sp>
        <p:nvSpPr>
          <p:cNvPr id="5" name="Text 3"/>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E6259"/>
                </a:solidFill>
                <a:latin typeface="Courier New" pitchFamily="34" charset="0"/>
                <a:ea typeface="Courier New" pitchFamily="34" charset="-122"/>
                <a:cs typeface="Courier New" pitchFamily="34" charset="-120"/>
              </a:rPr>
              <a:t>WHY THE MARKET EXISTS</a:t>
            </a:r>
            <a:endParaRPr lang="en-US" sz="800" dirty="0"/>
          </a:p>
        </p:txBody>
      </p:sp>
      <p:sp>
        <p:nvSpPr>
          <p:cNvPr id="6" name="Text 4"/>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E6259"/>
                </a:solidFill>
                <a:latin typeface="Courier New" pitchFamily="34" charset="0"/>
                <a:ea typeface="Courier New" pitchFamily="34" charset="-122"/>
                <a:cs typeface="Courier New" pitchFamily="34" charset="-120"/>
              </a:rPr>
              <a:t>12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why the market exists</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A world with no exchange</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WHY THE MARKET EXISTS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13</a:t>
            </a:r>
            <a:endParaRPr lang="en-US" sz="800" dirty="0"/>
          </a:p>
        </p:txBody>
      </p:sp>
      <p:sp>
        <p:nvSpPr>
          <p:cNvPr id="6" name="Shape 4"/>
          <p:cNvSpPr/>
          <p:nvPr/>
        </p:nvSpPr>
        <p:spPr>
          <a:xfrm>
            <a:off x="548640" y="1645920"/>
            <a:ext cx="3886200" cy="2194560"/>
          </a:xfrm>
          <a:prstGeom prst="roundRect">
            <a:avLst>
              <a:gd name="adj" fmla="val 2500"/>
            </a:avLst>
          </a:prstGeom>
          <a:solidFill>
            <a:srgbClr val="F7F5F3"/>
          </a:solidFill>
          <a:ln w="9525">
            <a:solidFill>
              <a:srgbClr val="E3DFDA"/>
            </a:solidFill>
            <a:prstDash val="solid"/>
          </a:ln>
        </p:spPr>
      </p:sp>
      <p:sp>
        <p:nvSpPr>
          <p:cNvPr id="7" name="Text 5"/>
          <p:cNvSpPr txBox="1"/>
          <p:nvPr/>
        </p:nvSpPr>
        <p:spPr>
          <a:xfrm>
            <a:off x="749808" y="1847088"/>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No reference price</a:t>
            </a:r>
            <a:endParaRPr lang="en-US" sz="1500" dirty="0"/>
          </a:p>
        </p:txBody>
      </p:sp>
      <p:sp>
        <p:nvSpPr>
          <p:cNvPr id="8" name="Text 6"/>
          <p:cNvSpPr txBox="1"/>
          <p:nvPr/>
        </p:nvSpPr>
        <p:spPr>
          <a:xfrm>
            <a:off x="749808" y="2249424"/>
            <a:ext cx="3483864" cy="138988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Every deal is private. Nobody knows what the right price is — not the farmer selling, not the roaster committing to next year.</a:t>
            </a:r>
            <a:endParaRPr lang="en-US" sz="1200" dirty="0"/>
          </a:p>
          <a:p>
            <a:pPr indent="0" marL="0">
              <a:lnSpc>
                <a:spcPts val="1700"/>
              </a:lnSpc>
              <a:buNone/>
            </a:pP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The better-informed side wins. Information IS the margin.</a:t>
            </a:r>
            <a:endParaRPr lang="en-US" sz="1200" dirty="0"/>
          </a:p>
        </p:txBody>
      </p:sp>
      <p:sp>
        <p:nvSpPr>
          <p:cNvPr id="9" name="Shape 7"/>
          <p:cNvSpPr/>
          <p:nvPr/>
        </p:nvSpPr>
        <p:spPr>
          <a:xfrm>
            <a:off x="4709160" y="1645920"/>
            <a:ext cx="3886200" cy="2194560"/>
          </a:xfrm>
          <a:prstGeom prst="roundRect">
            <a:avLst>
              <a:gd name="adj" fmla="val 2500"/>
            </a:avLst>
          </a:prstGeom>
          <a:solidFill>
            <a:srgbClr val="F7F5F3"/>
          </a:solidFill>
          <a:ln w="9525">
            <a:solidFill>
              <a:srgbClr val="E3DFDA"/>
            </a:solidFill>
            <a:prstDash val="solid"/>
          </a:ln>
        </p:spPr>
      </p:sp>
      <p:sp>
        <p:nvSpPr>
          <p:cNvPr id="10" name="Text 8"/>
          <p:cNvSpPr txBox="1"/>
          <p:nvPr/>
        </p:nvSpPr>
        <p:spPr>
          <a:xfrm>
            <a:off x="4910328" y="1847088"/>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No protection in advance</a:t>
            </a:r>
            <a:endParaRPr lang="en-US" sz="1500" dirty="0"/>
          </a:p>
        </p:txBody>
      </p:sp>
      <p:sp>
        <p:nvSpPr>
          <p:cNvPr id="11" name="Text 9"/>
          <p:cNvSpPr txBox="1"/>
          <p:nvPr/>
        </p:nvSpPr>
        <p:spPr>
          <a:xfrm>
            <a:off x="4910328" y="2249424"/>
            <a:ext cx="3483864" cy="138988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Whatever you must buy or sell next season, you pay whatever the price happens to be then.</a:t>
            </a:r>
            <a:endParaRPr lang="en-US" sz="1200" dirty="0"/>
          </a:p>
          <a:p>
            <a:pPr indent="0" marL="0">
              <a:lnSpc>
                <a:spcPts val="1700"/>
              </a:lnSpc>
              <a:buNone/>
            </a:pP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Price risk sits with whoever holds the goods, and cannot be moved.</a:t>
            </a:r>
            <a:endParaRPr lang="en-US" sz="1200" dirty="0"/>
          </a:p>
        </p:txBody>
      </p:sp>
      <p:sp>
        <p:nvSpPr>
          <p:cNvPr id="12" name="Text 10"/>
          <p:cNvSpPr txBox="1"/>
          <p:nvPr/>
        </p:nvSpPr>
        <p:spPr>
          <a:xfrm>
            <a:off x="548640" y="4069080"/>
            <a:ext cx="8046720" cy="365760"/>
          </a:xfrm>
          <a:prstGeom prst="rect">
            <a:avLst/>
          </a:prstGeom>
          <a:noFill/>
          <a:ln/>
        </p:spPr>
        <p:txBody>
          <a:bodyPr wrap="square" lIns="0" tIns="0" rIns="0" bIns="0" rtlCol="0" anchor="ctr"/>
          <a:lstStyle/>
          <a:p>
            <a:pPr indent="0" marL="0">
              <a:buNone/>
            </a:pPr>
            <a:r>
              <a:rPr lang="en-US" sz="1300" i="1" dirty="0">
                <a:solidFill>
                  <a:srgbClr val="6B655F"/>
                </a:solidFill>
                <a:latin typeface="Calibri" pitchFamily="34" charset="0"/>
                <a:ea typeface="Calibri" pitchFamily="34" charset="-122"/>
                <a:cs typeface="Calibri" pitchFamily="34" charset="-120"/>
              </a:rPr>
              <a:t>Millions of growers, thousands of roasters, each negotiating bilaterally, in the dark.</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why the market exists</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Olive oil: a market with no futures</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WHY THE MARKET EXISTS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14</a:t>
            </a:r>
            <a:endParaRPr lang="en-US" sz="800" dirty="0"/>
          </a:p>
        </p:txBody>
      </p:sp>
      <p:graphicFrame>
        <p:nvGraphicFramePr>
          <p:cNvPr id="6" name="Chart 0" descr=""/>
          <p:cNvGraphicFramePr/>
          <p:nvPr/>
        </p:nvGraphicFramePr>
        <p:xfrm>
          <a:off x="548640" y="1463040"/>
          <a:ext cx="5029200" cy="27432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852160" y="1554480"/>
            <a:ext cx="2743200" cy="2651760"/>
          </a:xfrm>
          <a:prstGeom prst="rect">
            <a:avLst/>
          </a:prstGeom>
          <a:noFill/>
          <a:ln/>
        </p:spPr>
        <p:txBody>
          <a:bodyPr wrap="square" lIns="0" tIns="0" rIns="0" bIns="0" rtlCol="0" anchor="t"/>
          <a:lstStyle/>
          <a:p>
            <a:pPr indent="0" marL="0">
              <a:lnSpc>
                <a:spcPts val="1900"/>
              </a:lnSpc>
              <a:spcAft>
                <a:spcPts val="800"/>
              </a:spcAft>
              <a:buNone/>
            </a:pPr>
            <a:r>
              <a:rPr lang="en-US" sz="1250" dirty="0">
                <a:solidFill>
                  <a:srgbClr val="221E1B"/>
                </a:solidFill>
                <a:latin typeface="Calibri" pitchFamily="34" charset="0"/>
                <a:ea typeface="Calibri" pitchFamily="34" charset="-122"/>
                <a:cs typeface="Calibri" pitchFamily="34" charset="-120"/>
              </a:rPr>
              <a:t>Spanish drought took extra virgin from about EUR 2,000 to nearly EUR 9,000 a tonne, and back.</a:t>
            </a:r>
            <a:endParaRPr lang="en-US" sz="1250" dirty="0"/>
          </a:p>
          <a:p>
            <a:pPr indent="0" marL="0">
              <a:lnSpc>
                <a:spcPts val="1900"/>
              </a:lnSpc>
              <a:spcAft>
                <a:spcPts val="800"/>
              </a:spcAft>
              <a:buNone/>
            </a:pPr>
            <a:r>
              <a:rPr lang="en-US" sz="1250" dirty="0">
                <a:solidFill>
                  <a:srgbClr val="221E1B"/>
                </a:solidFill>
                <a:latin typeface="Calibri" pitchFamily="34" charset="0"/>
                <a:ea typeface="Calibri" pitchFamily="34" charset="-122"/>
                <a:cs typeface="Calibri" pitchFamily="34" charset="-120"/>
              </a:rPr>
              <a:t>Every importer and bottler simply ate the move.</a:t>
            </a:r>
            <a:endParaRPr lang="en-US" sz="1250" dirty="0"/>
          </a:p>
          <a:p>
            <a:pPr indent="0" marL="0">
              <a:lnSpc>
                <a:spcPts val="1900"/>
              </a:lnSpc>
              <a:spcAft>
                <a:spcPts val="800"/>
              </a:spcAft>
              <a:buNone/>
            </a:pPr>
            <a:r>
              <a:rPr lang="en-US" sz="1250" dirty="0">
                <a:solidFill>
                  <a:srgbClr val="221E1B"/>
                </a:solidFill>
                <a:latin typeface="Calibri" pitchFamily="34" charset="0"/>
                <a:ea typeface="Calibri" pitchFamily="34" charset="-122"/>
                <a:cs typeface="Calibri" pitchFamily="34" charset="-120"/>
              </a:rPr>
              <a:t>No hedge to lay it off. No transparent reference to negotiate against. No buyer of last resort for stuck stock.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why the market exists</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Both physical defences fail</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WHY THE MARKET EXISTS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15</a:t>
            </a:r>
            <a:endParaRPr lang="en-US" sz="800" dirty="0"/>
          </a:p>
        </p:txBody>
      </p:sp>
      <p:sp>
        <p:nvSpPr>
          <p:cNvPr id="6" name="Shape 4"/>
          <p:cNvSpPr/>
          <p:nvPr/>
        </p:nvSpPr>
        <p:spPr>
          <a:xfrm>
            <a:off x="548640" y="1645920"/>
            <a:ext cx="3886200" cy="2194560"/>
          </a:xfrm>
          <a:prstGeom prst="roundRect">
            <a:avLst>
              <a:gd name="adj" fmla="val 2500"/>
            </a:avLst>
          </a:prstGeom>
          <a:solidFill>
            <a:srgbClr val="F7F5F3"/>
          </a:solidFill>
          <a:ln w="9525">
            <a:solidFill>
              <a:srgbClr val="E3DFDA"/>
            </a:solidFill>
            <a:prstDash val="solid"/>
          </a:ln>
        </p:spPr>
      </p:sp>
      <p:sp>
        <p:nvSpPr>
          <p:cNvPr id="7" name="Text 5"/>
          <p:cNvSpPr txBox="1"/>
          <p:nvPr/>
        </p:nvSpPr>
        <p:spPr>
          <a:xfrm>
            <a:off x="749808" y="1847088"/>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You cannot stock your way out</a:t>
            </a:r>
            <a:endParaRPr lang="en-US" sz="1500" dirty="0"/>
          </a:p>
        </p:txBody>
      </p:sp>
      <p:sp>
        <p:nvSpPr>
          <p:cNvPr id="8" name="Text 6"/>
          <p:cNvSpPr txBox="1"/>
          <p:nvPr/>
        </p:nvSpPr>
        <p:spPr>
          <a:xfrm>
            <a:off x="749808" y="2249424"/>
            <a:ext cx="3483864" cy="138988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A bottler's tanks hold perhaps one month of supply. Storage is expensive, oil degrades, capital is tied up.</a:t>
            </a:r>
            <a:endParaRPr lang="en-US" sz="1200" dirty="0"/>
          </a:p>
          <a:p>
            <a:pPr indent="0" marL="0">
              <a:lnSpc>
                <a:spcPts val="1700"/>
              </a:lnSpc>
              <a:buNone/>
            </a:pP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Seeing the drought coming does not help if you physically cannot hold more than four weeks of it.</a:t>
            </a:r>
            <a:endParaRPr lang="en-US" sz="1200" dirty="0"/>
          </a:p>
        </p:txBody>
      </p:sp>
      <p:sp>
        <p:nvSpPr>
          <p:cNvPr id="9" name="Shape 7"/>
          <p:cNvSpPr/>
          <p:nvPr/>
        </p:nvSpPr>
        <p:spPr>
          <a:xfrm>
            <a:off x="4709160" y="1645920"/>
            <a:ext cx="3886200" cy="2194560"/>
          </a:xfrm>
          <a:prstGeom prst="roundRect">
            <a:avLst>
              <a:gd name="adj" fmla="val 2500"/>
            </a:avLst>
          </a:prstGeom>
          <a:solidFill>
            <a:srgbClr val="F7F5F3"/>
          </a:solidFill>
          <a:ln w="9525">
            <a:solidFill>
              <a:srgbClr val="E3DFDA"/>
            </a:solidFill>
            <a:prstDash val="solid"/>
          </a:ln>
        </p:spPr>
      </p:sp>
      <p:sp>
        <p:nvSpPr>
          <p:cNvPr id="10" name="Text 8"/>
          <p:cNvSpPr txBox="1"/>
          <p:nvPr/>
        </p:nvSpPr>
        <p:spPr>
          <a:xfrm>
            <a:off x="4910328" y="1847088"/>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You can buy forward — into default</a:t>
            </a:r>
            <a:endParaRPr lang="en-US" sz="1500" dirty="0"/>
          </a:p>
        </p:txBody>
      </p:sp>
      <p:sp>
        <p:nvSpPr>
          <p:cNvPr id="11" name="Text 9"/>
          <p:cNvSpPr txBox="1"/>
          <p:nvPr/>
        </p:nvSpPr>
        <p:spPr>
          <a:xfrm>
            <a:off x="4910328" y="2249424"/>
            <a:ext cx="3483864" cy="138988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Contract future shipments at today's price. When the market doubles, your supplier chooses: honour a contract that ruins him, or walk away.</a:t>
            </a:r>
            <a:endParaRPr lang="en-US" sz="1200" dirty="0"/>
          </a:p>
          <a:p>
            <a:pPr indent="0" marL="0">
              <a:lnSpc>
                <a:spcPts val="1700"/>
              </a:lnSpc>
              <a:buNone/>
            </a:pP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Many walked.</a:t>
            </a:r>
            <a:endParaRPr lang="en-US" sz="1200" dirty="0"/>
          </a:p>
        </p:txBody>
      </p:sp>
      <p:sp>
        <p:nvSpPr>
          <p:cNvPr id="12" name="Text 10"/>
          <p:cNvSpPr txBox="1"/>
          <p:nvPr/>
        </p:nvSpPr>
        <p:spPr>
          <a:xfrm>
            <a:off x="548640" y="4069080"/>
            <a:ext cx="8046720" cy="365760"/>
          </a:xfrm>
          <a:prstGeom prst="rect">
            <a:avLst/>
          </a:prstGeom>
          <a:noFill/>
          <a:ln/>
        </p:spPr>
        <p:txBody>
          <a:bodyPr wrap="square" lIns="0" tIns="0" rIns="0" bIns="0" rtlCol="0" anchor="ctr"/>
          <a:lstStyle/>
          <a:p>
            <a:pPr indent="0" marL="0">
              <a:buNone/>
            </a:pPr>
            <a:r>
              <a:rPr lang="en-US" sz="1300" i="1" dirty="0">
                <a:solidFill>
                  <a:srgbClr val="6B655F"/>
                </a:solidFill>
                <a:latin typeface="Calibri" pitchFamily="34" charset="0"/>
                <a:ea typeface="Calibri" pitchFamily="34" charset="-122"/>
                <a:cs typeface="Calibri" pitchFamily="34" charset="-120"/>
              </a:rPr>
              <a:t>An unsecured bilateral promise is only as good as the counterparty's solvency — and it fails exactly when you need it most.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why the market exists</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Three markets that never got a contract</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WHY THE MARKET EXISTS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16</a:t>
            </a:r>
            <a:endParaRPr lang="en-US" sz="800" dirty="0"/>
          </a:p>
        </p:txBody>
      </p:sp>
      <p:sp>
        <p:nvSpPr>
          <p:cNvPr id="6" name="Text 4"/>
          <p:cNvSpPr txBox="1"/>
          <p:nvPr/>
        </p:nvSpPr>
        <p:spPr>
          <a:xfrm>
            <a:off x="548640" y="1554480"/>
            <a:ext cx="2468880" cy="685800"/>
          </a:xfrm>
          <a:prstGeom prst="rect">
            <a:avLst/>
          </a:prstGeom>
          <a:noFill/>
          <a:ln/>
        </p:spPr>
        <p:txBody>
          <a:bodyPr wrap="square" lIns="0" tIns="0" rIns="0" bIns="0" rtlCol="0" anchor="ctr"/>
          <a:lstStyle/>
          <a:p>
            <a:pPr indent="0" marL="0">
              <a:buNone/>
            </a:pPr>
            <a:r>
              <a:rPr lang="en-US" sz="3400" b="1" dirty="0">
                <a:solidFill>
                  <a:srgbClr val="A34B12"/>
                </a:solidFill>
                <a:latin typeface="Courier New" pitchFamily="34" charset="0"/>
                <a:ea typeface="Courier New" pitchFamily="34" charset="-122"/>
                <a:cs typeface="Courier New" pitchFamily="34" charset="-120"/>
              </a:rPr>
              <a:t>×3</a:t>
            </a:r>
            <a:endParaRPr lang="en-US" sz="3400" dirty="0"/>
          </a:p>
        </p:txBody>
      </p:sp>
      <p:sp>
        <p:nvSpPr>
          <p:cNvPr id="7" name="Text 5"/>
          <p:cNvSpPr txBox="1"/>
          <p:nvPr/>
        </p:nvSpPr>
        <p:spPr>
          <a:xfrm>
            <a:off x="548640" y="2212848"/>
            <a:ext cx="2468880" cy="960120"/>
          </a:xfrm>
          <a:prstGeom prst="rect">
            <a:avLst/>
          </a:prstGeom>
          <a:noFill/>
          <a:ln/>
        </p:spPr>
        <p:txBody>
          <a:bodyPr wrap="square" lIns="0" tIns="0" rIns="0" bIns="0" rtlCol="0" anchor="ctr"/>
          <a:lstStyle/>
          <a:p>
            <a:pPr indent="0" marL="0">
              <a:lnSpc>
                <a:spcPts val="1600"/>
              </a:lnSpc>
              <a:buNone/>
            </a:pPr>
            <a:r>
              <a:rPr lang="en-US" sz="1200" dirty="0">
                <a:solidFill>
                  <a:srgbClr val="6B655F"/>
                </a:solidFill>
                <a:latin typeface="Calibri" pitchFamily="34" charset="0"/>
                <a:ea typeface="Calibri" pitchFamily="34" charset="-122"/>
                <a:cs typeface="Calibri" pitchFamily="34" charset="-120"/>
              </a:rPr>
              <a:t>Rice, 2008. Export restrictions, thin visibility on stocks, panic did the pricing. Tripled in months, then collapsed.</a:t>
            </a:r>
            <a:endParaRPr lang="en-US" sz="1200" dirty="0"/>
          </a:p>
        </p:txBody>
      </p:sp>
      <p:sp>
        <p:nvSpPr>
          <p:cNvPr id="8" name="Text 6"/>
          <p:cNvSpPr txBox="1"/>
          <p:nvPr/>
        </p:nvSpPr>
        <p:spPr>
          <a:xfrm>
            <a:off x="3337560" y="1554480"/>
            <a:ext cx="2468880" cy="685800"/>
          </a:xfrm>
          <a:prstGeom prst="rect">
            <a:avLst/>
          </a:prstGeom>
          <a:noFill/>
          <a:ln/>
        </p:spPr>
        <p:txBody>
          <a:bodyPr wrap="square" lIns="0" tIns="0" rIns="0" bIns="0" rtlCol="0" anchor="ctr"/>
          <a:lstStyle/>
          <a:p>
            <a:pPr indent="0" marL="0">
              <a:buNone/>
            </a:pPr>
            <a:r>
              <a:rPr lang="en-US" sz="2600" b="1" dirty="0">
                <a:solidFill>
                  <a:srgbClr val="A34B12"/>
                </a:solidFill>
                <a:latin typeface="Courier New" pitchFamily="34" charset="0"/>
                <a:ea typeface="Courier New" pitchFamily="34" charset="-122"/>
                <a:cs typeface="Courier New" pitchFamily="34" charset="-120"/>
              </a:rPr>
              <a:t>$10k → $2k</a:t>
            </a:r>
            <a:endParaRPr lang="en-US" sz="2600" dirty="0"/>
          </a:p>
        </p:txBody>
      </p:sp>
      <p:sp>
        <p:nvSpPr>
          <p:cNvPr id="9" name="Text 7"/>
          <p:cNvSpPr txBox="1"/>
          <p:nvPr/>
        </p:nvSpPr>
        <p:spPr>
          <a:xfrm>
            <a:off x="3337560" y="2212848"/>
            <a:ext cx="2468880" cy="960120"/>
          </a:xfrm>
          <a:prstGeom prst="rect">
            <a:avLst/>
          </a:prstGeom>
          <a:noFill/>
          <a:ln/>
        </p:spPr>
        <p:txBody>
          <a:bodyPr wrap="square" lIns="0" tIns="0" rIns="0" bIns="0" rtlCol="0" anchor="ctr"/>
          <a:lstStyle/>
          <a:p>
            <a:pPr indent="0" marL="0">
              <a:lnSpc>
                <a:spcPts val="1600"/>
              </a:lnSpc>
              <a:buNone/>
            </a:pPr>
            <a:r>
              <a:rPr lang="en-US" sz="1200" dirty="0">
                <a:solidFill>
                  <a:srgbClr val="6B655F"/>
                </a:solidFill>
                <a:latin typeface="Calibri" pitchFamily="34" charset="0"/>
                <a:ea typeface="Calibri" pitchFamily="34" charset="-122"/>
                <a:cs typeface="Calibri" pitchFamily="34" charset="-120"/>
              </a:rPr>
              <a:t>Vietnamese pepper, 2015–19. Farmers planted at the peak with no forward curve to warn them. Orchards ripped out.</a:t>
            </a:r>
            <a:endParaRPr lang="en-US" sz="1200" dirty="0"/>
          </a:p>
        </p:txBody>
      </p:sp>
      <p:sp>
        <p:nvSpPr>
          <p:cNvPr id="10" name="Text 8"/>
          <p:cNvSpPr txBox="1"/>
          <p:nvPr/>
        </p:nvSpPr>
        <p:spPr>
          <a:xfrm>
            <a:off x="6126480" y="1554480"/>
            <a:ext cx="2468880" cy="685800"/>
          </a:xfrm>
          <a:prstGeom prst="rect">
            <a:avLst/>
          </a:prstGeom>
          <a:noFill/>
          <a:ln/>
        </p:spPr>
        <p:txBody>
          <a:bodyPr wrap="square" lIns="0" tIns="0" rIns="0" bIns="0" rtlCol="0" anchor="ctr"/>
          <a:lstStyle/>
          <a:p>
            <a:pPr indent="0" marL="0">
              <a:buNone/>
            </a:pPr>
            <a:r>
              <a:rPr lang="en-US" sz="3400" b="1" dirty="0">
                <a:solidFill>
                  <a:srgbClr val="A34B12"/>
                </a:solidFill>
                <a:latin typeface="Courier New" pitchFamily="34" charset="0"/>
                <a:ea typeface="Courier New" pitchFamily="34" charset="-122"/>
                <a:cs typeface="Courier New" pitchFamily="34" charset="-120"/>
              </a:rPr>
              <a:t>1958</a:t>
            </a:r>
            <a:endParaRPr lang="en-US" sz="3400" dirty="0"/>
          </a:p>
        </p:txBody>
      </p:sp>
      <p:sp>
        <p:nvSpPr>
          <p:cNvPr id="11" name="Text 9"/>
          <p:cNvSpPr txBox="1"/>
          <p:nvPr/>
        </p:nvSpPr>
        <p:spPr>
          <a:xfrm>
            <a:off x="6126480" y="2212848"/>
            <a:ext cx="2468880" cy="960120"/>
          </a:xfrm>
          <a:prstGeom prst="rect">
            <a:avLst/>
          </a:prstGeom>
          <a:noFill/>
          <a:ln/>
        </p:spPr>
        <p:txBody>
          <a:bodyPr wrap="square" lIns="0" tIns="0" rIns="0" bIns="0" rtlCol="0" anchor="ctr"/>
          <a:lstStyle/>
          <a:p>
            <a:pPr indent="0" marL="0">
              <a:lnSpc>
                <a:spcPts val="1600"/>
              </a:lnSpc>
              <a:buNone/>
            </a:pPr>
            <a:r>
              <a:rPr lang="en-US" sz="1200" dirty="0">
                <a:solidFill>
                  <a:srgbClr val="6B655F"/>
                </a:solidFill>
                <a:latin typeface="Calibri" pitchFamily="34" charset="0"/>
                <a:ea typeface="Calibri" pitchFamily="34" charset="-122"/>
                <a:cs typeface="Calibri" pitchFamily="34" charset="-120"/>
              </a:rPr>
              <a:t>US onions. Futures were BANNED by law, still in force. Prices became MORE volatile, not less.</a:t>
            </a:r>
            <a:endParaRPr lang="en-US" sz="1200" dirty="0"/>
          </a:p>
        </p:txBody>
      </p:sp>
      <p:sp>
        <p:nvSpPr>
          <p:cNvPr id="12" name="Shape 10"/>
          <p:cNvSpPr/>
          <p:nvPr/>
        </p:nvSpPr>
        <p:spPr>
          <a:xfrm>
            <a:off x="548640" y="3611880"/>
            <a:ext cx="8046720" cy="777240"/>
          </a:xfrm>
          <a:prstGeom prst="roundRect">
            <a:avLst>
              <a:gd name="adj" fmla="val 7059"/>
            </a:avLst>
          </a:prstGeom>
          <a:solidFill>
            <a:srgbClr val="F7F5F3"/>
          </a:solidFill>
          <a:ln w="9525">
            <a:solidFill>
              <a:srgbClr val="E3DFDA"/>
            </a:solidFill>
            <a:prstDash val="solid"/>
          </a:ln>
        </p:spPr>
      </p:sp>
      <p:sp>
        <p:nvSpPr>
          <p:cNvPr id="13" name="Text 11"/>
          <p:cNvSpPr txBox="1"/>
          <p:nvPr/>
        </p:nvSpPr>
        <p:spPr>
          <a:xfrm>
            <a:off x="822960" y="3749040"/>
            <a:ext cx="7498080" cy="548640"/>
          </a:xfrm>
          <a:prstGeom prst="rect">
            <a:avLst/>
          </a:prstGeom>
          <a:noFill/>
          <a:ln/>
        </p:spPr>
        <p:txBody>
          <a:bodyPr wrap="square" lIns="0" tIns="0" rIns="0" bIns="0" rtlCol="0" anchor="ctr"/>
          <a:lstStyle/>
          <a:p>
            <a:pPr indent="0" marL="0">
              <a:lnSpc>
                <a:spcPts val="1900"/>
              </a:lnSpc>
              <a:buNone/>
            </a:pPr>
            <a:r>
              <a:rPr lang="en-US" sz="1350" dirty="0">
                <a:solidFill>
                  <a:srgbClr val="221E1B"/>
                </a:solidFill>
                <a:latin typeface="Calibri" pitchFamily="34" charset="0"/>
                <a:ea typeface="Calibri" pitchFamily="34" charset="-122"/>
                <a:cs typeface="Calibri" pitchFamily="34" charset="-120"/>
              </a:rPr>
              <a:t>The volatility in these markets is not worse than coffee's. The difference is that coffee traders can do something about it.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why the market exists</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Chicago, 1848: the answer was improvised</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WHY THE MARKET EXISTS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17</a:t>
            </a:r>
            <a:endParaRPr lang="en-US" sz="800" dirty="0"/>
          </a:p>
        </p:txBody>
      </p:sp>
      <p:sp>
        <p:nvSpPr>
          <p:cNvPr id="6" name="Text 4"/>
          <p:cNvSpPr txBox="1"/>
          <p:nvPr/>
        </p:nvSpPr>
        <p:spPr>
          <a:xfrm>
            <a:off x="548640" y="1481328"/>
            <a:ext cx="777240" cy="365760"/>
          </a:xfrm>
          <a:prstGeom prst="rect">
            <a:avLst/>
          </a:prstGeom>
          <a:noFill/>
          <a:ln/>
        </p:spPr>
        <p:txBody>
          <a:bodyPr wrap="square" lIns="0" tIns="0" rIns="0" bIns="0" rtlCol="0" anchor="ctr"/>
          <a:lstStyle/>
          <a:p>
            <a:pPr indent="0" marL="0">
              <a:buNone/>
            </a:pPr>
            <a:r>
              <a:rPr lang="en-US" sz="1300" b="1" dirty="0">
                <a:solidFill>
                  <a:srgbClr val="A34B12"/>
                </a:solidFill>
                <a:latin typeface="Courier New" pitchFamily="34" charset="0"/>
                <a:ea typeface="Courier New" pitchFamily="34" charset="-122"/>
                <a:cs typeface="Courier New" pitchFamily="34" charset="-120"/>
              </a:rPr>
              <a:t>1840s</a:t>
            </a:r>
            <a:endParaRPr lang="en-US" sz="1300" dirty="0"/>
          </a:p>
        </p:txBody>
      </p:sp>
      <p:sp>
        <p:nvSpPr>
          <p:cNvPr id="7" name="Text 5"/>
          <p:cNvSpPr txBox="1"/>
          <p:nvPr/>
        </p:nvSpPr>
        <p:spPr>
          <a:xfrm>
            <a:off x="1463040" y="1481328"/>
            <a:ext cx="7132320" cy="512064"/>
          </a:xfrm>
          <a:prstGeom prst="rect">
            <a:avLst/>
          </a:prstGeom>
          <a:noFill/>
          <a:ln/>
        </p:spPr>
        <p:txBody>
          <a:bodyPr wrap="square" lIns="0" tIns="0" rIns="0" bIns="0" rtlCol="0" anchor="ctr"/>
          <a:lstStyle/>
          <a:p>
            <a:pPr indent="0" marL="0">
              <a:lnSpc>
                <a:spcPts val="1700"/>
              </a:lnSpc>
              <a:buNone/>
            </a:pPr>
            <a:r>
              <a:rPr lang="en-US" sz="1250" dirty="0">
                <a:solidFill>
                  <a:srgbClr val="221E1B"/>
                </a:solidFill>
                <a:latin typeface="Calibri" pitchFamily="34" charset="0"/>
                <a:ea typeface="Calibri" pitchFamily="34" charset="-122"/>
                <a:cs typeface="Calibri" pitchFamily="34" charset="-120"/>
              </a:rPr>
              <a:t>Harvest floods a city with too little storage. Prices collapse in autumn, soar by spring. Grain dumped in Lake Michigan.</a:t>
            </a:r>
            <a:endParaRPr lang="en-US" sz="1250" dirty="0"/>
          </a:p>
        </p:txBody>
      </p:sp>
      <p:sp>
        <p:nvSpPr>
          <p:cNvPr id="8" name="Shape 6"/>
          <p:cNvSpPr/>
          <p:nvPr/>
        </p:nvSpPr>
        <p:spPr>
          <a:xfrm>
            <a:off x="932688" y="1883664"/>
            <a:ext cx="0" cy="201168"/>
          </a:xfrm>
          <a:prstGeom prst="line">
            <a:avLst/>
          </a:prstGeom>
          <a:noFill/>
          <a:ln w="12700">
            <a:solidFill>
              <a:srgbClr val="E3DFDA"/>
            </a:solidFill>
            <a:prstDash val="solid"/>
          </a:ln>
        </p:spPr>
      </p:sp>
      <p:sp>
        <p:nvSpPr>
          <p:cNvPr id="9" name="Text 7"/>
          <p:cNvSpPr txBox="1"/>
          <p:nvPr/>
        </p:nvSpPr>
        <p:spPr>
          <a:xfrm>
            <a:off x="548640" y="2084832"/>
            <a:ext cx="777240" cy="365760"/>
          </a:xfrm>
          <a:prstGeom prst="rect">
            <a:avLst/>
          </a:prstGeom>
          <a:noFill/>
          <a:ln/>
        </p:spPr>
        <p:txBody>
          <a:bodyPr wrap="square" lIns="0" tIns="0" rIns="0" bIns="0" rtlCol="0" anchor="ctr"/>
          <a:lstStyle/>
          <a:p>
            <a:pPr indent="0" marL="0">
              <a:buNone/>
            </a:pPr>
            <a:r>
              <a:rPr lang="en-US" sz="1300" b="1" dirty="0">
                <a:solidFill>
                  <a:srgbClr val="A34B12"/>
                </a:solidFill>
                <a:latin typeface="Courier New" pitchFamily="34" charset="0"/>
                <a:ea typeface="Courier New" pitchFamily="34" charset="-122"/>
                <a:cs typeface="Courier New" pitchFamily="34" charset="-120"/>
              </a:rPr>
              <a:t>1848</a:t>
            </a:r>
            <a:endParaRPr lang="en-US" sz="1300" dirty="0"/>
          </a:p>
        </p:txBody>
      </p:sp>
      <p:sp>
        <p:nvSpPr>
          <p:cNvPr id="10" name="Text 8"/>
          <p:cNvSpPr txBox="1"/>
          <p:nvPr/>
        </p:nvSpPr>
        <p:spPr>
          <a:xfrm>
            <a:off x="1463040" y="2084832"/>
            <a:ext cx="7132320" cy="512064"/>
          </a:xfrm>
          <a:prstGeom prst="rect">
            <a:avLst/>
          </a:prstGeom>
          <a:noFill/>
          <a:ln/>
        </p:spPr>
        <p:txBody>
          <a:bodyPr wrap="square" lIns="0" tIns="0" rIns="0" bIns="0" rtlCol="0" anchor="ctr"/>
          <a:lstStyle/>
          <a:p>
            <a:pPr indent="0" marL="0">
              <a:lnSpc>
                <a:spcPts val="1700"/>
              </a:lnSpc>
              <a:buNone/>
            </a:pPr>
            <a:r>
              <a:rPr lang="en-US" sz="1250" dirty="0">
                <a:solidFill>
                  <a:srgbClr val="221E1B"/>
                </a:solidFill>
                <a:latin typeface="Calibri" pitchFamily="34" charset="0"/>
                <a:ea typeface="Calibri" pitchFamily="34" charset="-122"/>
                <a:cs typeface="Calibri" pitchFamily="34" charset="-120"/>
              </a:rPr>
              <a:t>Eighty-two merchants found the Chicago Board of Trade. Deals struck in public. The reference price is born.</a:t>
            </a:r>
            <a:endParaRPr lang="en-US" sz="1250" dirty="0"/>
          </a:p>
        </p:txBody>
      </p:sp>
      <p:sp>
        <p:nvSpPr>
          <p:cNvPr id="11" name="Shape 9"/>
          <p:cNvSpPr/>
          <p:nvPr/>
        </p:nvSpPr>
        <p:spPr>
          <a:xfrm>
            <a:off x="932688" y="2487168"/>
            <a:ext cx="0" cy="201168"/>
          </a:xfrm>
          <a:prstGeom prst="line">
            <a:avLst/>
          </a:prstGeom>
          <a:noFill/>
          <a:ln w="12700">
            <a:solidFill>
              <a:srgbClr val="E3DFDA"/>
            </a:solidFill>
            <a:prstDash val="solid"/>
          </a:ln>
        </p:spPr>
      </p:sp>
      <p:sp>
        <p:nvSpPr>
          <p:cNvPr id="12" name="Text 10"/>
          <p:cNvSpPr txBox="1"/>
          <p:nvPr/>
        </p:nvSpPr>
        <p:spPr>
          <a:xfrm>
            <a:off x="548640" y="2688336"/>
            <a:ext cx="777240" cy="365760"/>
          </a:xfrm>
          <a:prstGeom prst="rect">
            <a:avLst/>
          </a:prstGeom>
          <a:noFill/>
          <a:ln/>
        </p:spPr>
        <p:txBody>
          <a:bodyPr wrap="square" lIns="0" tIns="0" rIns="0" bIns="0" rtlCol="0" anchor="ctr"/>
          <a:lstStyle/>
          <a:p>
            <a:pPr indent="0" marL="0">
              <a:buNone/>
            </a:pPr>
            <a:r>
              <a:rPr lang="en-US" sz="1300" b="1" dirty="0">
                <a:solidFill>
                  <a:srgbClr val="A34B12"/>
                </a:solidFill>
                <a:latin typeface="Courier New" pitchFamily="34" charset="0"/>
                <a:ea typeface="Courier New" pitchFamily="34" charset="-122"/>
                <a:cs typeface="Courier New" pitchFamily="34" charset="-120"/>
              </a:rPr>
              <a:t>1850s</a:t>
            </a:r>
            <a:endParaRPr lang="en-US" sz="1300" dirty="0"/>
          </a:p>
        </p:txBody>
      </p:sp>
      <p:sp>
        <p:nvSpPr>
          <p:cNvPr id="13" name="Text 11"/>
          <p:cNvSpPr txBox="1"/>
          <p:nvPr/>
        </p:nvSpPr>
        <p:spPr>
          <a:xfrm>
            <a:off x="1463040" y="2688336"/>
            <a:ext cx="7132320" cy="512064"/>
          </a:xfrm>
          <a:prstGeom prst="rect">
            <a:avLst/>
          </a:prstGeom>
          <a:noFill/>
          <a:ln/>
        </p:spPr>
        <p:txBody>
          <a:bodyPr wrap="square" lIns="0" tIns="0" rIns="0" bIns="0" rtlCol="0" anchor="ctr"/>
          <a:lstStyle/>
          <a:p>
            <a:pPr indent="0" marL="0">
              <a:lnSpc>
                <a:spcPts val="1700"/>
              </a:lnSpc>
              <a:buNone/>
            </a:pPr>
            <a:r>
              <a:rPr lang="en-US" sz="1250" dirty="0">
                <a:solidFill>
                  <a:srgbClr val="221E1B"/>
                </a:solidFill>
                <a:latin typeface="Calibri" pitchFamily="34" charset="0"/>
                <a:ea typeface="Calibri" pitchFamily="34" charset="-122"/>
                <a:cs typeface="Calibri" pitchFamily="34" charset="-120"/>
              </a:rPr>
              <a:t>"To-arrive" contracts: a price agreed today for grain delivered later. Protection in advance.</a:t>
            </a:r>
            <a:endParaRPr lang="en-US" sz="1250" dirty="0"/>
          </a:p>
        </p:txBody>
      </p:sp>
      <p:sp>
        <p:nvSpPr>
          <p:cNvPr id="14" name="Shape 12"/>
          <p:cNvSpPr/>
          <p:nvPr/>
        </p:nvSpPr>
        <p:spPr>
          <a:xfrm>
            <a:off x="932688" y="3090672"/>
            <a:ext cx="0" cy="201168"/>
          </a:xfrm>
          <a:prstGeom prst="line">
            <a:avLst/>
          </a:prstGeom>
          <a:noFill/>
          <a:ln w="12700">
            <a:solidFill>
              <a:srgbClr val="E3DFDA"/>
            </a:solidFill>
            <a:prstDash val="solid"/>
          </a:ln>
        </p:spPr>
      </p:sp>
      <p:sp>
        <p:nvSpPr>
          <p:cNvPr id="15" name="Text 13"/>
          <p:cNvSpPr txBox="1"/>
          <p:nvPr/>
        </p:nvSpPr>
        <p:spPr>
          <a:xfrm>
            <a:off x="548640" y="3291840"/>
            <a:ext cx="777240" cy="365760"/>
          </a:xfrm>
          <a:prstGeom prst="rect">
            <a:avLst/>
          </a:prstGeom>
          <a:noFill/>
          <a:ln/>
        </p:spPr>
        <p:txBody>
          <a:bodyPr wrap="square" lIns="0" tIns="0" rIns="0" bIns="0" rtlCol="0" anchor="ctr"/>
          <a:lstStyle/>
          <a:p>
            <a:pPr indent="0" marL="0">
              <a:buNone/>
            </a:pPr>
            <a:r>
              <a:rPr lang="en-US" sz="1300" b="1" dirty="0">
                <a:solidFill>
                  <a:srgbClr val="A34B12"/>
                </a:solidFill>
                <a:latin typeface="Courier New" pitchFamily="34" charset="0"/>
                <a:ea typeface="Courier New" pitchFamily="34" charset="-122"/>
                <a:cs typeface="Courier New" pitchFamily="34" charset="-120"/>
              </a:rPr>
              <a:t>1865</a:t>
            </a:r>
            <a:endParaRPr lang="en-US" sz="1300" dirty="0"/>
          </a:p>
        </p:txBody>
      </p:sp>
      <p:sp>
        <p:nvSpPr>
          <p:cNvPr id="16" name="Text 14"/>
          <p:cNvSpPr txBox="1"/>
          <p:nvPr/>
        </p:nvSpPr>
        <p:spPr>
          <a:xfrm>
            <a:off x="1463040" y="3291840"/>
            <a:ext cx="7132320" cy="512064"/>
          </a:xfrm>
          <a:prstGeom prst="rect">
            <a:avLst/>
          </a:prstGeom>
          <a:noFill/>
          <a:ln/>
        </p:spPr>
        <p:txBody>
          <a:bodyPr wrap="square" lIns="0" tIns="0" rIns="0" bIns="0" rtlCol="0" anchor="ctr"/>
          <a:lstStyle/>
          <a:p>
            <a:pPr indent="0" marL="0">
              <a:lnSpc>
                <a:spcPts val="1700"/>
              </a:lnSpc>
              <a:buNone/>
            </a:pPr>
            <a:r>
              <a:rPr lang="en-US" sz="1250" dirty="0">
                <a:solidFill>
                  <a:srgbClr val="221E1B"/>
                </a:solidFill>
                <a:latin typeface="Calibri" pitchFamily="34" charset="0"/>
                <a:ea typeface="Calibri" pitchFamily="34" charset="-122"/>
                <a:cs typeface="Calibri" pitchFamily="34" charset="-120"/>
              </a:rPr>
              <a:t>Standardised: fixed grades, lot sizes, delivery months — and both sides post margin. The futures contract.</a:t>
            </a:r>
            <a:endParaRPr lang="en-US" sz="1250" dirty="0"/>
          </a:p>
        </p:txBody>
      </p:sp>
      <p:sp>
        <p:nvSpPr>
          <p:cNvPr id="17" name="Shape 15"/>
          <p:cNvSpPr/>
          <p:nvPr/>
        </p:nvSpPr>
        <p:spPr>
          <a:xfrm>
            <a:off x="932688" y="3694176"/>
            <a:ext cx="0" cy="201168"/>
          </a:xfrm>
          <a:prstGeom prst="line">
            <a:avLst/>
          </a:prstGeom>
          <a:noFill/>
          <a:ln w="12700">
            <a:solidFill>
              <a:srgbClr val="E3DFDA"/>
            </a:solidFill>
            <a:prstDash val="solid"/>
          </a:ln>
        </p:spPr>
      </p:sp>
      <p:sp>
        <p:nvSpPr>
          <p:cNvPr id="18" name="Text 16"/>
          <p:cNvSpPr txBox="1"/>
          <p:nvPr/>
        </p:nvSpPr>
        <p:spPr>
          <a:xfrm>
            <a:off x="548640" y="3895344"/>
            <a:ext cx="777240" cy="365760"/>
          </a:xfrm>
          <a:prstGeom prst="rect">
            <a:avLst/>
          </a:prstGeom>
          <a:noFill/>
          <a:ln/>
        </p:spPr>
        <p:txBody>
          <a:bodyPr wrap="square" lIns="0" tIns="0" rIns="0" bIns="0" rtlCol="0" anchor="ctr"/>
          <a:lstStyle/>
          <a:p>
            <a:pPr indent="0" marL="0">
              <a:buNone/>
            </a:pPr>
            <a:r>
              <a:rPr lang="en-US" sz="1300" b="1" dirty="0">
                <a:solidFill>
                  <a:srgbClr val="A34B12"/>
                </a:solidFill>
                <a:latin typeface="Courier New" pitchFamily="34" charset="0"/>
                <a:ea typeface="Courier New" pitchFamily="34" charset="-122"/>
                <a:cs typeface="Courier New" pitchFamily="34" charset="-120"/>
              </a:rPr>
              <a:t>1925</a:t>
            </a:r>
            <a:endParaRPr lang="en-US" sz="1300" dirty="0"/>
          </a:p>
        </p:txBody>
      </p:sp>
      <p:sp>
        <p:nvSpPr>
          <p:cNvPr id="19" name="Text 17"/>
          <p:cNvSpPr txBox="1"/>
          <p:nvPr/>
        </p:nvSpPr>
        <p:spPr>
          <a:xfrm>
            <a:off x="1463040" y="3895344"/>
            <a:ext cx="7132320" cy="512064"/>
          </a:xfrm>
          <a:prstGeom prst="rect">
            <a:avLst/>
          </a:prstGeom>
          <a:noFill/>
          <a:ln/>
        </p:spPr>
        <p:txBody>
          <a:bodyPr wrap="square" lIns="0" tIns="0" rIns="0" bIns="0" rtlCol="0" anchor="ctr"/>
          <a:lstStyle/>
          <a:p>
            <a:pPr indent="0" marL="0">
              <a:lnSpc>
                <a:spcPts val="1700"/>
              </a:lnSpc>
              <a:buNone/>
            </a:pPr>
            <a:r>
              <a:rPr lang="en-US" sz="1250" dirty="0">
                <a:solidFill>
                  <a:srgbClr val="221E1B"/>
                </a:solidFill>
                <a:latin typeface="Calibri" pitchFamily="34" charset="0"/>
                <a:ea typeface="Calibri" pitchFamily="34" charset="-122"/>
                <a:cs typeface="Calibri" pitchFamily="34" charset="-120"/>
              </a:rPr>
              <a:t>A full clearing house guarantees every trade. The exchange steps between buyer and seller.</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why the market exists</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Every exchange is the same invention</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WHY THE MARKET EXISTS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18</a:t>
            </a:r>
            <a:endParaRPr lang="en-US" sz="800" dirty="0"/>
          </a:p>
        </p:txBody>
      </p:sp>
      <p:sp>
        <p:nvSpPr>
          <p:cNvPr id="6" name="Shape 4"/>
          <p:cNvSpPr/>
          <p:nvPr/>
        </p:nvSpPr>
        <p:spPr>
          <a:xfrm>
            <a:off x="548640" y="1517904"/>
            <a:ext cx="2499360" cy="1645920"/>
          </a:xfrm>
          <a:prstGeom prst="roundRect">
            <a:avLst>
              <a:gd name="adj" fmla="val 3333"/>
            </a:avLst>
          </a:prstGeom>
          <a:solidFill>
            <a:srgbClr val="F7F5F3"/>
          </a:solidFill>
          <a:ln w="9525">
            <a:solidFill>
              <a:srgbClr val="E3DFDA"/>
            </a:solidFill>
            <a:prstDash val="solid"/>
          </a:ln>
        </p:spPr>
      </p:sp>
      <p:sp>
        <p:nvSpPr>
          <p:cNvPr id="7" name="Text 5"/>
          <p:cNvSpPr txBox="1"/>
          <p:nvPr/>
        </p:nvSpPr>
        <p:spPr>
          <a:xfrm>
            <a:off x="749808" y="1719072"/>
            <a:ext cx="209702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Price discovery</a:t>
            </a:r>
            <a:endParaRPr lang="en-US" sz="1500" dirty="0"/>
          </a:p>
        </p:txBody>
      </p:sp>
      <p:sp>
        <p:nvSpPr>
          <p:cNvPr id="8" name="Text 6"/>
          <p:cNvSpPr txBox="1"/>
          <p:nvPr/>
        </p:nvSpPr>
        <p:spPr>
          <a:xfrm>
            <a:off x="749808" y="2121408"/>
            <a:ext cx="2097024" cy="84124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One public, transparent price the whole chain can read and negotiate against.</a:t>
            </a:r>
            <a:endParaRPr lang="en-US" sz="1200" dirty="0"/>
          </a:p>
        </p:txBody>
      </p:sp>
      <p:sp>
        <p:nvSpPr>
          <p:cNvPr id="9" name="Shape 7"/>
          <p:cNvSpPr/>
          <p:nvPr/>
        </p:nvSpPr>
        <p:spPr>
          <a:xfrm>
            <a:off x="3322320" y="1517904"/>
            <a:ext cx="2499360" cy="1645920"/>
          </a:xfrm>
          <a:prstGeom prst="roundRect">
            <a:avLst>
              <a:gd name="adj" fmla="val 3333"/>
            </a:avLst>
          </a:prstGeom>
          <a:solidFill>
            <a:srgbClr val="F7F5F3"/>
          </a:solidFill>
          <a:ln w="9525">
            <a:solidFill>
              <a:srgbClr val="E3DFDA"/>
            </a:solidFill>
            <a:prstDash val="solid"/>
          </a:ln>
        </p:spPr>
      </p:sp>
      <p:sp>
        <p:nvSpPr>
          <p:cNvPr id="10" name="Text 8"/>
          <p:cNvSpPr txBox="1"/>
          <p:nvPr/>
        </p:nvSpPr>
        <p:spPr>
          <a:xfrm>
            <a:off x="3523488" y="1719072"/>
            <a:ext cx="209702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Risk management</a:t>
            </a:r>
            <a:endParaRPr lang="en-US" sz="1500" dirty="0"/>
          </a:p>
        </p:txBody>
      </p:sp>
      <p:sp>
        <p:nvSpPr>
          <p:cNvPr id="11" name="Text 9"/>
          <p:cNvSpPr txBox="1"/>
          <p:nvPr/>
        </p:nvSpPr>
        <p:spPr>
          <a:xfrm>
            <a:off x="3523488" y="2121408"/>
            <a:ext cx="2097024" cy="84124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A way to fix a price in advance — to transfer price risk to someone willing to hold it.</a:t>
            </a:r>
            <a:endParaRPr lang="en-US" sz="1200" dirty="0"/>
          </a:p>
        </p:txBody>
      </p:sp>
      <p:sp>
        <p:nvSpPr>
          <p:cNvPr id="12" name="Shape 10"/>
          <p:cNvSpPr/>
          <p:nvPr/>
        </p:nvSpPr>
        <p:spPr>
          <a:xfrm>
            <a:off x="6096000" y="1517904"/>
            <a:ext cx="2499360" cy="1645920"/>
          </a:xfrm>
          <a:prstGeom prst="roundRect">
            <a:avLst>
              <a:gd name="adj" fmla="val 3333"/>
            </a:avLst>
          </a:prstGeom>
          <a:solidFill>
            <a:srgbClr val="F7F5F3"/>
          </a:solidFill>
          <a:ln w="9525">
            <a:solidFill>
              <a:srgbClr val="E3DFDA"/>
            </a:solidFill>
            <a:prstDash val="solid"/>
          </a:ln>
        </p:spPr>
      </p:sp>
      <p:sp>
        <p:nvSpPr>
          <p:cNvPr id="13" name="Text 11"/>
          <p:cNvSpPr txBox="1"/>
          <p:nvPr/>
        </p:nvSpPr>
        <p:spPr>
          <a:xfrm>
            <a:off x="6297168" y="1719072"/>
            <a:ext cx="209702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Last resort</a:t>
            </a:r>
            <a:endParaRPr lang="en-US" sz="1500" dirty="0"/>
          </a:p>
        </p:txBody>
      </p:sp>
      <p:sp>
        <p:nvSpPr>
          <p:cNvPr id="14" name="Text 12"/>
          <p:cNvSpPr txBox="1"/>
          <p:nvPr/>
        </p:nvSpPr>
        <p:spPr>
          <a:xfrm>
            <a:off x="6297168" y="2121408"/>
            <a:ext cx="2097024" cy="84124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Physically deliverable, so the exchange is the buyer and seller of last resort for standard-spec goods.</a:t>
            </a:r>
            <a:endParaRPr lang="en-US" sz="1200" dirty="0"/>
          </a:p>
        </p:txBody>
      </p:sp>
      <p:sp>
        <p:nvSpPr>
          <p:cNvPr id="15" name="Text 13"/>
          <p:cNvSpPr txBox="1"/>
          <p:nvPr/>
        </p:nvSpPr>
        <p:spPr>
          <a:xfrm>
            <a:off x="548640" y="3291840"/>
            <a:ext cx="2377440" cy="685800"/>
          </a:xfrm>
          <a:prstGeom prst="rect">
            <a:avLst/>
          </a:prstGeom>
          <a:noFill/>
          <a:ln/>
        </p:spPr>
        <p:txBody>
          <a:bodyPr wrap="square" lIns="0" tIns="0" rIns="0" bIns="0" rtlCol="0" anchor="ctr"/>
          <a:lstStyle/>
          <a:p>
            <a:pPr indent="0" marL="0">
              <a:buNone/>
            </a:pPr>
            <a:r>
              <a:rPr lang="en-US" sz="3400" b="1" dirty="0">
                <a:solidFill>
                  <a:srgbClr val="A34B12"/>
                </a:solidFill>
                <a:latin typeface="Courier New" pitchFamily="34" charset="0"/>
                <a:ea typeface="Courier New" pitchFamily="34" charset="-122"/>
                <a:cs typeface="Courier New" pitchFamily="34" charset="-120"/>
              </a:rPr>
              <a:t>~2,000×</a:t>
            </a:r>
            <a:endParaRPr lang="en-US" sz="3400" dirty="0"/>
          </a:p>
        </p:txBody>
      </p:sp>
      <p:sp>
        <p:nvSpPr>
          <p:cNvPr id="16" name="Text 14"/>
          <p:cNvSpPr txBox="1"/>
          <p:nvPr/>
        </p:nvSpPr>
        <p:spPr>
          <a:xfrm>
            <a:off x="548640" y="3950208"/>
            <a:ext cx="2377440" cy="658368"/>
          </a:xfrm>
          <a:prstGeom prst="rect">
            <a:avLst/>
          </a:prstGeom>
          <a:noFill/>
          <a:ln/>
        </p:spPr>
        <p:txBody>
          <a:bodyPr wrap="square" lIns="0" tIns="0" rIns="0" bIns="0" rtlCol="0" anchor="ctr"/>
          <a:lstStyle/>
          <a:p>
            <a:pPr indent="0" marL="0">
              <a:lnSpc>
                <a:spcPts val="1600"/>
              </a:lnSpc>
              <a:buNone/>
            </a:pPr>
            <a:r>
              <a:rPr lang="en-US" sz="1200" dirty="0">
                <a:solidFill>
                  <a:srgbClr val="6B655F"/>
                </a:solidFill>
                <a:latin typeface="Calibri" pitchFamily="34" charset="0"/>
                <a:ea typeface="Calibri" pitchFamily="34" charset="-122"/>
                <a:cs typeface="Calibri" pitchFamily="34" charset="-120"/>
              </a:rPr>
              <a:t>ICE trades some 400 million tonnes of coffee a year. World crop: about 10.</a:t>
            </a:r>
            <a:endParaRPr lang="en-US" sz="1200" dirty="0"/>
          </a:p>
        </p:txBody>
      </p:sp>
      <p:sp>
        <p:nvSpPr>
          <p:cNvPr id="17" name="Text 15"/>
          <p:cNvSpPr txBox="1"/>
          <p:nvPr/>
        </p:nvSpPr>
        <p:spPr>
          <a:xfrm>
            <a:off x="3200400" y="3291840"/>
            <a:ext cx="5394960" cy="1234440"/>
          </a:xfrm>
          <a:prstGeom prst="rect">
            <a:avLst/>
          </a:prstGeom>
          <a:noFill/>
          <a:ln/>
        </p:spPr>
        <p:txBody>
          <a:bodyPr wrap="square" lIns="0" tIns="0" rIns="0" bIns="0" rtlCol="0" anchor="t"/>
          <a:lstStyle/>
          <a:p>
            <a:pPr indent="0" marL="0">
              <a:lnSpc>
                <a:spcPts val="2000"/>
              </a:lnSpc>
              <a:spcAft>
                <a:spcPts val="800"/>
              </a:spcAft>
              <a:buNone/>
            </a:pPr>
            <a:r>
              <a:rPr lang="en-US" sz="1300" dirty="0">
                <a:solidFill>
                  <a:srgbClr val="221E1B"/>
                </a:solidFill>
                <a:latin typeface="Calibri" pitchFamily="34" charset="0"/>
                <a:ea typeface="Calibri" pitchFamily="34" charset="-122"/>
                <a:cs typeface="Calibri" pitchFamily="34" charset="-120"/>
              </a:rPr>
              <a:t>The three feed each other through liquidity: deep participation makes the price meaningful, a meaningful price makes hedging work, and guaranteed delivery anchors it to physical reality.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21E1B"/>
        </a:solidFill>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lstStyle/>
          <a:p>
            <a:pPr indent="0" marL="0">
              <a:buNone/>
            </a:pPr>
            <a:r>
              <a:rPr lang="en-US" sz="5400" dirty="0">
                <a:solidFill>
                  <a:srgbClr val="A34B12"/>
                </a:solidFill>
                <a:latin typeface="Courier New" pitchFamily="34" charset="0"/>
                <a:ea typeface="Courier New" pitchFamily="34" charset="-122"/>
                <a:cs typeface="Courier New" pitchFamily="34" charset="-120"/>
              </a:rPr>
              <a:t>03</a:t>
            </a:r>
            <a:endParaRPr lang="en-US" sz="5400" dirty="0"/>
          </a:p>
        </p:txBody>
      </p:sp>
      <p:sp>
        <p:nvSpPr>
          <p:cNvPr id="3" name="Text 1"/>
          <p:cNvSpPr txBox="1"/>
          <p:nvPr/>
        </p:nvSpPr>
        <p:spPr>
          <a:xfrm>
            <a:off x="548640" y="2377440"/>
            <a:ext cx="80467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universe and the instrument</a:t>
            </a:r>
            <a:endParaRPr lang="en-US" sz="3400" dirty="0"/>
          </a:p>
        </p:txBody>
      </p:sp>
      <p:sp>
        <p:nvSpPr>
          <p:cNvPr id="4" name="Text 2"/>
          <p:cNvSpPr txBox="1"/>
          <p:nvPr/>
        </p:nvSpPr>
        <p:spPr>
          <a:xfrm>
            <a:off x="548640" y="3200400"/>
            <a:ext cx="6675120" cy="548640"/>
          </a:xfrm>
          <a:prstGeom prst="rect">
            <a:avLst/>
          </a:prstGeom>
          <a:noFill/>
          <a:ln/>
        </p:spPr>
        <p:txBody>
          <a:bodyPr wrap="square" lIns="0" tIns="0" rIns="0" bIns="0" rtlCol="0" anchor="ctr"/>
          <a:lstStyle/>
          <a:p>
            <a:pPr indent="0" marL="0">
              <a:lnSpc>
                <a:spcPts val="2000"/>
              </a:lnSpc>
              <a:buNone/>
            </a:pPr>
            <a:r>
              <a:rPr lang="en-US" sz="1400" dirty="0">
                <a:solidFill>
                  <a:srgbClr val="9A8F86"/>
                </a:solidFill>
                <a:latin typeface="Calibri" pitchFamily="34" charset="0"/>
                <a:ea typeface="Calibri" pitchFamily="34" charset="-122"/>
                <a:cs typeface="Calibri" pitchFamily="34" charset="-120"/>
              </a:rPr>
              <a:t>Coffee is one market among many — and they all run on the same machinery.</a:t>
            </a:r>
            <a:endParaRPr lang="en-US" sz="1400" dirty="0"/>
          </a:p>
        </p:txBody>
      </p:sp>
      <p:sp>
        <p:nvSpPr>
          <p:cNvPr id="5" name="Text 3"/>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E6259"/>
                </a:solidFill>
                <a:latin typeface="Courier New" pitchFamily="34" charset="0"/>
                <a:ea typeface="Courier New" pitchFamily="34" charset="-122"/>
                <a:cs typeface="Courier New" pitchFamily="34" charset="-120"/>
              </a:rPr>
              <a:t>THE UNIVERSE AND THE INSTRUMENT</a:t>
            </a:r>
            <a:endParaRPr lang="en-US" sz="800" dirty="0"/>
          </a:p>
        </p:txBody>
      </p:sp>
      <p:sp>
        <p:nvSpPr>
          <p:cNvPr id="6" name="Text 4"/>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E6259"/>
                </a:solidFill>
                <a:latin typeface="Courier New" pitchFamily="34" charset="0"/>
                <a:ea typeface="Courier New" pitchFamily="34" charset="-122"/>
                <a:cs typeface="Courier New" pitchFamily="34" charset="-120"/>
              </a:rPr>
              <a:t>19</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universe</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Hard and soft</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THE UNIVERSE AND THE INSTRUMENT</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20</a:t>
            </a:r>
            <a:endParaRPr lang="en-US" sz="800" dirty="0"/>
          </a:p>
        </p:txBody>
      </p:sp>
      <p:sp>
        <p:nvSpPr>
          <p:cNvPr id="6" name="Shape 4"/>
          <p:cNvSpPr/>
          <p:nvPr/>
        </p:nvSpPr>
        <p:spPr>
          <a:xfrm>
            <a:off x="548640" y="1536192"/>
            <a:ext cx="3886200" cy="1691640"/>
          </a:xfrm>
          <a:prstGeom prst="roundRect">
            <a:avLst>
              <a:gd name="adj" fmla="val 3243"/>
            </a:avLst>
          </a:prstGeom>
          <a:solidFill>
            <a:srgbClr val="F7F5F3"/>
          </a:solidFill>
          <a:ln w="9525">
            <a:solidFill>
              <a:srgbClr val="E3DFDA"/>
            </a:solidFill>
            <a:prstDash val="solid"/>
          </a:ln>
        </p:spPr>
      </p:sp>
      <p:sp>
        <p:nvSpPr>
          <p:cNvPr id="7" name="Text 5"/>
          <p:cNvSpPr txBox="1"/>
          <p:nvPr/>
        </p:nvSpPr>
        <p:spPr>
          <a:xfrm>
            <a:off x="749808" y="1737360"/>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Hard — extracted</a:t>
            </a:r>
            <a:endParaRPr lang="en-US" sz="1500" dirty="0"/>
          </a:p>
        </p:txBody>
      </p:sp>
      <p:sp>
        <p:nvSpPr>
          <p:cNvPr id="8" name="Text 6"/>
          <p:cNvSpPr txBox="1"/>
          <p:nvPr/>
        </p:nvSpPr>
        <p:spPr>
          <a:xfrm>
            <a:off x="749808" y="2139696"/>
            <a:ext cx="3483864" cy="88696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Energy: crude (Brent, WTI), natural gas, coal</a:t>
            </a:r>
            <a:endParaRPr lang="en-US" sz="1200" dirty="0"/>
          </a:p>
          <a:p>
            <a:pPr indent="0" marL="0">
              <a:lnSpc>
                <a:spcPts val="1700"/>
              </a:lnSpc>
              <a:buNone/>
            </a:pP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Metals: copper, aluminium, gold, iron ore</a:t>
            </a:r>
            <a:endParaRPr lang="en-US" sz="1200" dirty="0"/>
          </a:p>
        </p:txBody>
      </p:sp>
      <p:sp>
        <p:nvSpPr>
          <p:cNvPr id="9" name="Shape 7"/>
          <p:cNvSpPr/>
          <p:nvPr/>
        </p:nvSpPr>
        <p:spPr>
          <a:xfrm>
            <a:off x="4709160" y="1536192"/>
            <a:ext cx="3886200" cy="1691640"/>
          </a:xfrm>
          <a:prstGeom prst="roundRect">
            <a:avLst>
              <a:gd name="adj" fmla="val 3243"/>
            </a:avLst>
          </a:prstGeom>
          <a:solidFill>
            <a:srgbClr val="F7F5F3"/>
          </a:solidFill>
          <a:ln w="9525">
            <a:solidFill>
              <a:srgbClr val="E3DFDA"/>
            </a:solidFill>
            <a:prstDash val="solid"/>
          </a:ln>
        </p:spPr>
      </p:sp>
      <p:sp>
        <p:nvSpPr>
          <p:cNvPr id="10" name="Text 8"/>
          <p:cNvSpPr txBox="1"/>
          <p:nvPr/>
        </p:nvSpPr>
        <p:spPr>
          <a:xfrm>
            <a:off x="4910328" y="1737360"/>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Soft — grown or raised</a:t>
            </a:r>
            <a:endParaRPr lang="en-US" sz="1500" dirty="0"/>
          </a:p>
        </p:txBody>
      </p:sp>
      <p:sp>
        <p:nvSpPr>
          <p:cNvPr id="11" name="Text 9"/>
          <p:cNvSpPr txBox="1"/>
          <p:nvPr/>
        </p:nvSpPr>
        <p:spPr>
          <a:xfrm>
            <a:off x="4910328" y="2139696"/>
            <a:ext cx="3483864" cy="88696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Grains: wheat, corn, soybeans</a:t>
            </a:r>
            <a:endParaRPr lang="en-US" sz="1200" dirty="0"/>
          </a:p>
          <a:p>
            <a:pPr indent="0" marL="0">
              <a:lnSpc>
                <a:spcPts val="1700"/>
              </a:lnSpc>
              <a:buNone/>
            </a:pP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Tropicals: coffee (Arabica, Robusta), cocoa, sugar, cotton</a:t>
            </a:r>
            <a:endParaRPr lang="en-US" sz="1200" dirty="0"/>
          </a:p>
        </p:txBody>
      </p:sp>
      <p:sp>
        <p:nvSpPr>
          <p:cNvPr id="12" name="Text 10"/>
          <p:cNvSpPr txBox="1"/>
          <p:nvPr/>
        </p:nvSpPr>
        <p:spPr>
          <a:xfrm>
            <a:off x="548640" y="3310128"/>
            <a:ext cx="8046720" cy="457200"/>
          </a:xfrm>
          <a:prstGeom prst="rect">
            <a:avLst/>
          </a:prstGeom>
          <a:noFill/>
          <a:ln/>
        </p:spPr>
        <p:txBody>
          <a:bodyPr wrap="square" lIns="0" tIns="0" rIns="0" bIns="0" rtlCol="0" anchor="t"/>
          <a:lstStyle/>
          <a:p>
            <a:pPr indent="0" marL="0">
              <a:lnSpc>
                <a:spcPts val="2000"/>
              </a:lnSpc>
              <a:spcAft>
                <a:spcPts val="800"/>
              </a:spcAft>
              <a:buNone/>
            </a:pPr>
            <a:r>
              <a:rPr lang="en-US" sz="1300" dirty="0">
                <a:solidFill>
                  <a:srgbClr val="221E1B"/>
                </a:solidFill>
                <a:latin typeface="Calibri" pitchFamily="34" charset="0"/>
                <a:ea typeface="Calibri" pitchFamily="34" charset="-122"/>
                <a:cs typeface="Calibri" pitchFamily="34" charset="-120"/>
              </a:rPr>
              <a:t>Different supply and demand dynamics, different seasonality, different storage constraints — but the same market machinery you just saw.</a:t>
            </a:r>
            <a:endParaRPr lang="en-US" sz="1300" dirty="0"/>
          </a:p>
        </p:txBody>
      </p:sp>
      <p:sp>
        <p:nvSpPr>
          <p:cNvPr id="13" name="Shape 11"/>
          <p:cNvSpPr/>
          <p:nvPr/>
        </p:nvSpPr>
        <p:spPr>
          <a:xfrm>
            <a:off x="548640" y="3794760"/>
            <a:ext cx="8046720" cy="685800"/>
          </a:xfrm>
          <a:prstGeom prst="roundRect">
            <a:avLst>
              <a:gd name="adj" fmla="val 8000"/>
            </a:avLst>
          </a:prstGeom>
          <a:solidFill>
            <a:srgbClr val="F7F5F3"/>
          </a:solidFill>
          <a:ln w="9525">
            <a:solidFill>
              <a:srgbClr val="E3DFDA"/>
            </a:solidFill>
            <a:prstDash val="solid"/>
          </a:ln>
        </p:spPr>
      </p:sp>
      <p:sp>
        <p:nvSpPr>
          <p:cNvPr id="14" name="Text 12"/>
          <p:cNvSpPr txBox="1"/>
          <p:nvPr/>
        </p:nvSpPr>
        <p:spPr>
          <a:xfrm>
            <a:off x="822960" y="3931920"/>
            <a:ext cx="7498080" cy="457200"/>
          </a:xfrm>
          <a:prstGeom prst="rect">
            <a:avLst/>
          </a:prstGeom>
          <a:noFill/>
          <a:ln/>
        </p:spPr>
        <p:txBody>
          <a:bodyPr wrap="square" lIns="0" tIns="0" rIns="0" bIns="0" rtlCol="0" anchor="ctr"/>
          <a:lstStyle/>
          <a:p>
            <a:pPr indent="0" marL="0">
              <a:lnSpc>
                <a:spcPts val="1700"/>
              </a:lnSpc>
              <a:buNone/>
            </a:pPr>
            <a:r>
              <a:rPr lang="en-US" sz="1250" dirty="0">
                <a:solidFill>
                  <a:srgbClr val="221E1B"/>
                </a:solidFill>
                <a:latin typeface="Calibri" pitchFamily="34" charset="0"/>
                <a:ea typeface="Calibri" pitchFamily="34" charset="-122"/>
                <a:cs typeface="Calibri" pitchFamily="34" charset="-120"/>
              </a:rPr>
              <a:t>One name to retain all year: the ABCD — Archer Daniels Midland, Bunge, Cargill, Louis Dreyfus. Plus the coffee specialists: Neumann, Volcafe, Sucafina, Olam.</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universe</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Standardised in everything but price</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THE UNIVERSE AND THE INSTRUMENT</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21</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2377440"/>
                <a:gridCol w="1828800"/>
                <a:gridCol w="1920240"/>
                <a:gridCol w="1920240"/>
              </a:tblGrid>
              <a:tr h="365760">
                <a:tc>
                  <a:txBody>
                    <a:bodyPr/>
                    <a:lstStyle/>
                    <a:p>
                      <a:pPr indent="0" marL="0">
                        <a:buNone/>
                      </a:pPr>
                      <a:r>
                        <a:rPr lang="en-US" sz="1250" b="1" dirty="0">
                          <a:solidFill>
                            <a:srgbClr val="221E1B"/>
                          </a:solidFill>
                          <a:latin typeface="Calibri" pitchFamily="34" charset="0"/>
                          <a:ea typeface="Calibri" pitchFamily="34" charset="-122"/>
                          <a:cs typeface="Calibri" pitchFamily="34" charset="-120"/>
                        </a:rPr>
                        <a:t>Contract</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c>
                  <a:txBody>
                    <a:bodyPr/>
                    <a:lstStyle/>
                    <a:p>
                      <a:pPr indent="0" marL="0">
                        <a:buNone/>
                      </a:pPr>
                      <a:r>
                        <a:rPr lang="en-US" sz="1250" b="1" dirty="0">
                          <a:solidFill>
                            <a:srgbClr val="221E1B"/>
                          </a:solidFill>
                          <a:latin typeface="Calibri" pitchFamily="34" charset="0"/>
                          <a:ea typeface="Calibri" pitchFamily="34" charset="-122"/>
                          <a:cs typeface="Calibri" pitchFamily="34" charset="-120"/>
                        </a:rPr>
                        <a:t>Exchange</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c>
                  <a:txBody>
                    <a:bodyPr/>
                    <a:lstStyle/>
                    <a:p>
                      <a:pPr indent="0" marL="0">
                        <a:buNone/>
                      </a:pPr>
                      <a:r>
                        <a:rPr lang="en-US" sz="1250" b="1" dirty="0">
                          <a:solidFill>
                            <a:srgbClr val="221E1B"/>
                          </a:solidFill>
                          <a:latin typeface="Calibri" pitchFamily="34" charset="0"/>
                          <a:ea typeface="Calibri" pitchFamily="34" charset="-122"/>
                          <a:cs typeface="Calibri" pitchFamily="34" charset="-120"/>
                        </a:rPr>
                        <a:t>Lot</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c>
                  <a:txBody>
                    <a:bodyPr/>
                    <a:lstStyle/>
                    <a:p>
                      <a:pPr indent="0" marL="0">
                        <a:buNone/>
                      </a:pPr>
                      <a:r>
                        <a:rPr lang="en-US" sz="1250" b="1" dirty="0">
                          <a:solidFill>
                            <a:srgbClr val="221E1B"/>
                          </a:solidFill>
                          <a:latin typeface="Calibri" pitchFamily="34" charset="0"/>
                          <a:ea typeface="Calibri" pitchFamily="34" charset="-122"/>
                          <a:cs typeface="Calibri" pitchFamily="34" charset="-120"/>
                        </a:rPr>
                        <a:t>Quoted in</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r>
              <a:tr h="365760">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Arabica coffee</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ICE US</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algn="r" indent="0" marL="0">
                        <a:buNone/>
                      </a:pPr>
                      <a:r>
                        <a:rPr lang="en-US" sz="1250" dirty="0">
                          <a:solidFill>
                            <a:srgbClr val="221E1B"/>
                          </a:solidFill>
                          <a:latin typeface="Courier New" pitchFamily="34" charset="0"/>
                          <a:ea typeface="Courier New" pitchFamily="34" charset="-122"/>
                          <a:cs typeface="Courier New" pitchFamily="34" charset="-120"/>
                        </a:rPr>
                        <a:t>37,500 lbs</a:t>
                      </a:r>
                      <a:endParaRPr lang="en-US" sz="1250" dirty="0">
                        <a:latin typeface="Courier New" charset="0"/>
                        <a:ea typeface="Courier New" charset="0"/>
                        <a:cs typeface="Courier New"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US cents / lb</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65760">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Robusta coffee</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ICE Europe</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algn="r" indent="0" marL="0">
                        <a:buNone/>
                      </a:pPr>
                      <a:r>
                        <a:rPr lang="en-US" sz="1250" dirty="0">
                          <a:solidFill>
                            <a:srgbClr val="221E1B"/>
                          </a:solidFill>
                          <a:latin typeface="Courier New" pitchFamily="34" charset="0"/>
                          <a:ea typeface="Courier New" pitchFamily="34" charset="-122"/>
                          <a:cs typeface="Courier New" pitchFamily="34" charset="-120"/>
                        </a:rPr>
                        <a:t>10 tonnes</a:t>
                      </a:r>
                      <a:endParaRPr lang="en-US" sz="1250" dirty="0">
                        <a:latin typeface="Courier New" charset="0"/>
                        <a:ea typeface="Courier New" charset="0"/>
                        <a:cs typeface="Courier New"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USD / tonne</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65760">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Brent crude</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ICE</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algn="r" indent="0" marL="0">
                        <a:buNone/>
                      </a:pPr>
                      <a:r>
                        <a:rPr lang="en-US" sz="1250" dirty="0">
                          <a:solidFill>
                            <a:srgbClr val="221E1B"/>
                          </a:solidFill>
                          <a:latin typeface="Courier New" pitchFamily="34" charset="0"/>
                          <a:ea typeface="Courier New" pitchFamily="34" charset="-122"/>
                          <a:cs typeface="Courier New" pitchFamily="34" charset="-120"/>
                        </a:rPr>
                        <a:t>1,000 barrels</a:t>
                      </a:r>
                      <a:endParaRPr lang="en-US" sz="1250" dirty="0">
                        <a:latin typeface="Courier New" charset="0"/>
                        <a:ea typeface="Courier New" charset="0"/>
                        <a:cs typeface="Courier New"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50" dirty="0">
                          <a:solidFill>
                            <a:srgbClr val="221E1B"/>
                          </a:solidFill>
                          <a:latin typeface="Calibri" pitchFamily="34" charset="0"/>
                          <a:ea typeface="Calibri" pitchFamily="34" charset="-122"/>
                          <a:cs typeface="Calibri" pitchFamily="34" charset="-120"/>
                        </a:rPr>
                        <a:t>USD / barrel</a:t>
                      </a:r>
                      <a:endParaRPr lang="en-US" sz="12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bl>
          </a:graphicData>
        </a:graphic>
      </p:graphicFrame>
      <p:sp>
        <p:nvSpPr>
          <p:cNvPr id="7" name="Text 4"/>
          <p:cNvSpPr txBox="1"/>
          <p:nvPr/>
        </p:nvSpPr>
        <p:spPr>
          <a:xfrm>
            <a:off x="548640" y="3200400"/>
            <a:ext cx="8046720" cy="1371600"/>
          </a:xfrm>
          <a:prstGeom prst="rect">
            <a:avLst/>
          </a:prstGeom>
          <a:noFill/>
          <a:ln/>
        </p:spPr>
        <p:txBody>
          <a:bodyPr wrap="square" lIns="0" tIns="0" rIns="0" bIns="0" rtlCol="0" anchor="t"/>
          <a:lstStyle/>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Lot size, quality, delivery location, delivery months — all set by the exchange. The only blank line on the page is the price.</a:t>
            </a:r>
            <a:endParaRPr lang="en-US" sz="1400" dirty="0"/>
          </a:p>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That is exactly what lets thousands of strangers trade the same instrument without negotiating anything but a number.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universe</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From bags to warrant</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THE UNIVERSE AND THE INSTRUMENT</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22</a:t>
            </a:r>
            <a:endParaRPr lang="en-US" sz="800" dirty="0"/>
          </a:p>
        </p:txBody>
      </p:sp>
      <p:sp>
        <p:nvSpPr>
          <p:cNvPr id="6" name="Shape 4"/>
          <p:cNvSpPr/>
          <p:nvPr/>
        </p:nvSpPr>
        <p:spPr>
          <a:xfrm>
            <a:off x="548640" y="1691640"/>
            <a:ext cx="384048" cy="384048"/>
          </a:xfrm>
          <a:prstGeom prst="roundRect">
            <a:avLst>
              <a:gd name="adj" fmla="val 47619"/>
            </a:avLst>
          </a:prstGeom>
          <a:solidFill>
            <a:srgbClr val="A34B12"/>
          </a:solidFill>
          <a:ln w="12700">
            <a:solidFill>
              <a:srgbClr val="A34B12"/>
            </a:solidFill>
            <a:prstDash val="solid"/>
          </a:ln>
        </p:spPr>
      </p:sp>
      <p:sp>
        <p:nvSpPr>
          <p:cNvPr id="7" name="Text 5"/>
          <p:cNvSpPr txBox="1"/>
          <p:nvPr/>
        </p:nvSpPr>
        <p:spPr>
          <a:xfrm>
            <a:off x="548640" y="16916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8" name="Text 6"/>
          <p:cNvSpPr txBox="1"/>
          <p:nvPr/>
        </p:nvSpPr>
        <p:spPr>
          <a:xfrm>
            <a:off x="1115568" y="1691640"/>
            <a:ext cx="7479792" cy="384048"/>
          </a:xfrm>
          <a:prstGeom prst="rect">
            <a:avLst/>
          </a:prstGeom>
          <a:noFill/>
          <a:ln/>
        </p:spPr>
        <p:txBody>
          <a:bodyPr wrap="square" lIns="0" tIns="0" rIns="0" bIns="0" rtlCol="0" anchor="ctr"/>
          <a:lstStyle/>
          <a:p>
            <a:pPr indent="0" marL="0">
              <a:buNone/>
            </a:pPr>
            <a:r>
              <a:rPr lang="en-US" sz="1350" dirty="0">
                <a:solidFill>
                  <a:srgbClr val="221E1B"/>
                </a:solidFill>
                <a:latin typeface="Calibri" pitchFamily="34" charset="0"/>
                <a:ea typeface="Calibri" pitchFamily="34" charset="-122"/>
                <a:cs typeface="Calibri" pitchFamily="34" charset="-120"/>
              </a:rPr>
              <a:t>Coffee arrives at a licensed warehouse</a:t>
            </a:r>
            <a:endParaRPr lang="en-US" sz="1350" dirty="0"/>
          </a:p>
        </p:txBody>
      </p:sp>
      <p:sp>
        <p:nvSpPr>
          <p:cNvPr id="9" name="Shape 7"/>
          <p:cNvSpPr/>
          <p:nvPr/>
        </p:nvSpPr>
        <p:spPr>
          <a:xfrm>
            <a:off x="548640" y="2313432"/>
            <a:ext cx="384048" cy="384048"/>
          </a:xfrm>
          <a:prstGeom prst="roundRect">
            <a:avLst>
              <a:gd name="adj" fmla="val 47619"/>
            </a:avLst>
          </a:prstGeom>
          <a:solidFill>
            <a:srgbClr val="A34B12"/>
          </a:solidFill>
          <a:ln w="12700">
            <a:solidFill>
              <a:srgbClr val="A34B12"/>
            </a:solidFill>
            <a:prstDash val="solid"/>
          </a:ln>
        </p:spPr>
      </p:sp>
      <p:sp>
        <p:nvSpPr>
          <p:cNvPr id="10" name="Text 8"/>
          <p:cNvSpPr txBox="1"/>
          <p:nvPr/>
        </p:nvSpPr>
        <p:spPr>
          <a:xfrm>
            <a:off x="548640" y="23134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1" name="Text 9"/>
          <p:cNvSpPr txBox="1"/>
          <p:nvPr/>
        </p:nvSpPr>
        <p:spPr>
          <a:xfrm>
            <a:off x="1115568" y="2313432"/>
            <a:ext cx="7479792" cy="384048"/>
          </a:xfrm>
          <a:prstGeom prst="rect">
            <a:avLst/>
          </a:prstGeom>
          <a:noFill/>
          <a:ln/>
        </p:spPr>
        <p:txBody>
          <a:bodyPr wrap="square" lIns="0" tIns="0" rIns="0" bIns="0" rtlCol="0" anchor="ctr"/>
          <a:lstStyle/>
          <a:p>
            <a:pPr indent="0" marL="0">
              <a:buNone/>
            </a:pPr>
            <a:r>
              <a:rPr lang="en-US" sz="1350" dirty="0">
                <a:solidFill>
                  <a:srgbClr val="221E1B"/>
                </a:solidFill>
                <a:latin typeface="Calibri" pitchFamily="34" charset="0"/>
                <a:ea typeface="Calibri" pitchFamily="34" charset="-122"/>
                <a:cs typeface="Calibri" pitchFamily="34" charset="-120"/>
              </a:rPr>
              <a:t>Sampled and graded against the quality ladder</a:t>
            </a:r>
            <a:endParaRPr lang="en-US" sz="1350" dirty="0"/>
          </a:p>
        </p:txBody>
      </p:sp>
      <p:sp>
        <p:nvSpPr>
          <p:cNvPr id="12" name="Shape 10"/>
          <p:cNvSpPr/>
          <p:nvPr/>
        </p:nvSpPr>
        <p:spPr>
          <a:xfrm>
            <a:off x="548640" y="2935224"/>
            <a:ext cx="384048" cy="384048"/>
          </a:xfrm>
          <a:prstGeom prst="roundRect">
            <a:avLst>
              <a:gd name="adj" fmla="val 47619"/>
            </a:avLst>
          </a:prstGeom>
          <a:solidFill>
            <a:srgbClr val="A34B12"/>
          </a:solidFill>
          <a:ln w="12700">
            <a:solidFill>
              <a:srgbClr val="A34B12"/>
            </a:solidFill>
            <a:prstDash val="solid"/>
          </a:ln>
        </p:spPr>
      </p:sp>
      <p:sp>
        <p:nvSpPr>
          <p:cNvPr id="13" name="Text 11"/>
          <p:cNvSpPr txBox="1"/>
          <p:nvPr/>
        </p:nvSpPr>
        <p:spPr>
          <a:xfrm>
            <a:off x="548640" y="29352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4" name="Text 12"/>
          <p:cNvSpPr txBox="1"/>
          <p:nvPr/>
        </p:nvSpPr>
        <p:spPr>
          <a:xfrm>
            <a:off x="1115568" y="2935224"/>
            <a:ext cx="7479792" cy="384048"/>
          </a:xfrm>
          <a:prstGeom prst="rect">
            <a:avLst/>
          </a:prstGeom>
          <a:noFill/>
          <a:ln/>
        </p:spPr>
        <p:txBody>
          <a:bodyPr wrap="square" lIns="0" tIns="0" rIns="0" bIns="0" rtlCol="0" anchor="ctr"/>
          <a:lstStyle/>
          <a:p>
            <a:pPr indent="0" marL="0">
              <a:buNone/>
            </a:pPr>
            <a:r>
              <a:rPr lang="en-US" sz="1350" dirty="0">
                <a:solidFill>
                  <a:srgbClr val="221E1B"/>
                </a:solidFill>
                <a:latin typeface="Calibri" pitchFamily="34" charset="0"/>
                <a:ea typeface="Calibri" pitchFamily="34" charset="-122"/>
                <a:cs typeface="Calibri" pitchFamily="34" charset="-120"/>
              </a:rPr>
              <a:t>Electronic warrant issued</a:t>
            </a:r>
            <a:endParaRPr lang="en-US" sz="1350" dirty="0"/>
          </a:p>
        </p:txBody>
      </p:sp>
      <p:sp>
        <p:nvSpPr>
          <p:cNvPr id="15" name="Shape 13"/>
          <p:cNvSpPr/>
          <p:nvPr/>
        </p:nvSpPr>
        <p:spPr>
          <a:xfrm>
            <a:off x="548640" y="3557016"/>
            <a:ext cx="384048" cy="384048"/>
          </a:xfrm>
          <a:prstGeom prst="roundRect">
            <a:avLst>
              <a:gd name="adj" fmla="val 47619"/>
            </a:avLst>
          </a:prstGeom>
          <a:solidFill>
            <a:srgbClr val="A34B12"/>
          </a:solidFill>
          <a:ln w="12700">
            <a:solidFill>
              <a:srgbClr val="A34B12"/>
            </a:solidFill>
            <a:prstDash val="solid"/>
          </a:ln>
        </p:spPr>
      </p:sp>
      <p:sp>
        <p:nvSpPr>
          <p:cNvPr id="16" name="Text 14"/>
          <p:cNvSpPr txBox="1"/>
          <p:nvPr/>
        </p:nvSpPr>
        <p:spPr>
          <a:xfrm>
            <a:off x="548640" y="35570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7" name="Text 15"/>
          <p:cNvSpPr txBox="1"/>
          <p:nvPr/>
        </p:nvSpPr>
        <p:spPr>
          <a:xfrm>
            <a:off x="1115568" y="3557016"/>
            <a:ext cx="7479792" cy="384048"/>
          </a:xfrm>
          <a:prstGeom prst="rect">
            <a:avLst/>
          </a:prstGeom>
          <a:noFill/>
          <a:ln/>
        </p:spPr>
        <p:txBody>
          <a:bodyPr wrap="square" lIns="0" tIns="0" rIns="0" bIns="0" rtlCol="0" anchor="ctr"/>
          <a:lstStyle/>
          <a:p>
            <a:pPr indent="0" marL="0">
              <a:buNone/>
            </a:pPr>
            <a:r>
              <a:rPr lang="en-US" sz="1350" dirty="0">
                <a:solidFill>
                  <a:srgbClr val="221E1B"/>
                </a:solidFill>
                <a:latin typeface="Calibri" pitchFamily="34" charset="0"/>
                <a:ea typeface="Calibri" pitchFamily="34" charset="-122"/>
                <a:cs typeface="Calibri" pitchFamily="34" charset="-120"/>
              </a:rPr>
              <a:t>Warrant delivered to settle a short futures position</a:t>
            </a:r>
            <a:endParaRPr lang="en-US" sz="1350" dirty="0"/>
          </a:p>
        </p:txBody>
      </p:sp>
      <p:sp>
        <p:nvSpPr>
          <p:cNvPr id="18" name="Text 16"/>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i="1" dirty="0">
                <a:solidFill>
                  <a:srgbClr val="6B655F"/>
                </a:solidFill>
                <a:latin typeface="Calibri" pitchFamily="34" charset="0"/>
                <a:ea typeface="Calibri" pitchFamily="34" charset="-122"/>
                <a:cs typeface="Calibri" pitchFamily="34" charset="-120"/>
              </a:rPr>
              <a:t>The exam in the middle is what makes 10 tonnes in Antwerp interchangeable with 10 tonnes in Hamburg.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21E1B"/>
        </a:solidFill>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lstStyle/>
          <a:p>
            <a:pPr indent="0" marL="0">
              <a:buNone/>
            </a:pPr>
            <a:r>
              <a:rPr lang="en-US" sz="5400" dirty="0">
                <a:solidFill>
                  <a:srgbClr val="A34B12"/>
                </a:solidFill>
                <a:latin typeface="Courier New" pitchFamily="34" charset="0"/>
                <a:ea typeface="Courier New" pitchFamily="34" charset="-122"/>
                <a:cs typeface="Courier New" pitchFamily="34" charset="-120"/>
              </a:rPr>
              <a:t>04</a:t>
            </a:r>
            <a:endParaRPr lang="en-US" sz="5400" dirty="0"/>
          </a:p>
        </p:txBody>
      </p:sp>
      <p:sp>
        <p:nvSpPr>
          <p:cNvPr id="3" name="Text 1"/>
          <p:cNvSpPr txBox="1"/>
          <p:nvPr/>
        </p:nvSpPr>
        <p:spPr>
          <a:xfrm>
            <a:off x="548640" y="2377440"/>
            <a:ext cx="80467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instruments</a:t>
            </a:r>
            <a:endParaRPr lang="en-US" sz="3400" dirty="0"/>
          </a:p>
        </p:txBody>
      </p:sp>
      <p:sp>
        <p:nvSpPr>
          <p:cNvPr id="4" name="Text 2"/>
          <p:cNvSpPr txBox="1"/>
          <p:nvPr/>
        </p:nvSpPr>
        <p:spPr>
          <a:xfrm>
            <a:off x="548640" y="3200400"/>
            <a:ext cx="6675120" cy="548640"/>
          </a:xfrm>
          <a:prstGeom prst="rect">
            <a:avLst/>
          </a:prstGeom>
          <a:noFill/>
          <a:ln/>
        </p:spPr>
        <p:txBody>
          <a:bodyPr wrap="square" lIns="0" tIns="0" rIns="0" bIns="0" rtlCol="0" anchor="ctr"/>
          <a:lstStyle/>
          <a:p>
            <a:pPr indent="0" marL="0">
              <a:lnSpc>
                <a:spcPts val="2000"/>
              </a:lnSpc>
              <a:buNone/>
            </a:pPr>
            <a:r>
              <a:rPr lang="en-US" sz="1400" dirty="0">
                <a:solidFill>
                  <a:srgbClr val="9A8F86"/>
                </a:solidFill>
                <a:latin typeface="Calibri" pitchFamily="34" charset="0"/>
                <a:ea typeface="Calibri" pitchFamily="34" charset="-122"/>
                <a:cs typeface="Calibri" pitchFamily="34" charset="-120"/>
              </a:rPr>
              <a:t>Futures, the order book, open interest, margin — and the OTC cousin.</a:t>
            </a:r>
            <a:endParaRPr lang="en-US" sz="1400" dirty="0"/>
          </a:p>
        </p:txBody>
      </p:sp>
      <p:sp>
        <p:nvSpPr>
          <p:cNvPr id="5" name="Text 3"/>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E6259"/>
                </a:solidFill>
                <a:latin typeface="Courier New" pitchFamily="34" charset="0"/>
                <a:ea typeface="Courier New" pitchFamily="34" charset="-122"/>
                <a:cs typeface="Courier New" pitchFamily="34" charset="-120"/>
              </a:rPr>
              <a:t>THE INSTRUMENTS</a:t>
            </a:r>
            <a:endParaRPr lang="en-US" sz="800" dirty="0"/>
          </a:p>
        </p:txBody>
      </p:sp>
      <p:sp>
        <p:nvSpPr>
          <p:cNvPr id="6" name="Text 4"/>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E6259"/>
                </a:solidFill>
                <a:latin typeface="Courier New" pitchFamily="34" charset="0"/>
                <a:ea typeface="Courier New" pitchFamily="34" charset="-122"/>
                <a:cs typeface="Courier New" pitchFamily="34" charset="-120"/>
              </a:rPr>
              <a:t>23</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instruments</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What a futures contract actually is</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THE INSTRUMENTS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24</a:t>
            </a:r>
            <a:endParaRPr lang="en-US" sz="800" dirty="0"/>
          </a:p>
        </p:txBody>
      </p:sp>
      <p:sp>
        <p:nvSpPr>
          <p:cNvPr id="6" name="Text 4"/>
          <p:cNvSpPr txBox="1"/>
          <p:nvPr/>
        </p:nvSpPr>
        <p:spPr>
          <a:xfrm>
            <a:off x="548640" y="1600200"/>
            <a:ext cx="5212080" cy="1783080"/>
          </a:xfrm>
          <a:prstGeom prst="rect">
            <a:avLst/>
          </a:prstGeom>
          <a:noFill/>
          <a:ln/>
        </p:spPr>
        <p:txBody>
          <a:bodyPr wrap="square" lIns="0" tIns="0" rIns="0" bIns="0" rtlCol="0" anchor="t"/>
          <a:lstStyle/>
          <a:p>
            <a:pPr marL="342900" indent="-342900">
              <a:lnSpc>
                <a:spcPts val="2600"/>
              </a:lnSpc>
              <a:spcAft>
                <a:spcPts val="400"/>
              </a:spcAft>
              <a:buSzPct val="100000"/>
              <a:buChar char="–"/>
            </a:pPr>
            <a:r>
              <a:rPr lang="en-US" sz="1450" dirty="0">
                <a:solidFill>
                  <a:srgbClr val="221E1B"/>
                </a:solidFill>
                <a:latin typeface="Calibri" pitchFamily="34" charset="0"/>
                <a:ea typeface="Calibri" pitchFamily="34" charset="-122"/>
                <a:cs typeface="Calibri" pitchFamily="34" charset="-120"/>
              </a:rPr>
              <a:t>Standardised — lot, quality and delivery defined by the exchange</a:t>
            </a:r>
            <a:endParaRPr lang="en-US" sz="1450" dirty="0"/>
          </a:p>
          <a:p>
            <a:pPr marL="342900" indent="-342900">
              <a:lnSpc>
                <a:spcPts val="2600"/>
              </a:lnSpc>
              <a:spcAft>
                <a:spcPts val="400"/>
              </a:spcAft>
              <a:buSzPct val="100000"/>
              <a:buChar char="–"/>
            </a:pPr>
            <a:r>
              <a:rPr lang="en-US" sz="1450" dirty="0">
                <a:solidFill>
                  <a:srgbClr val="221E1B"/>
                </a:solidFill>
                <a:latin typeface="Calibri" pitchFamily="34" charset="0"/>
                <a:ea typeface="Calibri" pitchFamily="34" charset="-122"/>
                <a:cs typeface="Calibri" pitchFamily="34" charset="-120"/>
              </a:rPr>
              <a:t>Marked to market daily — gains and losses settle in cash every day</a:t>
            </a:r>
            <a:endParaRPr lang="en-US" sz="1450" dirty="0"/>
          </a:p>
          <a:p>
            <a:pPr marL="342900" indent="-342900">
              <a:lnSpc>
                <a:spcPts val="2600"/>
              </a:lnSpc>
              <a:spcAft>
                <a:spcPts val="400"/>
              </a:spcAft>
              <a:buSzPct val="100000"/>
              <a:buChar char="–"/>
            </a:pPr>
            <a:r>
              <a:rPr lang="en-US" sz="1450" dirty="0">
                <a:solidFill>
                  <a:srgbClr val="221E1B"/>
                </a:solidFill>
                <a:latin typeface="Calibri" pitchFamily="34" charset="0"/>
                <a:ea typeface="Calibri" pitchFamily="34" charset="-122"/>
                <a:cs typeface="Calibri" pitchFamily="34" charset="-120"/>
              </a:rPr>
              <a:t>Cleared — the clearing house steps between buyer and seller</a:t>
            </a:r>
            <a:endParaRPr lang="en-US" sz="1450" dirty="0"/>
          </a:p>
        </p:txBody>
      </p:sp>
      <p:sp>
        <p:nvSpPr>
          <p:cNvPr id="7" name="Shape 5"/>
          <p:cNvSpPr/>
          <p:nvPr/>
        </p:nvSpPr>
        <p:spPr>
          <a:xfrm>
            <a:off x="6035040" y="1572768"/>
            <a:ext cx="2560320" cy="1828800"/>
          </a:xfrm>
          <a:prstGeom prst="roundRect">
            <a:avLst>
              <a:gd name="adj" fmla="val 3000"/>
            </a:avLst>
          </a:prstGeom>
          <a:solidFill>
            <a:srgbClr val="F7F5F3"/>
          </a:solidFill>
          <a:ln w="9525">
            <a:solidFill>
              <a:srgbClr val="E3DFDA"/>
            </a:solidFill>
            <a:prstDash val="solid"/>
          </a:ln>
        </p:spPr>
      </p:sp>
      <p:sp>
        <p:nvSpPr>
          <p:cNvPr id="8" name="Text 6"/>
          <p:cNvSpPr txBox="1"/>
          <p:nvPr/>
        </p:nvSpPr>
        <p:spPr>
          <a:xfrm>
            <a:off x="6217920" y="1755648"/>
            <a:ext cx="2194560" cy="1463040"/>
          </a:xfrm>
          <a:prstGeom prst="rect">
            <a:avLst/>
          </a:prstGeom>
          <a:noFill/>
          <a:ln/>
        </p:spPr>
        <p:txBody>
          <a:bodyPr wrap="square" lIns="0" tIns="0" rIns="0" bIns="0" rtlCol="0" anchor="ctr"/>
          <a:lstStyle/>
          <a:p>
            <a:pPr indent="0" marL="0">
              <a:lnSpc>
                <a:spcPts val="1600"/>
              </a:lnSpc>
              <a:buNone/>
            </a:pPr>
            <a:r>
              <a:rPr lang="en-US" sz="1150" dirty="0">
                <a:solidFill>
                  <a:srgbClr val="221E1B"/>
                </a:solidFill>
                <a:latin typeface="Calibri" pitchFamily="34" charset="0"/>
                <a:ea typeface="Calibri" pitchFamily="34" charset="-122"/>
                <a:cs typeface="Calibri" pitchFamily="34" charset="-120"/>
              </a:rPr>
              <a:t>Counterparty risk is mutualised and collateralised — mitigated, not abolished.</a:t>
            </a:r>
            <a:endParaRPr lang="en-US" sz="1150" dirty="0"/>
          </a:p>
          <a:p>
            <a:pPr indent="0" marL="0">
              <a:lnSpc>
                <a:spcPts val="1600"/>
              </a:lnSpc>
              <a:buNone/>
            </a:pPr>
            <a:endParaRPr lang="en-US" sz="1150" dirty="0"/>
          </a:p>
          <a:p>
            <a:pPr indent="0" marL="0">
              <a:lnSpc>
                <a:spcPts val="1600"/>
              </a:lnSpc>
              <a:buNone/>
            </a:pPr>
            <a:r>
              <a:rPr lang="en-US" sz="1150" dirty="0">
                <a:solidFill>
                  <a:srgbClr val="221E1B"/>
                </a:solidFill>
                <a:latin typeface="Calibri" pitchFamily="34" charset="0"/>
                <a:ea typeface="Calibri" pitchFamily="34" charset="-122"/>
                <a:cs typeface="Calibri" pitchFamily="34" charset="-120"/>
              </a:rPr>
              <a:t>Nasdaq Clearing, 2018: one trader's default consumed a large share of the fund.</a:t>
            </a:r>
            <a:endParaRPr lang="en-US" sz="1150" dirty="0"/>
          </a:p>
        </p:txBody>
      </p:sp>
      <p:sp>
        <p:nvSpPr>
          <p:cNvPr id="9" name="Text 7"/>
          <p:cNvSpPr txBox="1"/>
          <p:nvPr/>
        </p:nvSpPr>
        <p:spPr>
          <a:xfrm>
            <a:off x="548640" y="3657600"/>
            <a:ext cx="8046720" cy="365760"/>
          </a:xfrm>
          <a:prstGeom prst="rect">
            <a:avLst/>
          </a:prstGeom>
          <a:noFill/>
          <a:ln/>
        </p:spPr>
        <p:txBody>
          <a:bodyPr wrap="square" lIns="0" tIns="0" rIns="0" bIns="0" rtlCol="0" anchor="ctr"/>
          <a:lstStyle/>
          <a:p>
            <a:pPr indent="0" marL="0">
              <a:buNone/>
            </a:pPr>
            <a:r>
              <a:rPr lang="en-US" sz="1350" dirty="0">
                <a:solidFill>
                  <a:srgbClr val="221E1B"/>
                </a:solidFill>
                <a:latin typeface="Calibri" pitchFamily="34" charset="0"/>
                <a:ea typeface="Calibri" pitchFamily="34" charset="-122"/>
                <a:cs typeface="Calibri" pitchFamily="34" charset="-120"/>
              </a:rPr>
              <a:t>Most futures are never delivered. They are offset before expiry by an opposing trade.</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instruments</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Where the price comes from</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THE INSTRUMENTS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25</a:t>
            </a:r>
            <a:endParaRPr lang="en-US" sz="800" dirty="0"/>
          </a:p>
        </p:txBody>
      </p:sp>
      <p:sp>
        <p:nvSpPr>
          <p:cNvPr id="6" name="Shape 4"/>
          <p:cNvSpPr/>
          <p:nvPr/>
        </p:nvSpPr>
        <p:spPr>
          <a:xfrm>
            <a:off x="548640" y="1572768"/>
            <a:ext cx="3657600" cy="292608"/>
          </a:xfrm>
          <a:prstGeom prst="rect">
            <a:avLst/>
          </a:prstGeom>
          <a:solidFill>
            <a:srgbClr val="FFFFFF"/>
          </a:solidFill>
          <a:ln w="6350">
            <a:solidFill>
              <a:srgbClr val="E3DFDA"/>
            </a:solidFill>
            <a:prstDash val="solid"/>
          </a:ln>
        </p:spPr>
      </p:sp>
      <p:sp>
        <p:nvSpPr>
          <p:cNvPr id="7" name="Text 5"/>
          <p:cNvSpPr txBox="1"/>
          <p:nvPr/>
        </p:nvSpPr>
        <p:spPr>
          <a:xfrm>
            <a:off x="658368" y="1572768"/>
            <a:ext cx="822960" cy="292608"/>
          </a:xfrm>
          <a:prstGeom prst="rect">
            <a:avLst/>
          </a:prstGeom>
          <a:noFill/>
          <a:ln/>
        </p:spPr>
        <p:txBody>
          <a:bodyPr wrap="square" lIns="0" tIns="0" rIns="0" bIns="0" rtlCol="0" anchor="ctr"/>
          <a:lstStyle/>
          <a:p>
            <a:pPr indent="0" marL="0">
              <a:buNone/>
            </a:pPr>
            <a:r>
              <a:rPr lang="en-US" sz="1100" dirty="0">
                <a:solidFill>
                  <a:srgbClr val="A34B12"/>
                </a:solidFill>
                <a:latin typeface="Calibri" pitchFamily="34" charset="0"/>
                <a:ea typeface="Calibri" pitchFamily="34" charset="-122"/>
                <a:cs typeface="Calibri" pitchFamily="34" charset="-120"/>
              </a:rPr>
              <a:t>Offer</a:t>
            </a:r>
            <a:endParaRPr lang="en-US" sz="1100" dirty="0"/>
          </a:p>
        </p:txBody>
      </p:sp>
      <p:sp>
        <p:nvSpPr>
          <p:cNvPr id="8" name="Text 6"/>
          <p:cNvSpPr txBox="1"/>
          <p:nvPr/>
        </p:nvSpPr>
        <p:spPr>
          <a:xfrm>
            <a:off x="1554480" y="1572768"/>
            <a:ext cx="1280160" cy="292608"/>
          </a:xfrm>
          <a:prstGeom prst="rect">
            <a:avLst/>
          </a:prstGeom>
          <a:noFill/>
          <a:ln/>
        </p:spPr>
        <p:txBody>
          <a:bodyPr wrap="square" lIns="0" tIns="0" rIns="0" bIns="0" rtlCol="0" anchor="ctr"/>
          <a:lstStyle/>
          <a:p>
            <a:pPr algn="r" indent="0" marL="0">
              <a:buNone/>
            </a:pPr>
            <a:r>
              <a:rPr lang="en-US" sz="1200" dirty="0">
                <a:solidFill>
                  <a:srgbClr val="221E1B"/>
                </a:solidFill>
                <a:latin typeface="Courier New" pitchFamily="34" charset="0"/>
                <a:ea typeface="Courier New" pitchFamily="34" charset="-122"/>
                <a:cs typeface="Courier New" pitchFamily="34" charset="-120"/>
              </a:rPr>
              <a:t>4,815</a:t>
            </a:r>
            <a:endParaRPr lang="en-US" sz="1200" dirty="0"/>
          </a:p>
        </p:txBody>
      </p:sp>
      <p:sp>
        <p:nvSpPr>
          <p:cNvPr id="9" name="Text 7"/>
          <p:cNvSpPr txBox="1"/>
          <p:nvPr/>
        </p:nvSpPr>
        <p:spPr>
          <a:xfrm>
            <a:off x="2926080" y="1572768"/>
            <a:ext cx="1188720" cy="292608"/>
          </a:xfrm>
          <a:prstGeom prst="rect">
            <a:avLst/>
          </a:prstGeom>
          <a:noFill/>
          <a:ln/>
        </p:spPr>
        <p:txBody>
          <a:bodyPr wrap="square" lIns="0" tIns="0" rIns="0" bIns="0" rtlCol="0" anchor="ctr"/>
          <a:lstStyle/>
          <a:p>
            <a:pPr algn="r" indent="0" marL="0">
              <a:buNone/>
            </a:pPr>
            <a:r>
              <a:rPr lang="en-US" sz="1100" dirty="0">
                <a:solidFill>
                  <a:srgbClr val="6B655F"/>
                </a:solidFill>
                <a:latin typeface="Courier New" pitchFamily="34" charset="0"/>
                <a:ea typeface="Courier New" pitchFamily="34" charset="-122"/>
                <a:cs typeface="Courier New" pitchFamily="34" charset="-120"/>
              </a:rPr>
              <a:t>12 lots</a:t>
            </a:r>
            <a:endParaRPr lang="en-US" sz="1100" dirty="0"/>
          </a:p>
        </p:txBody>
      </p:sp>
      <p:sp>
        <p:nvSpPr>
          <p:cNvPr id="10" name="Shape 8"/>
          <p:cNvSpPr/>
          <p:nvPr/>
        </p:nvSpPr>
        <p:spPr>
          <a:xfrm>
            <a:off x="548640" y="1901952"/>
            <a:ext cx="3657600" cy="292608"/>
          </a:xfrm>
          <a:prstGeom prst="rect">
            <a:avLst/>
          </a:prstGeom>
          <a:solidFill>
            <a:srgbClr val="FFFFFF"/>
          </a:solidFill>
          <a:ln w="6350">
            <a:solidFill>
              <a:srgbClr val="E3DFDA"/>
            </a:solidFill>
            <a:prstDash val="solid"/>
          </a:ln>
        </p:spPr>
      </p:sp>
      <p:sp>
        <p:nvSpPr>
          <p:cNvPr id="11" name="Text 9"/>
          <p:cNvSpPr txBox="1"/>
          <p:nvPr/>
        </p:nvSpPr>
        <p:spPr>
          <a:xfrm>
            <a:off x="658368" y="1901952"/>
            <a:ext cx="822960" cy="292608"/>
          </a:xfrm>
          <a:prstGeom prst="rect">
            <a:avLst/>
          </a:prstGeom>
          <a:noFill/>
          <a:ln/>
        </p:spPr>
        <p:txBody>
          <a:bodyPr wrap="square" lIns="0" tIns="0" rIns="0" bIns="0" rtlCol="0" anchor="ctr"/>
          <a:lstStyle/>
          <a:p>
            <a:pPr indent="0" marL="0">
              <a:buNone/>
            </a:pPr>
            <a:r>
              <a:rPr lang="en-US" sz="1100" dirty="0">
                <a:solidFill>
                  <a:srgbClr val="A34B12"/>
                </a:solidFill>
                <a:latin typeface="Calibri" pitchFamily="34" charset="0"/>
                <a:ea typeface="Calibri" pitchFamily="34" charset="-122"/>
                <a:cs typeface="Calibri" pitchFamily="34" charset="-120"/>
              </a:rPr>
              <a:t>Offer</a:t>
            </a:r>
            <a:endParaRPr lang="en-US" sz="1100" dirty="0"/>
          </a:p>
        </p:txBody>
      </p:sp>
      <p:sp>
        <p:nvSpPr>
          <p:cNvPr id="12" name="Text 10"/>
          <p:cNvSpPr txBox="1"/>
          <p:nvPr/>
        </p:nvSpPr>
        <p:spPr>
          <a:xfrm>
            <a:off x="1554480" y="1901952"/>
            <a:ext cx="1280160" cy="292608"/>
          </a:xfrm>
          <a:prstGeom prst="rect">
            <a:avLst/>
          </a:prstGeom>
          <a:noFill/>
          <a:ln/>
        </p:spPr>
        <p:txBody>
          <a:bodyPr wrap="square" lIns="0" tIns="0" rIns="0" bIns="0" rtlCol="0" anchor="ctr"/>
          <a:lstStyle/>
          <a:p>
            <a:pPr algn="r" indent="0" marL="0">
              <a:buNone/>
            </a:pPr>
            <a:r>
              <a:rPr lang="en-US" sz="1200" dirty="0">
                <a:solidFill>
                  <a:srgbClr val="221E1B"/>
                </a:solidFill>
                <a:latin typeface="Courier New" pitchFamily="34" charset="0"/>
                <a:ea typeface="Courier New" pitchFamily="34" charset="-122"/>
                <a:cs typeface="Courier New" pitchFamily="34" charset="-120"/>
              </a:rPr>
              <a:t>4,810</a:t>
            </a:r>
            <a:endParaRPr lang="en-US" sz="1200" dirty="0"/>
          </a:p>
        </p:txBody>
      </p:sp>
      <p:sp>
        <p:nvSpPr>
          <p:cNvPr id="13" name="Text 11"/>
          <p:cNvSpPr txBox="1"/>
          <p:nvPr/>
        </p:nvSpPr>
        <p:spPr>
          <a:xfrm>
            <a:off x="2926080" y="1901952"/>
            <a:ext cx="1188720" cy="292608"/>
          </a:xfrm>
          <a:prstGeom prst="rect">
            <a:avLst/>
          </a:prstGeom>
          <a:noFill/>
          <a:ln/>
        </p:spPr>
        <p:txBody>
          <a:bodyPr wrap="square" lIns="0" tIns="0" rIns="0" bIns="0" rtlCol="0" anchor="ctr"/>
          <a:lstStyle/>
          <a:p>
            <a:pPr algn="r" indent="0" marL="0">
              <a:buNone/>
            </a:pPr>
            <a:r>
              <a:rPr lang="en-US" sz="1100" dirty="0">
                <a:solidFill>
                  <a:srgbClr val="6B655F"/>
                </a:solidFill>
                <a:latin typeface="Courier New" pitchFamily="34" charset="0"/>
                <a:ea typeface="Courier New" pitchFamily="34" charset="-122"/>
                <a:cs typeface="Courier New" pitchFamily="34" charset="-120"/>
              </a:rPr>
              <a:t>8 lots</a:t>
            </a:r>
            <a:endParaRPr lang="en-US" sz="1100" dirty="0"/>
          </a:p>
        </p:txBody>
      </p:sp>
      <p:sp>
        <p:nvSpPr>
          <p:cNvPr id="14" name="Shape 12"/>
          <p:cNvSpPr/>
          <p:nvPr/>
        </p:nvSpPr>
        <p:spPr>
          <a:xfrm>
            <a:off x="548640" y="2231136"/>
            <a:ext cx="3657600" cy="292608"/>
          </a:xfrm>
          <a:prstGeom prst="rect">
            <a:avLst/>
          </a:prstGeom>
          <a:solidFill>
            <a:srgbClr val="F7F5F3"/>
          </a:solidFill>
          <a:ln w="6350">
            <a:solidFill>
              <a:srgbClr val="E3DFDA"/>
            </a:solidFill>
            <a:prstDash val="solid"/>
          </a:ln>
        </p:spPr>
      </p:sp>
      <p:sp>
        <p:nvSpPr>
          <p:cNvPr id="15" name="Text 13"/>
          <p:cNvSpPr txBox="1"/>
          <p:nvPr/>
        </p:nvSpPr>
        <p:spPr>
          <a:xfrm>
            <a:off x="658368" y="2231136"/>
            <a:ext cx="822960" cy="292608"/>
          </a:xfrm>
          <a:prstGeom prst="rect">
            <a:avLst/>
          </a:prstGeom>
          <a:noFill/>
          <a:ln/>
        </p:spPr>
        <p:txBody>
          <a:bodyPr wrap="square" lIns="0" tIns="0" rIns="0" bIns="0" rtlCol="0" anchor="ctr"/>
          <a:lstStyle/>
          <a:p>
            <a:pPr indent="0" marL="0">
              <a:buNone/>
            </a:pPr>
            <a:r>
              <a:rPr lang="en-US" sz="1100" dirty="0">
                <a:solidFill>
                  <a:srgbClr val="A34B12"/>
                </a:solidFill>
                <a:latin typeface="Calibri" pitchFamily="34" charset="0"/>
                <a:ea typeface="Calibri" pitchFamily="34" charset="-122"/>
                <a:cs typeface="Calibri" pitchFamily="34" charset="-120"/>
              </a:rPr>
              <a:t>Offer</a:t>
            </a:r>
            <a:endParaRPr lang="en-US" sz="1100" dirty="0"/>
          </a:p>
        </p:txBody>
      </p:sp>
      <p:sp>
        <p:nvSpPr>
          <p:cNvPr id="16" name="Text 14"/>
          <p:cNvSpPr txBox="1"/>
          <p:nvPr/>
        </p:nvSpPr>
        <p:spPr>
          <a:xfrm>
            <a:off x="1554480" y="2231136"/>
            <a:ext cx="1280160" cy="292608"/>
          </a:xfrm>
          <a:prstGeom prst="rect">
            <a:avLst/>
          </a:prstGeom>
          <a:noFill/>
          <a:ln/>
        </p:spPr>
        <p:txBody>
          <a:bodyPr wrap="square" lIns="0" tIns="0" rIns="0" bIns="0" rtlCol="0" anchor="ctr"/>
          <a:lstStyle/>
          <a:p>
            <a:pPr algn="r" indent="0" marL="0">
              <a:buNone/>
            </a:pPr>
            <a:r>
              <a:rPr lang="en-US" sz="1200" b="1" dirty="0">
                <a:solidFill>
                  <a:srgbClr val="221E1B"/>
                </a:solidFill>
                <a:latin typeface="Courier New" pitchFamily="34" charset="0"/>
                <a:ea typeface="Courier New" pitchFamily="34" charset="-122"/>
                <a:cs typeface="Courier New" pitchFamily="34" charset="-120"/>
              </a:rPr>
              <a:t>4,805</a:t>
            </a:r>
            <a:endParaRPr lang="en-US" sz="1200" dirty="0"/>
          </a:p>
        </p:txBody>
      </p:sp>
      <p:sp>
        <p:nvSpPr>
          <p:cNvPr id="17" name="Text 15"/>
          <p:cNvSpPr txBox="1"/>
          <p:nvPr/>
        </p:nvSpPr>
        <p:spPr>
          <a:xfrm>
            <a:off x="2926080" y="2231136"/>
            <a:ext cx="1188720" cy="292608"/>
          </a:xfrm>
          <a:prstGeom prst="rect">
            <a:avLst/>
          </a:prstGeom>
          <a:noFill/>
          <a:ln/>
        </p:spPr>
        <p:txBody>
          <a:bodyPr wrap="square" lIns="0" tIns="0" rIns="0" bIns="0" rtlCol="0" anchor="ctr"/>
          <a:lstStyle/>
          <a:p>
            <a:pPr algn="r" indent="0" marL="0">
              <a:buNone/>
            </a:pPr>
            <a:r>
              <a:rPr lang="en-US" sz="1100" dirty="0">
                <a:solidFill>
                  <a:srgbClr val="6B655F"/>
                </a:solidFill>
                <a:latin typeface="Courier New" pitchFamily="34" charset="0"/>
                <a:ea typeface="Courier New" pitchFamily="34" charset="-122"/>
                <a:cs typeface="Courier New" pitchFamily="34" charset="-120"/>
              </a:rPr>
              <a:t>10 lots</a:t>
            </a:r>
            <a:endParaRPr lang="en-US" sz="1100" dirty="0"/>
          </a:p>
        </p:txBody>
      </p:sp>
      <p:sp>
        <p:nvSpPr>
          <p:cNvPr id="18" name="Shape 16"/>
          <p:cNvSpPr/>
          <p:nvPr/>
        </p:nvSpPr>
        <p:spPr>
          <a:xfrm>
            <a:off x="548640" y="2560320"/>
            <a:ext cx="3657600" cy="292608"/>
          </a:xfrm>
          <a:prstGeom prst="rect">
            <a:avLst/>
          </a:prstGeom>
          <a:solidFill>
            <a:srgbClr val="F7F5F3"/>
          </a:solidFill>
          <a:ln w="6350">
            <a:solidFill>
              <a:srgbClr val="E3DFDA"/>
            </a:solidFill>
            <a:prstDash val="solid"/>
          </a:ln>
        </p:spPr>
      </p:sp>
      <p:sp>
        <p:nvSpPr>
          <p:cNvPr id="19" name="Text 17"/>
          <p:cNvSpPr txBox="1"/>
          <p:nvPr/>
        </p:nvSpPr>
        <p:spPr>
          <a:xfrm>
            <a:off x="658368" y="2560320"/>
            <a:ext cx="822960" cy="292608"/>
          </a:xfrm>
          <a:prstGeom prst="rect">
            <a:avLst/>
          </a:prstGeom>
          <a:noFill/>
          <a:ln/>
        </p:spPr>
        <p:txBody>
          <a:bodyPr wrap="square" lIns="0" tIns="0" rIns="0" bIns="0" rtlCol="0" anchor="ctr"/>
          <a:lstStyle/>
          <a:p>
            <a:pPr indent="0" marL="0">
              <a:buNone/>
            </a:pPr>
            <a:r>
              <a:rPr lang="en-US" sz="1100" dirty="0">
                <a:solidFill>
                  <a:srgbClr val="221E1B"/>
                </a:solidFill>
                <a:latin typeface="Calibri" pitchFamily="34" charset="0"/>
                <a:ea typeface="Calibri" pitchFamily="34" charset="-122"/>
                <a:cs typeface="Calibri" pitchFamily="34" charset="-120"/>
              </a:rPr>
              <a:t>Bid</a:t>
            </a:r>
            <a:endParaRPr lang="en-US" sz="1100" dirty="0"/>
          </a:p>
        </p:txBody>
      </p:sp>
      <p:sp>
        <p:nvSpPr>
          <p:cNvPr id="20" name="Text 18"/>
          <p:cNvSpPr txBox="1"/>
          <p:nvPr/>
        </p:nvSpPr>
        <p:spPr>
          <a:xfrm>
            <a:off x="1554480" y="2560320"/>
            <a:ext cx="1280160" cy="292608"/>
          </a:xfrm>
          <a:prstGeom prst="rect">
            <a:avLst/>
          </a:prstGeom>
          <a:noFill/>
          <a:ln/>
        </p:spPr>
        <p:txBody>
          <a:bodyPr wrap="square" lIns="0" tIns="0" rIns="0" bIns="0" rtlCol="0" anchor="ctr"/>
          <a:lstStyle/>
          <a:p>
            <a:pPr algn="r" indent="0" marL="0">
              <a:buNone/>
            </a:pPr>
            <a:r>
              <a:rPr lang="en-US" sz="1200" b="1" dirty="0">
                <a:solidFill>
                  <a:srgbClr val="221E1B"/>
                </a:solidFill>
                <a:latin typeface="Courier New" pitchFamily="34" charset="0"/>
                <a:ea typeface="Courier New" pitchFamily="34" charset="-122"/>
                <a:cs typeface="Courier New" pitchFamily="34" charset="-120"/>
              </a:rPr>
              <a:t>4,800</a:t>
            </a:r>
            <a:endParaRPr lang="en-US" sz="1200" dirty="0"/>
          </a:p>
        </p:txBody>
      </p:sp>
      <p:sp>
        <p:nvSpPr>
          <p:cNvPr id="21" name="Text 19"/>
          <p:cNvSpPr txBox="1"/>
          <p:nvPr/>
        </p:nvSpPr>
        <p:spPr>
          <a:xfrm>
            <a:off x="2926080" y="2560320"/>
            <a:ext cx="1188720" cy="292608"/>
          </a:xfrm>
          <a:prstGeom prst="rect">
            <a:avLst/>
          </a:prstGeom>
          <a:noFill/>
          <a:ln/>
        </p:spPr>
        <p:txBody>
          <a:bodyPr wrap="square" lIns="0" tIns="0" rIns="0" bIns="0" rtlCol="0" anchor="ctr"/>
          <a:lstStyle/>
          <a:p>
            <a:pPr algn="r" indent="0" marL="0">
              <a:buNone/>
            </a:pPr>
            <a:r>
              <a:rPr lang="en-US" sz="1100" dirty="0">
                <a:solidFill>
                  <a:srgbClr val="6B655F"/>
                </a:solidFill>
                <a:latin typeface="Courier New" pitchFamily="34" charset="0"/>
                <a:ea typeface="Courier New" pitchFamily="34" charset="-122"/>
                <a:cs typeface="Courier New" pitchFamily="34" charset="-120"/>
              </a:rPr>
              <a:t>15 lots</a:t>
            </a:r>
            <a:endParaRPr lang="en-US" sz="1100" dirty="0"/>
          </a:p>
        </p:txBody>
      </p:sp>
      <p:sp>
        <p:nvSpPr>
          <p:cNvPr id="22" name="Shape 20"/>
          <p:cNvSpPr/>
          <p:nvPr/>
        </p:nvSpPr>
        <p:spPr>
          <a:xfrm>
            <a:off x="548640" y="2889504"/>
            <a:ext cx="3657600" cy="292608"/>
          </a:xfrm>
          <a:prstGeom prst="rect">
            <a:avLst/>
          </a:prstGeom>
          <a:solidFill>
            <a:srgbClr val="FFFFFF"/>
          </a:solidFill>
          <a:ln w="6350">
            <a:solidFill>
              <a:srgbClr val="E3DFDA"/>
            </a:solidFill>
            <a:prstDash val="solid"/>
          </a:ln>
        </p:spPr>
      </p:sp>
      <p:sp>
        <p:nvSpPr>
          <p:cNvPr id="23" name="Text 21"/>
          <p:cNvSpPr txBox="1"/>
          <p:nvPr/>
        </p:nvSpPr>
        <p:spPr>
          <a:xfrm>
            <a:off x="658368" y="2889504"/>
            <a:ext cx="822960" cy="292608"/>
          </a:xfrm>
          <a:prstGeom prst="rect">
            <a:avLst/>
          </a:prstGeom>
          <a:noFill/>
          <a:ln/>
        </p:spPr>
        <p:txBody>
          <a:bodyPr wrap="square" lIns="0" tIns="0" rIns="0" bIns="0" rtlCol="0" anchor="ctr"/>
          <a:lstStyle/>
          <a:p>
            <a:pPr indent="0" marL="0">
              <a:buNone/>
            </a:pPr>
            <a:r>
              <a:rPr lang="en-US" sz="1100" dirty="0">
                <a:solidFill>
                  <a:srgbClr val="221E1B"/>
                </a:solidFill>
                <a:latin typeface="Calibri" pitchFamily="34" charset="0"/>
                <a:ea typeface="Calibri" pitchFamily="34" charset="-122"/>
                <a:cs typeface="Calibri" pitchFamily="34" charset="-120"/>
              </a:rPr>
              <a:t>Bid</a:t>
            </a:r>
            <a:endParaRPr lang="en-US" sz="1100" dirty="0"/>
          </a:p>
        </p:txBody>
      </p:sp>
      <p:sp>
        <p:nvSpPr>
          <p:cNvPr id="24" name="Text 22"/>
          <p:cNvSpPr txBox="1"/>
          <p:nvPr/>
        </p:nvSpPr>
        <p:spPr>
          <a:xfrm>
            <a:off x="1554480" y="2889504"/>
            <a:ext cx="1280160" cy="292608"/>
          </a:xfrm>
          <a:prstGeom prst="rect">
            <a:avLst/>
          </a:prstGeom>
          <a:noFill/>
          <a:ln/>
        </p:spPr>
        <p:txBody>
          <a:bodyPr wrap="square" lIns="0" tIns="0" rIns="0" bIns="0" rtlCol="0" anchor="ctr"/>
          <a:lstStyle/>
          <a:p>
            <a:pPr algn="r" indent="0" marL="0">
              <a:buNone/>
            </a:pPr>
            <a:r>
              <a:rPr lang="en-US" sz="1200" dirty="0">
                <a:solidFill>
                  <a:srgbClr val="221E1B"/>
                </a:solidFill>
                <a:latin typeface="Courier New" pitchFamily="34" charset="0"/>
                <a:ea typeface="Courier New" pitchFamily="34" charset="-122"/>
                <a:cs typeface="Courier New" pitchFamily="34" charset="-120"/>
              </a:rPr>
              <a:t>4,795</a:t>
            </a:r>
            <a:endParaRPr lang="en-US" sz="1200" dirty="0"/>
          </a:p>
        </p:txBody>
      </p:sp>
      <p:sp>
        <p:nvSpPr>
          <p:cNvPr id="25" name="Text 23"/>
          <p:cNvSpPr txBox="1"/>
          <p:nvPr/>
        </p:nvSpPr>
        <p:spPr>
          <a:xfrm>
            <a:off x="2926080" y="2889504"/>
            <a:ext cx="1188720" cy="292608"/>
          </a:xfrm>
          <a:prstGeom prst="rect">
            <a:avLst/>
          </a:prstGeom>
          <a:noFill/>
          <a:ln/>
        </p:spPr>
        <p:txBody>
          <a:bodyPr wrap="square" lIns="0" tIns="0" rIns="0" bIns="0" rtlCol="0" anchor="ctr"/>
          <a:lstStyle/>
          <a:p>
            <a:pPr algn="r" indent="0" marL="0">
              <a:buNone/>
            </a:pPr>
            <a:r>
              <a:rPr lang="en-US" sz="1100" dirty="0">
                <a:solidFill>
                  <a:srgbClr val="6B655F"/>
                </a:solidFill>
                <a:latin typeface="Courier New" pitchFamily="34" charset="0"/>
                <a:ea typeface="Courier New" pitchFamily="34" charset="-122"/>
                <a:cs typeface="Courier New" pitchFamily="34" charset="-120"/>
              </a:rPr>
              <a:t>20 lots</a:t>
            </a:r>
            <a:endParaRPr lang="en-US" sz="1100" dirty="0"/>
          </a:p>
        </p:txBody>
      </p:sp>
      <p:sp>
        <p:nvSpPr>
          <p:cNvPr id="26" name="Shape 24"/>
          <p:cNvSpPr/>
          <p:nvPr/>
        </p:nvSpPr>
        <p:spPr>
          <a:xfrm>
            <a:off x="548640" y="3218688"/>
            <a:ext cx="3657600" cy="292608"/>
          </a:xfrm>
          <a:prstGeom prst="rect">
            <a:avLst/>
          </a:prstGeom>
          <a:solidFill>
            <a:srgbClr val="FFFFFF"/>
          </a:solidFill>
          <a:ln w="6350">
            <a:solidFill>
              <a:srgbClr val="E3DFDA"/>
            </a:solidFill>
            <a:prstDash val="solid"/>
          </a:ln>
        </p:spPr>
      </p:sp>
      <p:sp>
        <p:nvSpPr>
          <p:cNvPr id="27" name="Text 25"/>
          <p:cNvSpPr txBox="1"/>
          <p:nvPr/>
        </p:nvSpPr>
        <p:spPr>
          <a:xfrm>
            <a:off x="658368" y="3218688"/>
            <a:ext cx="822960" cy="292608"/>
          </a:xfrm>
          <a:prstGeom prst="rect">
            <a:avLst/>
          </a:prstGeom>
          <a:noFill/>
          <a:ln/>
        </p:spPr>
        <p:txBody>
          <a:bodyPr wrap="square" lIns="0" tIns="0" rIns="0" bIns="0" rtlCol="0" anchor="ctr"/>
          <a:lstStyle/>
          <a:p>
            <a:pPr indent="0" marL="0">
              <a:buNone/>
            </a:pPr>
            <a:r>
              <a:rPr lang="en-US" sz="1100" dirty="0">
                <a:solidFill>
                  <a:srgbClr val="221E1B"/>
                </a:solidFill>
                <a:latin typeface="Calibri" pitchFamily="34" charset="0"/>
                <a:ea typeface="Calibri" pitchFamily="34" charset="-122"/>
                <a:cs typeface="Calibri" pitchFamily="34" charset="-120"/>
              </a:rPr>
              <a:t>Bid</a:t>
            </a:r>
            <a:endParaRPr lang="en-US" sz="1100" dirty="0"/>
          </a:p>
        </p:txBody>
      </p:sp>
      <p:sp>
        <p:nvSpPr>
          <p:cNvPr id="28" name="Text 26"/>
          <p:cNvSpPr txBox="1"/>
          <p:nvPr/>
        </p:nvSpPr>
        <p:spPr>
          <a:xfrm>
            <a:off x="1554480" y="3218688"/>
            <a:ext cx="1280160" cy="292608"/>
          </a:xfrm>
          <a:prstGeom prst="rect">
            <a:avLst/>
          </a:prstGeom>
          <a:noFill/>
          <a:ln/>
        </p:spPr>
        <p:txBody>
          <a:bodyPr wrap="square" lIns="0" tIns="0" rIns="0" bIns="0" rtlCol="0" anchor="ctr"/>
          <a:lstStyle/>
          <a:p>
            <a:pPr algn="r" indent="0" marL="0">
              <a:buNone/>
            </a:pPr>
            <a:r>
              <a:rPr lang="en-US" sz="1200" dirty="0">
                <a:solidFill>
                  <a:srgbClr val="221E1B"/>
                </a:solidFill>
                <a:latin typeface="Courier New" pitchFamily="34" charset="0"/>
                <a:ea typeface="Courier New" pitchFamily="34" charset="-122"/>
                <a:cs typeface="Courier New" pitchFamily="34" charset="-120"/>
              </a:rPr>
              <a:t>4,790</a:t>
            </a:r>
            <a:endParaRPr lang="en-US" sz="1200" dirty="0"/>
          </a:p>
        </p:txBody>
      </p:sp>
      <p:sp>
        <p:nvSpPr>
          <p:cNvPr id="29" name="Text 27"/>
          <p:cNvSpPr txBox="1"/>
          <p:nvPr/>
        </p:nvSpPr>
        <p:spPr>
          <a:xfrm>
            <a:off x="2926080" y="3218688"/>
            <a:ext cx="1188720" cy="292608"/>
          </a:xfrm>
          <a:prstGeom prst="rect">
            <a:avLst/>
          </a:prstGeom>
          <a:noFill/>
          <a:ln/>
        </p:spPr>
        <p:txBody>
          <a:bodyPr wrap="square" lIns="0" tIns="0" rIns="0" bIns="0" rtlCol="0" anchor="ctr"/>
          <a:lstStyle/>
          <a:p>
            <a:pPr algn="r" indent="0" marL="0">
              <a:buNone/>
            </a:pPr>
            <a:r>
              <a:rPr lang="en-US" sz="1100" dirty="0">
                <a:solidFill>
                  <a:srgbClr val="6B655F"/>
                </a:solidFill>
                <a:latin typeface="Courier New" pitchFamily="34" charset="0"/>
                <a:ea typeface="Courier New" pitchFamily="34" charset="-122"/>
                <a:cs typeface="Courier New" pitchFamily="34" charset="-120"/>
              </a:rPr>
              <a:t>18 lots</a:t>
            </a:r>
            <a:endParaRPr lang="en-US" sz="1100" dirty="0"/>
          </a:p>
        </p:txBody>
      </p:sp>
      <p:sp>
        <p:nvSpPr>
          <p:cNvPr id="30" name="Text 28"/>
          <p:cNvSpPr txBox="1"/>
          <p:nvPr/>
        </p:nvSpPr>
        <p:spPr>
          <a:xfrm>
            <a:off x="4663440" y="1600200"/>
            <a:ext cx="3931920" cy="219456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200" dirty="0">
                <a:solidFill>
                  <a:srgbClr val="221E1B"/>
                </a:solidFill>
                <a:latin typeface="Calibri" pitchFamily="34" charset="0"/>
                <a:ea typeface="Calibri" pitchFamily="34" charset="-122"/>
                <a:cs typeface="Calibri" pitchFamily="34" charset="-120"/>
              </a:rPr>
              <a:t>A small market buy fills instantly at the offer — you paid the spread, the price of immediacy</a:t>
            </a:r>
            <a:endParaRPr lang="en-US" sz="1200" dirty="0"/>
          </a:p>
          <a:p>
            <a:pPr marL="342900" indent="-342900">
              <a:lnSpc>
                <a:spcPts val="1900"/>
              </a:lnSpc>
              <a:spcAft>
                <a:spcPts val="1000"/>
              </a:spcAft>
              <a:buSzPct val="100000"/>
              <a:buChar char="–"/>
            </a:pPr>
            <a:r>
              <a:rPr lang="en-US" sz="1200" dirty="0">
                <a:solidFill>
                  <a:srgbClr val="221E1B"/>
                </a:solidFill>
                <a:latin typeface="Calibri" pitchFamily="34" charset="0"/>
                <a:ea typeface="Calibri" pitchFamily="34" charset="-122"/>
                <a:cs typeface="Calibri" pitchFamily="34" charset="-120"/>
              </a:rPr>
              <a:t>A large market buy eats through several levels: the fill walks the book and your average slips. Size moves markets</a:t>
            </a:r>
            <a:endParaRPr lang="en-US" sz="1200" dirty="0"/>
          </a:p>
          <a:p>
            <a:pPr marL="342900" indent="-342900">
              <a:lnSpc>
                <a:spcPts val="1900"/>
              </a:lnSpc>
              <a:spcAft>
                <a:spcPts val="1000"/>
              </a:spcAft>
              <a:buSzPct val="100000"/>
              <a:buChar char="–"/>
            </a:pPr>
            <a:r>
              <a:rPr lang="en-US" sz="1200" dirty="0">
                <a:solidFill>
                  <a:srgbClr val="221E1B"/>
                </a:solidFill>
                <a:latin typeface="Calibri" pitchFamily="34" charset="0"/>
                <a:ea typeface="Calibri" pitchFamily="34" charset="-122"/>
                <a:cs typeface="Calibri" pitchFamily="34" charset="-120"/>
              </a:rPr>
              <a:t>A limit buy below the market rests in the book — you are now making the liquidity that others take</a:t>
            </a:r>
            <a:endParaRPr lang="en-US" sz="1200" dirty="0"/>
          </a:p>
        </p:txBody>
      </p:sp>
      <p:sp>
        <p:nvSpPr>
          <p:cNvPr id="31" name="Text 29"/>
          <p:cNvSpPr txBox="1"/>
          <p:nvPr/>
        </p:nvSpPr>
        <p:spPr>
          <a:xfrm>
            <a:off x="548640" y="4023360"/>
            <a:ext cx="8046720" cy="365760"/>
          </a:xfrm>
          <a:prstGeom prst="rect">
            <a:avLst/>
          </a:prstGeom>
          <a:noFill/>
          <a:ln/>
        </p:spPr>
        <p:txBody>
          <a:bodyPr wrap="square" lIns="0" tIns="0" rIns="0" bIns="0" rtlCol="0" anchor="ctr"/>
          <a:lstStyle/>
          <a:p>
            <a:pPr indent="0" marL="0">
              <a:buNone/>
            </a:pPr>
            <a:r>
              <a:rPr lang="en-US" sz="1300" i="1" dirty="0">
                <a:solidFill>
                  <a:srgbClr val="6B655F"/>
                </a:solidFill>
                <a:latin typeface="Calibri" pitchFamily="34" charset="0"/>
                <a:ea typeface="Calibri" pitchFamily="34" charset="-122"/>
                <a:cs typeface="Calibri" pitchFamily="34" charset="-120"/>
              </a:rPr>
              <a:t>"One transparent price" is nothing more mystical than the top of this book.</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instruments</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Two counters beginners confuse</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THE INSTRUMENTS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26</a:t>
            </a:r>
            <a:endParaRPr lang="en-US" sz="800" dirty="0"/>
          </a:p>
        </p:txBody>
      </p:sp>
      <p:sp>
        <p:nvSpPr>
          <p:cNvPr id="6" name="Shape 4"/>
          <p:cNvSpPr/>
          <p:nvPr/>
        </p:nvSpPr>
        <p:spPr>
          <a:xfrm>
            <a:off x="548640" y="1536192"/>
            <a:ext cx="3886200" cy="1645920"/>
          </a:xfrm>
          <a:prstGeom prst="roundRect">
            <a:avLst>
              <a:gd name="adj" fmla="val 3333"/>
            </a:avLst>
          </a:prstGeom>
          <a:solidFill>
            <a:srgbClr val="F7F5F3"/>
          </a:solidFill>
          <a:ln w="9525">
            <a:solidFill>
              <a:srgbClr val="E3DFDA"/>
            </a:solidFill>
            <a:prstDash val="solid"/>
          </a:ln>
        </p:spPr>
      </p:sp>
      <p:sp>
        <p:nvSpPr>
          <p:cNvPr id="7" name="Text 5"/>
          <p:cNvSpPr txBox="1"/>
          <p:nvPr/>
        </p:nvSpPr>
        <p:spPr>
          <a:xfrm>
            <a:off x="749808" y="1737360"/>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Volume</a:t>
            </a:r>
            <a:endParaRPr lang="en-US" sz="1500" dirty="0"/>
          </a:p>
        </p:txBody>
      </p:sp>
      <p:sp>
        <p:nvSpPr>
          <p:cNvPr id="8" name="Text 6"/>
          <p:cNvSpPr txBox="1"/>
          <p:nvPr/>
        </p:nvSpPr>
        <p:spPr>
          <a:xfrm>
            <a:off x="749808" y="2139696"/>
            <a:ext cx="3483864" cy="84124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Every lot that TRADED today.</a:t>
            </a:r>
            <a:endParaRPr lang="en-US" sz="1200" dirty="0"/>
          </a:p>
          <a:p>
            <a:pPr indent="0" marL="0">
              <a:lnSpc>
                <a:spcPts val="1700"/>
              </a:lnSpc>
              <a:buNone/>
            </a:pP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Measures activity. Resets to zero each morning.</a:t>
            </a:r>
            <a:endParaRPr lang="en-US" sz="1200" dirty="0"/>
          </a:p>
        </p:txBody>
      </p:sp>
      <p:sp>
        <p:nvSpPr>
          <p:cNvPr id="9" name="Shape 7"/>
          <p:cNvSpPr/>
          <p:nvPr/>
        </p:nvSpPr>
        <p:spPr>
          <a:xfrm>
            <a:off x="4709160" y="1536192"/>
            <a:ext cx="3886200" cy="1645920"/>
          </a:xfrm>
          <a:prstGeom prst="roundRect">
            <a:avLst>
              <a:gd name="adj" fmla="val 3333"/>
            </a:avLst>
          </a:prstGeom>
          <a:solidFill>
            <a:srgbClr val="F7F5F3"/>
          </a:solidFill>
          <a:ln w="9525">
            <a:solidFill>
              <a:srgbClr val="E3DFDA"/>
            </a:solidFill>
            <a:prstDash val="solid"/>
          </a:ln>
        </p:spPr>
      </p:sp>
      <p:sp>
        <p:nvSpPr>
          <p:cNvPr id="10" name="Text 8"/>
          <p:cNvSpPr txBox="1"/>
          <p:nvPr/>
        </p:nvSpPr>
        <p:spPr>
          <a:xfrm>
            <a:off x="4910328" y="1737360"/>
            <a:ext cx="348386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Open interest</a:t>
            </a:r>
            <a:endParaRPr lang="en-US" sz="1500" dirty="0"/>
          </a:p>
        </p:txBody>
      </p:sp>
      <p:sp>
        <p:nvSpPr>
          <p:cNvPr id="11" name="Text 9"/>
          <p:cNvSpPr txBox="1"/>
          <p:nvPr/>
        </p:nvSpPr>
        <p:spPr>
          <a:xfrm>
            <a:off x="4910328" y="2139696"/>
            <a:ext cx="3483864" cy="841248"/>
          </a:xfrm>
          <a:prstGeom prst="rect">
            <a:avLst/>
          </a:prstGeom>
          <a:noFill/>
          <a:ln/>
        </p:spPr>
        <p:txBody>
          <a:bodyPr wrap="square" lIns="0" tIns="0" rIns="0" bIns="0" rtlCol="0" anchor="t"/>
          <a:lstStyle/>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Every lot still OUTSTANDING — open promises held at the clearing house.</a:t>
            </a:r>
            <a:endParaRPr lang="en-US" sz="1200" dirty="0"/>
          </a:p>
          <a:p>
            <a:pPr indent="0" marL="0">
              <a:lnSpc>
                <a:spcPts val="1700"/>
              </a:lnSpc>
              <a:buNone/>
            </a:pPr>
            <a:endParaRPr lang="en-US" sz="1200" dirty="0"/>
          </a:p>
          <a:p>
            <a:pPr indent="0" marL="0">
              <a:lnSpc>
                <a:spcPts val="1700"/>
              </a:lnSpc>
              <a:buNone/>
            </a:pPr>
            <a:r>
              <a:rPr lang="en-US" sz="1200" dirty="0">
                <a:solidFill>
                  <a:srgbClr val="221E1B"/>
                </a:solidFill>
                <a:latin typeface="Calibri" pitchFamily="34" charset="0"/>
                <a:ea typeface="Calibri" pitchFamily="34" charset="-122"/>
                <a:cs typeface="Calibri" pitchFamily="34" charset="-120"/>
              </a:rPr>
              <a:t>Measures positions. Carried overnight.</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8046720" cy="914400"/>
        </p:xfrm>
        <a:graphic>
          <a:graphicData uri="http://schemas.openxmlformats.org/drawingml/2006/table">
            <a:tbl>
              <a:tblPr/>
              <a:tblGrid>
                <a:gridCol w="2651760"/>
                <a:gridCol w="5394960"/>
              </a:tblGrid>
              <a:tr h="310896">
                <a:tc>
                  <a:txBody>
                    <a:bodyPr/>
                    <a:lstStyle/>
                    <a:p>
                      <a:pPr indent="0" marL="0">
                        <a:buNone/>
                      </a:pPr>
                      <a:r>
                        <a:rPr lang="en-US" sz="1200" b="1" dirty="0">
                          <a:solidFill>
                            <a:srgbClr val="221E1B"/>
                          </a:solidFill>
                          <a:latin typeface="Calibri" pitchFamily="34" charset="0"/>
                          <a:ea typeface="Calibri" pitchFamily="34" charset="-122"/>
                          <a:cs typeface="Calibri" pitchFamily="34" charset="-120"/>
                        </a:rPr>
                        <a:t>What you see</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c>
                  <a:txBody>
                    <a:bodyPr/>
                    <a:lstStyle/>
                    <a:p>
                      <a:pPr indent="0" marL="0">
                        <a:buNone/>
                      </a:pPr>
                      <a:r>
                        <a:rPr lang="en-US" sz="1200" b="1" dirty="0">
                          <a:solidFill>
                            <a:srgbClr val="221E1B"/>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r>
              <a:tr h="310896">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Volume high, OI rising</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New money entering — fresh longs meeting fresh shorts. Conviction.</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10896">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Volume high, OI flat</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Positions churning hands. Day traders passing the same risk around.</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10896">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Volume high, OI falling</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Holders leaving. A rally on falling OI is shorts covering, not buyers arriving.</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instruments</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Margin: the cash reality of a hedge</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THE INSTRUMENTS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27</a:t>
            </a:r>
            <a:endParaRPr lang="en-US" sz="800" dirty="0"/>
          </a:p>
        </p:txBody>
      </p:sp>
      <p:sp>
        <p:nvSpPr>
          <p:cNvPr id="6" name="Text 4"/>
          <p:cNvSpPr txBox="1"/>
          <p:nvPr/>
        </p:nvSpPr>
        <p:spPr>
          <a:xfrm>
            <a:off x="548640" y="1572768"/>
            <a:ext cx="5120640" cy="1463040"/>
          </a:xfrm>
          <a:prstGeom prst="rect">
            <a:avLst/>
          </a:prstGeom>
          <a:noFill/>
          <a:ln/>
        </p:spPr>
        <p:txBody>
          <a:bodyPr wrap="square" lIns="0" tIns="0" rIns="0" bIns="0" rtlCol="0" anchor="t"/>
          <a:lstStyle/>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You are an exporter, short 10 lots of Robusta at $4,500/t, hedging unsold physical. Every $1/t move is $100 on the position.</a:t>
            </a:r>
            <a:endParaRPr lang="en-US" sz="1400" dirty="0"/>
          </a:p>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The market rallies for four days. Twenty thousand dollars wires OUT of your account — while the coffee that backs the hedge sits in the warehouse, unsold and unfinanceable.</a:t>
            </a:r>
            <a:endParaRPr lang="en-US" sz="1400" dirty="0"/>
          </a:p>
        </p:txBody>
      </p:sp>
      <p:sp>
        <p:nvSpPr>
          <p:cNvPr id="7" name="Shape 5"/>
          <p:cNvSpPr/>
          <p:nvPr/>
        </p:nvSpPr>
        <p:spPr>
          <a:xfrm>
            <a:off x="5852160" y="1572768"/>
            <a:ext cx="2743200" cy="1463040"/>
          </a:xfrm>
          <a:prstGeom prst="roundRect">
            <a:avLst>
              <a:gd name="adj" fmla="val 3750"/>
            </a:avLst>
          </a:prstGeom>
          <a:solidFill>
            <a:srgbClr val="F7F5F3"/>
          </a:solidFill>
          <a:ln w="12700">
            <a:solidFill>
              <a:srgbClr val="A34B12"/>
            </a:solidFill>
            <a:prstDash val="solid"/>
          </a:ln>
        </p:spPr>
      </p:sp>
      <p:sp>
        <p:nvSpPr>
          <p:cNvPr id="8" name="Text 6"/>
          <p:cNvSpPr txBox="1"/>
          <p:nvPr/>
        </p:nvSpPr>
        <p:spPr>
          <a:xfrm>
            <a:off x="6035040" y="1783080"/>
            <a:ext cx="2377440" cy="1097280"/>
          </a:xfrm>
          <a:prstGeom prst="rect">
            <a:avLst/>
          </a:prstGeom>
          <a:noFill/>
          <a:ln/>
        </p:spPr>
        <p:txBody>
          <a:bodyPr wrap="square" lIns="0" tIns="0" rIns="0" bIns="0" rtlCol="0" anchor="ctr"/>
          <a:lstStyle/>
          <a:p>
            <a:pPr indent="0" marL="0">
              <a:lnSpc>
                <a:spcPts val="2100"/>
              </a:lnSpc>
              <a:buNone/>
            </a:pPr>
            <a:r>
              <a:rPr lang="en-US" sz="1500" b="1" dirty="0">
                <a:solidFill>
                  <a:srgbClr val="221E1B"/>
                </a:solidFill>
                <a:latin typeface="Cambria" pitchFamily="34" charset="0"/>
                <a:ea typeface="Cambria" pitchFamily="34" charset="-122"/>
                <a:cs typeface="Cambria" pitchFamily="34" charset="-120"/>
              </a:rPr>
              <a:t>The hedge is economically perfect and cash-flow brutal.</a:t>
            </a:r>
            <a:endParaRPr lang="en-US" sz="1500" dirty="0"/>
          </a:p>
        </p:txBody>
      </p:sp>
      <p:sp>
        <p:nvSpPr>
          <p:cNvPr id="9" name="Shape 7"/>
          <p:cNvSpPr/>
          <p:nvPr/>
        </p:nvSpPr>
        <p:spPr>
          <a:xfrm>
            <a:off x="548640" y="3246120"/>
            <a:ext cx="8046720" cy="960120"/>
          </a:xfrm>
          <a:prstGeom prst="roundRect">
            <a:avLst>
              <a:gd name="adj" fmla="val 5714"/>
            </a:avLst>
          </a:prstGeom>
          <a:solidFill>
            <a:srgbClr val="221E1B"/>
          </a:solidFill>
          <a:ln w="12700">
            <a:solidFill>
              <a:srgbClr val="221E1B"/>
            </a:solidFill>
            <a:prstDash val="solid"/>
          </a:ln>
        </p:spPr>
      </p:sp>
      <p:sp>
        <p:nvSpPr>
          <p:cNvPr id="10" name="Text 8"/>
          <p:cNvSpPr txBox="1"/>
          <p:nvPr/>
        </p:nvSpPr>
        <p:spPr>
          <a:xfrm>
            <a:off x="822960" y="3383280"/>
            <a:ext cx="7498080" cy="365760"/>
          </a:xfrm>
          <a:prstGeom prst="rect">
            <a:avLst/>
          </a:prstGeom>
          <a:noFill/>
          <a:ln/>
        </p:spPr>
        <p:txBody>
          <a:bodyPr wrap="square" lIns="0" tIns="0" rIns="0" bIns="0" rtlCol="0" anchor="ctr"/>
          <a:lstStyle/>
          <a:p>
            <a:pPr indent="0" marL="0">
              <a:buNone/>
            </a:pPr>
            <a:r>
              <a:rPr lang="en-US" sz="1700" dirty="0">
                <a:solidFill>
                  <a:srgbClr val="FFFFFF"/>
                </a:solidFill>
                <a:latin typeface="Cambria" pitchFamily="34" charset="0"/>
                <a:ea typeface="Cambria" pitchFamily="34" charset="-122"/>
                <a:cs typeface="Cambria" pitchFamily="34" charset="-120"/>
              </a:rPr>
              <a:t>A margin call is not a liquidation. The first UNFUNDED one is.</a:t>
            </a:r>
            <a:endParaRPr lang="en-US" sz="1700" dirty="0"/>
          </a:p>
        </p:txBody>
      </p:sp>
      <p:sp>
        <p:nvSpPr>
          <p:cNvPr id="11" name="Text 9"/>
          <p:cNvSpPr txBox="1"/>
          <p:nvPr/>
        </p:nvSpPr>
        <p:spPr>
          <a:xfrm>
            <a:off x="822960" y="3749040"/>
            <a:ext cx="7498080" cy="365760"/>
          </a:xfrm>
          <a:prstGeom prst="rect">
            <a:avLst/>
          </a:prstGeom>
          <a:noFill/>
          <a:ln/>
        </p:spPr>
        <p:txBody>
          <a:bodyPr wrap="square" lIns="0" tIns="0" rIns="0" bIns="0" rtlCol="0" anchor="ctr"/>
          <a:lstStyle/>
          <a:p>
            <a:pPr indent="0" marL="0">
              <a:buNone/>
            </a:pPr>
            <a:r>
              <a:rPr lang="en-US" sz="1200" dirty="0">
                <a:solidFill>
                  <a:srgbClr val="9A8F86"/>
                </a:solidFill>
                <a:latin typeface="Calibri" pitchFamily="34" charset="0"/>
                <a:ea typeface="Calibri" pitchFamily="34" charset="-122"/>
                <a:cs typeface="Calibri" pitchFamily="34" charset="-120"/>
              </a:rPr>
              <a:t>Ashanti's gold hedges, 1999. European utilities, 2022. A hedging programme without a liquidity line is a speculation on your own funding.</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instruments</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Swaps: the OTC cousin</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THE INSTRUMENTS</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28</a:t>
            </a:r>
            <a:endParaRPr lang="en-US" sz="800" dirty="0"/>
          </a:p>
        </p:txBody>
      </p:sp>
      <p:sp>
        <p:nvSpPr>
          <p:cNvPr id="6" name="Text 4"/>
          <p:cNvSpPr txBox="1"/>
          <p:nvPr/>
        </p:nvSpPr>
        <p:spPr>
          <a:xfrm>
            <a:off x="548640" y="1554480"/>
            <a:ext cx="8046720" cy="640080"/>
          </a:xfrm>
          <a:prstGeom prst="rect">
            <a:avLst/>
          </a:prstGeom>
          <a:noFill/>
          <a:ln/>
        </p:spPr>
        <p:txBody>
          <a:bodyPr wrap="square" lIns="0" tIns="0" rIns="0" bIns="0" rtlCol="0" anchor="t"/>
          <a:lstStyle/>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A bilateral agreement to exchange cash flows against a published index. The producer receives fixed, pays floating — so their price is fixed wherever the market goes.</a:t>
            </a:r>
            <a:endParaRPr lang="en-US" sz="1400" dirty="0"/>
          </a:p>
        </p:txBody>
      </p:sp>
      <p:graphicFrame>
        <p:nvGraphicFramePr>
          <p:cNvPr id="7" name="Chart 0" descr=""/>
          <p:cNvGraphicFramePr/>
          <p:nvPr/>
        </p:nvGraphicFramePr>
        <p:xfrm>
          <a:off x="548640" y="2240280"/>
          <a:ext cx="4754880" cy="1920240"/>
        </p:xfrm>
        <a:graphic xmlns:a="http://schemas.openxmlformats.org/drawingml/2006/main">
          <a:graphicData uri="http://schemas.openxmlformats.org/drawingml/2006/chart">
            <c:chart xmlns:c="http://schemas.openxmlformats.org/drawingml/2006/chart" r:id="rId1"/>
          </a:graphicData>
        </a:graphic>
      </p:graphicFrame>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577840" y="2286000"/>
          <a:ext cx="3017520" cy="914400"/>
        </p:xfrm>
        <a:graphic>
          <a:graphicData uri="http://schemas.openxmlformats.org/drawingml/2006/table">
            <a:tbl>
              <a:tblPr/>
              <a:tblGrid>
                <a:gridCol w="1097280"/>
                <a:gridCol w="914400"/>
                <a:gridCol w="1005840"/>
              </a:tblGrid>
              <a:tr h="329184">
                <a:tc>
                  <a:txBody>
                    <a:bodyPr/>
                    <a:lstStyle/>
                    <a:p>
                      <a:pPr indent="0" marL="0">
                        <a:buNone/>
                      </a:pPr>
                      <a:r>
                        <a:rPr lang="en-US" sz="1100" b="1" dirty="0">
                          <a:solidFill>
                            <a:srgbClr val="221E1B"/>
                          </a:solidFill>
                          <a:latin typeface="Calibri" pitchFamily="34" charset="0"/>
                          <a:ea typeface="Calibri" pitchFamily="34" charset="-122"/>
                          <a:cs typeface="Calibri" pitchFamily="34" charset="-120"/>
                        </a:rPr>
                        <a:t>Month</a:t>
                      </a:r>
                      <a:endParaRPr lang="en-US" sz="11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c>
                  <a:txBody>
                    <a:bodyPr/>
                    <a:lstStyle/>
                    <a:p>
                      <a:pPr indent="0" marL="0">
                        <a:buNone/>
                      </a:pPr>
                      <a:r>
                        <a:rPr lang="en-US" sz="1100" b="1" dirty="0">
                          <a:solidFill>
                            <a:srgbClr val="221E1B"/>
                          </a:solidFill>
                          <a:latin typeface="Calibri" pitchFamily="34" charset="0"/>
                          <a:ea typeface="Calibri" pitchFamily="34" charset="-122"/>
                          <a:cs typeface="Calibri" pitchFamily="34" charset="-120"/>
                        </a:rPr>
                        <a:t>Index avg</a:t>
                      </a:r>
                      <a:endParaRPr lang="en-US" sz="11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c>
                  <a:txBody>
                    <a:bodyPr/>
                    <a:lstStyle/>
                    <a:p>
                      <a:pPr indent="0" marL="0">
                        <a:buNone/>
                      </a:pPr>
                      <a:r>
                        <a:rPr lang="en-US" sz="1100" b="1" dirty="0">
                          <a:solidFill>
                            <a:srgbClr val="221E1B"/>
                          </a:solidFill>
                          <a:latin typeface="Calibri" pitchFamily="34" charset="0"/>
                          <a:ea typeface="Calibri" pitchFamily="34" charset="-122"/>
                          <a:cs typeface="Calibri" pitchFamily="34" charset="-120"/>
                        </a:rPr>
                        <a:t>Fixed − floating</a:t>
                      </a:r>
                      <a:endParaRPr lang="en-US" sz="11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r>
              <a:tr h="329184">
                <a:tc>
                  <a:txBody>
                    <a:bodyPr/>
                    <a:lstStyle/>
                    <a:p>
                      <a:pPr indent="0" marL="0">
                        <a:buNone/>
                      </a:pPr>
                      <a:r>
                        <a:rPr lang="en-US" sz="1100" dirty="0">
                          <a:solidFill>
                            <a:srgbClr val="221E1B"/>
                          </a:solidFill>
                          <a:latin typeface="Calibri" pitchFamily="34" charset="0"/>
                          <a:ea typeface="Calibri" pitchFamily="34" charset="-122"/>
                          <a:cs typeface="Calibri" pitchFamily="34" charset="-120"/>
                        </a:rPr>
                        <a:t>January</a:t>
                      </a:r>
                      <a:endParaRPr lang="en-US" sz="11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algn="r" indent="0" marL="0">
                        <a:buNone/>
                      </a:pPr>
                      <a:r>
                        <a:rPr lang="en-US" sz="1100" dirty="0">
                          <a:solidFill>
                            <a:srgbClr val="221E1B"/>
                          </a:solidFill>
                          <a:latin typeface="Courier New" pitchFamily="34" charset="0"/>
                          <a:ea typeface="Courier New" pitchFamily="34" charset="-122"/>
                          <a:cs typeface="Courier New" pitchFamily="34" charset="-120"/>
                        </a:rPr>
                        <a:t>4,150</a:t>
                      </a:r>
                      <a:endParaRPr lang="en-US" sz="1100" dirty="0">
                        <a:latin typeface="Courier New" charset="0"/>
                        <a:ea typeface="Courier New" charset="0"/>
                        <a:cs typeface="Courier New"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algn="r" indent="0" marL="0">
                        <a:buNone/>
                      </a:pPr>
                      <a:r>
                        <a:rPr lang="en-US" sz="1100" dirty="0">
                          <a:solidFill>
                            <a:srgbClr val="221E1B"/>
                          </a:solidFill>
                          <a:latin typeface="Courier New" pitchFamily="34" charset="0"/>
                          <a:ea typeface="Courier New" pitchFamily="34" charset="-122"/>
                          <a:cs typeface="Courier New" pitchFamily="34" charset="-120"/>
                        </a:rPr>
                        <a:t>+150 /t</a:t>
                      </a:r>
                      <a:endParaRPr lang="en-US" sz="1100" dirty="0">
                        <a:latin typeface="Courier New" charset="0"/>
                        <a:ea typeface="Courier New" charset="0"/>
                        <a:cs typeface="Courier New"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29184">
                <a:tc>
                  <a:txBody>
                    <a:bodyPr/>
                    <a:lstStyle/>
                    <a:p>
                      <a:pPr indent="0" marL="0">
                        <a:buNone/>
                      </a:pPr>
                      <a:r>
                        <a:rPr lang="en-US" sz="1100" dirty="0">
                          <a:solidFill>
                            <a:srgbClr val="221E1B"/>
                          </a:solidFill>
                          <a:latin typeface="Calibri" pitchFamily="34" charset="0"/>
                          <a:ea typeface="Calibri" pitchFamily="34" charset="-122"/>
                          <a:cs typeface="Calibri" pitchFamily="34" charset="-120"/>
                        </a:rPr>
                        <a:t>February</a:t>
                      </a:r>
                      <a:endParaRPr lang="en-US" sz="11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algn="r" indent="0" marL="0">
                        <a:buNone/>
                      </a:pPr>
                      <a:r>
                        <a:rPr lang="en-US" sz="1100" dirty="0">
                          <a:solidFill>
                            <a:srgbClr val="221E1B"/>
                          </a:solidFill>
                          <a:latin typeface="Courier New" pitchFamily="34" charset="0"/>
                          <a:ea typeface="Courier New" pitchFamily="34" charset="-122"/>
                          <a:cs typeface="Courier New" pitchFamily="34" charset="-120"/>
                        </a:rPr>
                        <a:t>4,420</a:t>
                      </a:r>
                      <a:endParaRPr lang="en-US" sz="1100" dirty="0">
                        <a:latin typeface="Courier New" charset="0"/>
                        <a:ea typeface="Courier New" charset="0"/>
                        <a:cs typeface="Courier New"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algn="r" indent="0" marL="0">
                        <a:buNone/>
                      </a:pPr>
                      <a:r>
                        <a:rPr lang="en-US" sz="1100" dirty="0">
                          <a:solidFill>
                            <a:srgbClr val="221E1B"/>
                          </a:solidFill>
                          <a:latin typeface="Courier New" pitchFamily="34" charset="0"/>
                          <a:ea typeface="Courier New" pitchFamily="34" charset="-122"/>
                          <a:cs typeface="Courier New" pitchFamily="34" charset="-120"/>
                        </a:rPr>
                        <a:t>−120 /t</a:t>
                      </a:r>
                      <a:endParaRPr lang="en-US" sz="1100" dirty="0">
                        <a:latin typeface="Courier New" charset="0"/>
                        <a:ea typeface="Courier New" charset="0"/>
                        <a:cs typeface="Courier New"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29184">
                <a:tc>
                  <a:txBody>
                    <a:bodyPr/>
                    <a:lstStyle/>
                    <a:p>
                      <a:pPr indent="0" marL="0">
                        <a:buNone/>
                      </a:pPr>
                      <a:r>
                        <a:rPr lang="en-US" sz="1100" dirty="0">
                          <a:solidFill>
                            <a:srgbClr val="221E1B"/>
                          </a:solidFill>
                          <a:latin typeface="Calibri" pitchFamily="34" charset="0"/>
                          <a:ea typeface="Calibri" pitchFamily="34" charset="-122"/>
                          <a:cs typeface="Calibri" pitchFamily="34" charset="-120"/>
                        </a:rPr>
                        <a:t>March</a:t>
                      </a:r>
                      <a:endParaRPr lang="en-US" sz="11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algn="r" indent="0" marL="0">
                        <a:buNone/>
                      </a:pPr>
                      <a:r>
                        <a:rPr lang="en-US" sz="1100" dirty="0">
                          <a:solidFill>
                            <a:srgbClr val="221E1B"/>
                          </a:solidFill>
                          <a:latin typeface="Courier New" pitchFamily="34" charset="0"/>
                          <a:ea typeface="Courier New" pitchFamily="34" charset="-122"/>
                          <a:cs typeface="Courier New" pitchFamily="34" charset="-120"/>
                        </a:rPr>
                        <a:t>4,300</a:t>
                      </a:r>
                      <a:endParaRPr lang="en-US" sz="1100" dirty="0">
                        <a:latin typeface="Courier New" charset="0"/>
                        <a:ea typeface="Courier New" charset="0"/>
                        <a:cs typeface="Courier New"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algn="r" indent="0" marL="0">
                        <a:buNone/>
                      </a:pPr>
                      <a:r>
                        <a:rPr lang="en-US" sz="1100" dirty="0">
                          <a:solidFill>
                            <a:srgbClr val="221E1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bl>
          </a:graphicData>
        </a:graphic>
      </p:graphicFrame>
      <p:sp>
        <p:nvSpPr>
          <p:cNvPr id="9" name="Text 5"/>
          <p:cNvSpPr txBox="1"/>
          <p:nvPr/>
        </p:nvSpPr>
        <p:spPr>
          <a:xfrm>
            <a:off x="5577840" y="3749040"/>
            <a:ext cx="3017520" cy="457200"/>
          </a:xfrm>
          <a:prstGeom prst="rect">
            <a:avLst/>
          </a:prstGeom>
          <a:noFill/>
          <a:ln/>
        </p:spPr>
        <p:txBody>
          <a:bodyPr wrap="square" lIns="0" tIns="0" rIns="0" bIns="0" rtlCol="0" anchor="ctr"/>
          <a:lstStyle/>
          <a:p>
            <a:pPr indent="0" marL="0">
              <a:lnSpc>
                <a:spcPts val="1600"/>
              </a:lnSpc>
              <a:buNone/>
            </a:pPr>
            <a:r>
              <a:rPr lang="en-US" sz="1150" dirty="0">
                <a:solidFill>
                  <a:srgbClr val="6B655F"/>
                </a:solidFill>
                <a:latin typeface="Calibri" pitchFamily="34" charset="0"/>
                <a:ea typeface="Calibri" pitchFamily="34" charset="-122"/>
                <a:cs typeface="Calibri" pitchFamily="34" charset="-120"/>
              </a:rPr>
              <a:t>500 t/month fixed at $4,300/t. Effective price: $4,300, whichever way the index goes.</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21E1B"/>
        </a:solidFill>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lstStyle/>
          <a:p>
            <a:pPr indent="0" marL="0">
              <a:buNone/>
            </a:pPr>
            <a:r>
              <a:rPr lang="en-US" sz="5400" dirty="0">
                <a:solidFill>
                  <a:srgbClr val="A34B12"/>
                </a:solidFill>
                <a:latin typeface="Courier New" pitchFamily="34" charset="0"/>
                <a:ea typeface="Courier New" pitchFamily="34" charset="-122"/>
                <a:cs typeface="Courier New" pitchFamily="34" charset="-120"/>
              </a:rPr>
              <a:t>05</a:t>
            </a:r>
            <a:endParaRPr lang="en-US" sz="5400" dirty="0"/>
          </a:p>
        </p:txBody>
      </p:sp>
      <p:sp>
        <p:nvSpPr>
          <p:cNvPr id="3" name="Text 1"/>
          <p:cNvSpPr txBox="1"/>
          <p:nvPr/>
        </p:nvSpPr>
        <p:spPr>
          <a:xfrm>
            <a:off x="548640" y="2377440"/>
            <a:ext cx="80467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Market structure</a:t>
            </a:r>
            <a:endParaRPr lang="en-US" sz="3400" dirty="0"/>
          </a:p>
        </p:txBody>
      </p:sp>
      <p:sp>
        <p:nvSpPr>
          <p:cNvPr id="4" name="Text 2"/>
          <p:cNvSpPr txBox="1"/>
          <p:nvPr/>
        </p:nvSpPr>
        <p:spPr>
          <a:xfrm>
            <a:off x="548640" y="3200400"/>
            <a:ext cx="6675120" cy="548640"/>
          </a:xfrm>
          <a:prstGeom prst="rect">
            <a:avLst/>
          </a:prstGeom>
          <a:noFill/>
          <a:ln/>
        </p:spPr>
        <p:txBody>
          <a:bodyPr wrap="square" lIns="0" tIns="0" rIns="0" bIns="0" rtlCol="0" anchor="ctr"/>
          <a:lstStyle/>
          <a:p>
            <a:pPr indent="0" marL="0">
              <a:lnSpc>
                <a:spcPts val="2000"/>
              </a:lnSpc>
              <a:buNone/>
            </a:pPr>
            <a:r>
              <a:rPr lang="en-US" sz="1400" dirty="0">
                <a:solidFill>
                  <a:srgbClr val="9A8F86"/>
                </a:solidFill>
                <a:latin typeface="Calibri" pitchFamily="34" charset="0"/>
                <a:ea typeface="Calibri" pitchFamily="34" charset="-122"/>
                <a:cs typeface="Calibri" pitchFamily="34" charset="-120"/>
              </a:rPr>
              <a:t>The shape of the forward curve, and what it is telling you.</a:t>
            </a:r>
            <a:endParaRPr lang="en-US" sz="1400" dirty="0"/>
          </a:p>
        </p:txBody>
      </p:sp>
      <p:sp>
        <p:nvSpPr>
          <p:cNvPr id="5" name="Text 3"/>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E6259"/>
                </a:solidFill>
                <a:latin typeface="Courier New" pitchFamily="34" charset="0"/>
                <a:ea typeface="Courier New" pitchFamily="34" charset="-122"/>
                <a:cs typeface="Courier New" pitchFamily="34" charset="-120"/>
              </a:rPr>
              <a:t>MARKET STRUCTURE</a:t>
            </a:r>
            <a:endParaRPr lang="en-US" sz="800" dirty="0"/>
          </a:p>
        </p:txBody>
      </p:sp>
      <p:sp>
        <p:nvSpPr>
          <p:cNvPr id="6" name="Text 4"/>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E6259"/>
                </a:solidFill>
                <a:latin typeface="Courier New" pitchFamily="34" charset="0"/>
                <a:ea typeface="Courier New" pitchFamily="34" charset="-122"/>
                <a:cs typeface="Courier New" pitchFamily="34" charset="-120"/>
              </a:rPr>
              <a:t>29</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market structure</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Contango and backwardation</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MARKET STRUCTURE</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30</a:t>
            </a:r>
            <a:endParaRPr lang="en-US" sz="800" dirty="0"/>
          </a:p>
        </p:txBody>
      </p:sp>
      <p:graphicFrame>
        <p:nvGraphicFramePr>
          <p:cNvPr id="6" name="Chart 0" descr=""/>
          <p:cNvGraphicFramePr/>
          <p:nvPr/>
        </p:nvGraphicFramePr>
        <p:xfrm>
          <a:off x="548640" y="1508760"/>
          <a:ext cx="4937760" cy="26517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760720" y="1600200"/>
            <a:ext cx="2834640" cy="2651760"/>
          </a:xfrm>
          <a:prstGeom prst="rect">
            <a:avLst/>
          </a:prstGeom>
          <a:noFill/>
          <a:ln/>
        </p:spPr>
        <p:txBody>
          <a:bodyPr wrap="square" lIns="0" tIns="0" rIns="0" bIns="0" rtlCol="0" anchor="t"/>
          <a:lstStyle/>
          <a:p>
            <a:pPr indent="0" marL="0">
              <a:lnSpc>
                <a:spcPts val="1700"/>
              </a:lnSpc>
              <a:spcAft>
                <a:spcPts val="200"/>
              </a:spcAft>
              <a:buNone/>
            </a:pPr>
            <a:r>
              <a:rPr lang="en-US" sz="1150" b="1" dirty="0">
                <a:solidFill>
                  <a:srgbClr val="A34B12"/>
                </a:solidFill>
                <a:latin typeface="Calibri" pitchFamily="34" charset="0"/>
                <a:ea typeface="Calibri" pitchFamily="34" charset="-122"/>
                <a:cs typeface="Calibri" pitchFamily="34" charset="-120"/>
              </a:rPr>
              <a:t>Contango — forward above spot</a:t>
            </a:r>
            <a:endParaRPr lang="en-US" sz="1150" dirty="0"/>
          </a:p>
          <a:p>
            <a:pPr indent="0" marL="0">
              <a:lnSpc>
                <a:spcPts val="1700"/>
              </a:lnSpc>
              <a:spcAft>
                <a:spcPts val="200"/>
              </a:spcAft>
              <a:buNone/>
            </a:pPr>
            <a:r>
              <a:rPr lang="en-US" sz="1150" dirty="0">
                <a:solidFill>
                  <a:srgbClr val="221E1B"/>
                </a:solidFill>
                <a:latin typeface="Calibri" pitchFamily="34" charset="0"/>
                <a:ea typeface="Calibri" pitchFamily="34" charset="-122"/>
                <a:cs typeface="Calibri" pitchFamily="34" charset="-120"/>
              </a:rPr>
              <a:t>The normal state for a storable commodity. Reflects the cost of carry: storage, insurance, financing. Signals adequate nearby supply.
</a:t>
            </a:r>
            <a:endParaRPr lang="en-US" sz="1150" dirty="0"/>
          </a:p>
          <a:p>
            <a:pPr indent="0" marL="0">
              <a:lnSpc>
                <a:spcPts val="1700"/>
              </a:lnSpc>
              <a:spcAft>
                <a:spcPts val="200"/>
              </a:spcAft>
              <a:buNone/>
            </a:pPr>
            <a:r>
              <a:rPr lang="en-US" sz="1150" b="1" dirty="0">
                <a:solidFill>
                  <a:srgbClr val="46505A"/>
                </a:solidFill>
                <a:latin typeface="Calibri" pitchFamily="34" charset="0"/>
                <a:ea typeface="Calibri" pitchFamily="34" charset="-122"/>
                <a:cs typeface="Calibri" pitchFamily="34" charset="-120"/>
              </a:rPr>
              <a:t>Backwardation — forward below spot</a:t>
            </a:r>
            <a:endParaRPr lang="en-US" sz="1150" dirty="0"/>
          </a:p>
          <a:p>
            <a:pPr indent="0" marL="0">
              <a:lnSpc>
                <a:spcPts val="1700"/>
              </a:lnSpc>
              <a:spcAft>
                <a:spcPts val="200"/>
              </a:spcAft>
              <a:buNone/>
            </a:pPr>
            <a:r>
              <a:rPr lang="en-US" sz="1150" dirty="0">
                <a:solidFill>
                  <a:srgbClr val="221E1B"/>
                </a:solidFill>
                <a:latin typeface="Calibri" pitchFamily="34" charset="0"/>
                <a:ea typeface="Calibri" pitchFamily="34" charset="-122"/>
                <a:cs typeface="Calibri" pitchFamily="34" charset="-120"/>
              </a:rPr>
              <a:t>Spot commands a premium. Signals tight nearby supply or urgent demand — disruptions, drawdowns, harvest seasons.</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market structure</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Contango pays for storage</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MARKET STRUCTURE</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31</a:t>
            </a:r>
            <a:endParaRPr lang="en-US" sz="800" dirty="0"/>
          </a:p>
        </p:txBody>
      </p:sp>
      <p:sp>
        <p:nvSpPr>
          <p:cNvPr id="6" name="Shape 4"/>
          <p:cNvSpPr/>
          <p:nvPr/>
        </p:nvSpPr>
        <p:spPr>
          <a:xfrm>
            <a:off x="548640" y="1645920"/>
            <a:ext cx="1805940" cy="731520"/>
          </a:xfrm>
          <a:prstGeom prst="roundRect">
            <a:avLst>
              <a:gd name="adj" fmla="val 7500"/>
            </a:avLst>
          </a:prstGeom>
          <a:solidFill>
            <a:srgbClr val="F7F5F3"/>
          </a:solidFill>
          <a:ln w="9525">
            <a:solidFill>
              <a:srgbClr val="E3DFDA"/>
            </a:solidFill>
            <a:prstDash val="solid"/>
          </a:ln>
        </p:spPr>
      </p:sp>
      <p:sp>
        <p:nvSpPr>
          <p:cNvPr id="7" name="Text 5"/>
          <p:cNvSpPr txBox="1"/>
          <p:nvPr/>
        </p:nvSpPr>
        <p:spPr>
          <a:xfrm>
            <a:off x="658368" y="1645920"/>
            <a:ext cx="1586484" cy="731520"/>
          </a:xfrm>
          <a:prstGeom prst="rect">
            <a:avLst/>
          </a:prstGeom>
          <a:noFill/>
          <a:ln/>
        </p:spPr>
        <p:txBody>
          <a:bodyPr wrap="square" lIns="0" tIns="0" rIns="0" bIns="0" rtlCol="0" anchor="ctr"/>
          <a:lstStyle/>
          <a:p>
            <a:pPr algn="ctr" indent="0" marL="0">
              <a:buNone/>
            </a:pPr>
            <a:r>
              <a:rPr lang="en-US" sz="1200" dirty="0">
                <a:solidFill>
                  <a:srgbClr val="221E1B"/>
                </a:solidFill>
                <a:latin typeface="Calibri" pitchFamily="34" charset="0"/>
                <a:ea typeface="Calibri" pitchFamily="34" charset="-122"/>
                <a:cs typeface="Calibri" pitchFamily="34" charset="-120"/>
              </a:rPr>
              <a:t>Buy spot</a:t>
            </a:r>
            <a:endParaRPr lang="en-US" sz="1200" dirty="0"/>
          </a:p>
        </p:txBody>
      </p:sp>
      <p:sp>
        <p:nvSpPr>
          <p:cNvPr id="8" name="Text 6"/>
          <p:cNvSpPr txBox="1"/>
          <p:nvPr/>
        </p:nvSpPr>
        <p:spPr>
          <a:xfrm>
            <a:off x="2354580" y="1645920"/>
            <a:ext cx="274320" cy="731520"/>
          </a:xfrm>
          <a:prstGeom prst="rect">
            <a:avLst/>
          </a:prstGeom>
          <a:noFill/>
          <a:ln/>
        </p:spPr>
        <p:txBody>
          <a:bodyPr wrap="square" lIns="0" tIns="0" rIns="0" bIns="0" rtlCol="0" anchor="ctr"/>
          <a:lstStyle/>
          <a:p>
            <a:pPr algn="ctr" indent="0" marL="0">
              <a:buNone/>
            </a:pPr>
            <a:r>
              <a:rPr lang="en-US" sz="1300" dirty="0">
                <a:solidFill>
                  <a:srgbClr val="6B655F"/>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2628900" y="1645920"/>
            <a:ext cx="1805940" cy="731520"/>
          </a:xfrm>
          <a:prstGeom prst="roundRect">
            <a:avLst>
              <a:gd name="adj" fmla="val 7500"/>
            </a:avLst>
          </a:prstGeom>
          <a:solidFill>
            <a:srgbClr val="F7F5F3"/>
          </a:solidFill>
          <a:ln w="9525">
            <a:solidFill>
              <a:srgbClr val="E3DFDA"/>
            </a:solidFill>
            <a:prstDash val="solid"/>
          </a:ln>
        </p:spPr>
      </p:sp>
      <p:sp>
        <p:nvSpPr>
          <p:cNvPr id="10" name="Text 8"/>
          <p:cNvSpPr txBox="1"/>
          <p:nvPr/>
        </p:nvSpPr>
        <p:spPr>
          <a:xfrm>
            <a:off x="2738628" y="1645920"/>
            <a:ext cx="1586484" cy="731520"/>
          </a:xfrm>
          <a:prstGeom prst="rect">
            <a:avLst/>
          </a:prstGeom>
          <a:noFill/>
          <a:ln/>
        </p:spPr>
        <p:txBody>
          <a:bodyPr wrap="square" lIns="0" tIns="0" rIns="0" bIns="0" rtlCol="0" anchor="ctr"/>
          <a:lstStyle/>
          <a:p>
            <a:pPr algn="ctr" indent="0" marL="0">
              <a:buNone/>
            </a:pPr>
            <a:r>
              <a:rPr lang="en-US" sz="1200" dirty="0">
                <a:solidFill>
                  <a:srgbClr val="221E1B"/>
                </a:solidFill>
                <a:latin typeface="Calibri" pitchFamily="34" charset="0"/>
                <a:ea typeface="Calibri" pitchFamily="34" charset="-122"/>
                <a:cs typeface="Calibri" pitchFamily="34" charset="-120"/>
              </a:rPr>
              <a:t>Store it</a:t>
            </a:r>
            <a:endParaRPr lang="en-US" sz="1200" dirty="0"/>
          </a:p>
        </p:txBody>
      </p:sp>
      <p:sp>
        <p:nvSpPr>
          <p:cNvPr id="11" name="Text 9"/>
          <p:cNvSpPr txBox="1"/>
          <p:nvPr/>
        </p:nvSpPr>
        <p:spPr>
          <a:xfrm>
            <a:off x="4434840" y="1645920"/>
            <a:ext cx="274320" cy="731520"/>
          </a:xfrm>
          <a:prstGeom prst="rect">
            <a:avLst/>
          </a:prstGeom>
          <a:noFill/>
          <a:ln/>
        </p:spPr>
        <p:txBody>
          <a:bodyPr wrap="square" lIns="0" tIns="0" rIns="0" bIns="0" rtlCol="0" anchor="ctr"/>
          <a:lstStyle/>
          <a:p>
            <a:pPr algn="ctr" indent="0" marL="0">
              <a:buNone/>
            </a:pPr>
            <a:r>
              <a:rPr lang="en-US" sz="1300" dirty="0">
                <a:solidFill>
                  <a:srgbClr val="6B655F"/>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4709160" y="1645920"/>
            <a:ext cx="1805940" cy="731520"/>
          </a:xfrm>
          <a:prstGeom prst="roundRect">
            <a:avLst>
              <a:gd name="adj" fmla="val 7500"/>
            </a:avLst>
          </a:prstGeom>
          <a:solidFill>
            <a:srgbClr val="F7F5F3"/>
          </a:solidFill>
          <a:ln w="9525">
            <a:solidFill>
              <a:srgbClr val="E3DFDA"/>
            </a:solidFill>
            <a:prstDash val="solid"/>
          </a:ln>
        </p:spPr>
      </p:sp>
      <p:sp>
        <p:nvSpPr>
          <p:cNvPr id="13" name="Text 11"/>
          <p:cNvSpPr txBox="1"/>
          <p:nvPr/>
        </p:nvSpPr>
        <p:spPr>
          <a:xfrm>
            <a:off x="4818888" y="1645920"/>
            <a:ext cx="1586484" cy="731520"/>
          </a:xfrm>
          <a:prstGeom prst="rect">
            <a:avLst/>
          </a:prstGeom>
          <a:noFill/>
          <a:ln/>
        </p:spPr>
        <p:txBody>
          <a:bodyPr wrap="square" lIns="0" tIns="0" rIns="0" bIns="0" rtlCol="0" anchor="ctr"/>
          <a:lstStyle/>
          <a:p>
            <a:pPr algn="ctr" indent="0" marL="0">
              <a:buNone/>
            </a:pPr>
            <a:r>
              <a:rPr lang="en-US" sz="1200" dirty="0">
                <a:solidFill>
                  <a:srgbClr val="221E1B"/>
                </a:solidFill>
                <a:latin typeface="Calibri" pitchFamily="34" charset="0"/>
                <a:ea typeface="Calibri" pitchFamily="34" charset="-122"/>
                <a:cs typeface="Calibri" pitchFamily="34" charset="-120"/>
              </a:rPr>
              <a:t>Sell forward at the higher price</a:t>
            </a:r>
            <a:endParaRPr lang="en-US" sz="1200" dirty="0"/>
          </a:p>
        </p:txBody>
      </p:sp>
      <p:sp>
        <p:nvSpPr>
          <p:cNvPr id="14" name="Text 12"/>
          <p:cNvSpPr txBox="1"/>
          <p:nvPr/>
        </p:nvSpPr>
        <p:spPr>
          <a:xfrm>
            <a:off x="6515100" y="1645920"/>
            <a:ext cx="274320" cy="731520"/>
          </a:xfrm>
          <a:prstGeom prst="rect">
            <a:avLst/>
          </a:prstGeom>
          <a:noFill/>
          <a:ln/>
        </p:spPr>
        <p:txBody>
          <a:bodyPr wrap="square" lIns="0" tIns="0" rIns="0" bIns="0" rtlCol="0" anchor="ctr"/>
          <a:lstStyle/>
          <a:p>
            <a:pPr algn="ctr" indent="0" marL="0">
              <a:buNone/>
            </a:pPr>
            <a:r>
              <a:rPr lang="en-US" sz="1300" dirty="0">
                <a:solidFill>
                  <a:srgbClr val="6B655F"/>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6789420" y="1645920"/>
            <a:ext cx="1805940" cy="731520"/>
          </a:xfrm>
          <a:prstGeom prst="roundRect">
            <a:avLst>
              <a:gd name="adj" fmla="val 7500"/>
            </a:avLst>
          </a:prstGeom>
          <a:solidFill>
            <a:srgbClr val="F7F5F3"/>
          </a:solidFill>
          <a:ln w="9525">
            <a:solidFill>
              <a:srgbClr val="E3DFDA"/>
            </a:solidFill>
            <a:prstDash val="solid"/>
          </a:ln>
        </p:spPr>
      </p:sp>
      <p:sp>
        <p:nvSpPr>
          <p:cNvPr id="16" name="Text 14"/>
          <p:cNvSpPr txBox="1"/>
          <p:nvPr/>
        </p:nvSpPr>
        <p:spPr>
          <a:xfrm>
            <a:off x="6899148" y="1645920"/>
            <a:ext cx="1586484" cy="731520"/>
          </a:xfrm>
          <a:prstGeom prst="rect">
            <a:avLst/>
          </a:prstGeom>
          <a:noFill/>
          <a:ln/>
        </p:spPr>
        <p:txBody>
          <a:bodyPr wrap="square" lIns="0" tIns="0" rIns="0" bIns="0" rtlCol="0" anchor="ctr"/>
          <a:lstStyle/>
          <a:p>
            <a:pPr algn="ctr" indent="0" marL="0">
              <a:buNone/>
            </a:pPr>
            <a:r>
              <a:rPr lang="en-US" sz="1200" dirty="0">
                <a:solidFill>
                  <a:srgbClr val="221E1B"/>
                </a:solidFill>
                <a:latin typeface="Calibri" pitchFamily="34" charset="0"/>
                <a:ea typeface="Calibri" pitchFamily="34" charset="-122"/>
                <a:cs typeface="Calibri" pitchFamily="34" charset="-120"/>
              </a:rPr>
              <a:t>Earn the spread, minus costs</a:t>
            </a:r>
            <a:endParaRPr lang="en-US" sz="1200" dirty="0"/>
          </a:p>
        </p:txBody>
      </p:sp>
      <p:sp>
        <p:nvSpPr>
          <p:cNvPr id="17" name="Text 15"/>
          <p:cNvSpPr txBox="1"/>
          <p:nvPr/>
        </p:nvSpPr>
        <p:spPr>
          <a:xfrm>
            <a:off x="548640" y="2606040"/>
            <a:ext cx="8046720" cy="365760"/>
          </a:xfrm>
          <a:prstGeom prst="rect">
            <a:avLst/>
          </a:prstGeom>
          <a:noFill/>
          <a:ln/>
        </p:spPr>
        <p:txBody>
          <a:bodyPr wrap="square" lIns="0" tIns="0" rIns="0" bIns="0" rtlCol="0" anchor="ctr"/>
          <a:lstStyle/>
          <a:p>
            <a:pPr indent="0" marL="0">
              <a:buNone/>
            </a:pPr>
            <a:r>
              <a:rPr lang="en-US" sz="1400" dirty="0">
                <a:solidFill>
                  <a:srgbClr val="A34B12"/>
                </a:solidFill>
                <a:latin typeface="Courier New" pitchFamily="34" charset="0"/>
                <a:ea typeface="Courier New" pitchFamily="34" charset="-122"/>
                <a:cs typeface="Courier New" pitchFamily="34" charset="-120"/>
              </a:rPr>
              <a:t>Cost of carry  =  storage  +  insurance  +  financing</a:t>
            </a:r>
            <a:endParaRPr lang="en-US" sz="1400" dirty="0"/>
          </a:p>
        </p:txBody>
      </p:sp>
      <p:sp>
        <p:nvSpPr>
          <p:cNvPr id="18" name="Text 16"/>
          <p:cNvSpPr txBox="1"/>
          <p:nvPr/>
        </p:nvSpPr>
        <p:spPr>
          <a:xfrm>
            <a:off x="548640" y="3108960"/>
            <a:ext cx="8046720" cy="1463040"/>
          </a:xfrm>
          <a:prstGeom prst="rect">
            <a:avLst/>
          </a:prstGeom>
          <a:noFill/>
          <a:ln/>
        </p:spPr>
        <p:txBody>
          <a:bodyPr wrap="square" lIns="0" tIns="0" rIns="0" bIns="0" rtlCol="0" anchor="t"/>
          <a:lstStyle/>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If the forward premium exceeds the cost of carry, this cash-and-carry arbitrage is profitable — and traders do it until the premium collapses back to fair value.</a:t>
            </a:r>
            <a:endParaRPr lang="en-US" sz="1400" dirty="0"/>
          </a:p>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Contango is why oil in tanks, grain in silos and coffee in warehouses are all financed by the forward curve.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21E1B"/>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2011680"/>
          </a:xfrm>
          <a:prstGeom prst="rect">
            <a:avLst/>
          </a:prstGeom>
          <a:noFill/>
          <a:ln/>
        </p:spPr>
        <p:txBody>
          <a:bodyPr wrap="square" lIns="0" tIns="0" rIns="0" bIns="0" rtlCol="0" anchor="ctr"/>
          <a:lstStyle/>
          <a:p>
            <a:pPr indent="0" marL="0">
              <a:lnSpc>
                <a:spcPts val="3800"/>
              </a:lnSpc>
              <a:buNone/>
            </a:pPr>
            <a:r>
              <a:rPr lang="en-US" sz="3000" dirty="0">
                <a:solidFill>
                  <a:srgbClr val="FFFFFF"/>
                </a:solidFill>
                <a:latin typeface="Cambria" pitchFamily="34" charset="0"/>
                <a:ea typeface="Cambria" pitchFamily="34" charset="-122"/>
                <a:cs typeface="Cambria" pitchFamily="34" charset="-120"/>
              </a:rPr>
              <a:t>The forward curve is not a forecast.</a:t>
            </a:r>
            <a:endParaRPr lang="en-US" sz="3000" dirty="0"/>
          </a:p>
        </p:txBody>
      </p:sp>
      <p:sp>
        <p:nvSpPr>
          <p:cNvPr id="3" name="Text 1"/>
          <p:cNvSpPr txBox="1"/>
          <p:nvPr/>
        </p:nvSpPr>
        <p:spPr>
          <a:xfrm>
            <a:off x="548640" y="3566160"/>
            <a:ext cx="8046720" cy="640080"/>
          </a:xfrm>
          <a:prstGeom prst="rect">
            <a:avLst/>
          </a:prstGeom>
          <a:noFill/>
          <a:ln/>
        </p:spPr>
        <p:txBody>
          <a:bodyPr wrap="square" lIns="0" tIns="0" rIns="0" bIns="0" rtlCol="0" anchor="ctr"/>
          <a:lstStyle/>
          <a:p>
            <a:pPr indent="0" marL="0">
              <a:lnSpc>
                <a:spcPts val="1900"/>
              </a:lnSpc>
              <a:buNone/>
            </a:pPr>
            <a:r>
              <a:rPr lang="en-US" sz="1300" dirty="0">
                <a:solidFill>
                  <a:srgbClr val="9A8F86"/>
                </a:solidFill>
                <a:latin typeface="Calibri" pitchFamily="34" charset="0"/>
                <a:ea typeface="Calibri" pitchFamily="34" charset="-122"/>
                <a:cs typeface="Calibri" pitchFamily="34" charset="-120"/>
              </a:rPr>
              <a:t>Spot $60, six-month $67. The $7 is not an opinion about the future — it is the bill for storing, insuring and financing a barrel for six months.</a:t>
            </a:r>
            <a:endParaRPr lang="en-US" sz="13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E6259"/>
                </a:solidFill>
                <a:latin typeface="Courier New" pitchFamily="34" charset="0"/>
                <a:ea typeface="Courier New" pitchFamily="34" charset="-122"/>
                <a:cs typeface="Courier New" pitchFamily="34" charset="-120"/>
              </a:rPr>
              <a:t>MARKET STRUCTURE</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E6259"/>
                </a:solidFill>
                <a:latin typeface="Courier New" pitchFamily="34" charset="0"/>
                <a:ea typeface="Courier New" pitchFamily="34" charset="-122"/>
                <a:cs typeface="Courier New" pitchFamily="34" charset="-120"/>
              </a:rPr>
              <a:t>32</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market structure</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Why it cannot be a forecast</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MARKET STRUCTURE</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33</a:t>
            </a:r>
            <a:endParaRPr lang="en-US" sz="800" dirty="0"/>
          </a:p>
        </p:txBody>
      </p:sp>
      <p:sp>
        <p:nvSpPr>
          <p:cNvPr id="6" name="Text 4"/>
          <p:cNvSpPr txBox="1"/>
          <p:nvPr/>
        </p:nvSpPr>
        <p:spPr>
          <a:xfrm>
            <a:off x="548640" y="1600200"/>
            <a:ext cx="5212080" cy="2651760"/>
          </a:xfrm>
          <a:prstGeom prst="rect">
            <a:avLst/>
          </a:prstGeom>
          <a:noFill/>
          <a:ln/>
        </p:spPr>
        <p:txBody>
          <a:bodyPr wrap="square" lIns="0" tIns="0" rIns="0" bIns="0" rtlCol="0" anchor="t"/>
          <a:lstStyle/>
          <a:p>
            <a:pPr indent="0" marL="0">
              <a:lnSpc>
                <a:spcPts val="2300"/>
              </a:lnSpc>
              <a:spcAft>
                <a:spcPts val="800"/>
              </a:spcAft>
              <a:buNone/>
            </a:pPr>
            <a:r>
              <a:rPr lang="en-US" sz="1400" dirty="0">
                <a:solidFill>
                  <a:srgbClr val="221E1B"/>
                </a:solidFill>
                <a:latin typeface="Calibri" pitchFamily="34" charset="0"/>
                <a:ea typeface="Calibri" pitchFamily="34" charset="-122"/>
                <a:cs typeface="Calibri" pitchFamily="34" charset="-120"/>
              </a:rPr>
              <a:t>Suppose the six-month contract jumped to $75 on pure bullish sentiment.</a:t>
            </a:r>
            <a:endParaRPr lang="en-US" sz="1400" dirty="0"/>
          </a:p>
          <a:p>
            <a:pPr indent="0" marL="0">
              <a:lnSpc>
                <a:spcPts val="2300"/>
              </a:lnSpc>
              <a:spcAft>
                <a:spcPts val="800"/>
              </a:spcAft>
              <a:buNone/>
            </a:pPr>
            <a:r>
              <a:rPr lang="en-US" sz="1400" dirty="0">
                <a:solidFill>
                  <a:srgbClr val="221E1B"/>
                </a:solidFill>
                <a:latin typeface="Calibri" pitchFamily="34" charset="0"/>
                <a:ea typeface="Calibri" pitchFamily="34" charset="-122"/>
                <a:cs typeface="Calibri" pitchFamily="34" charset="-120"/>
              </a:rPr>
              <a:t>Anyone could buy spot at 60, pay about 7 of carry, and sell forward at 75 — a risk-free 8.</a:t>
            </a:r>
            <a:endParaRPr lang="en-US" sz="1400" dirty="0"/>
          </a:p>
          <a:p>
            <a:pPr indent="0" marL="0">
              <a:lnSpc>
                <a:spcPts val="2300"/>
              </a:lnSpc>
              <a:spcAft>
                <a:spcPts val="800"/>
              </a:spcAft>
              <a:buNone/>
            </a:pPr>
            <a:r>
              <a:rPr lang="en-US" sz="1400" dirty="0">
                <a:solidFill>
                  <a:srgbClr val="221E1B"/>
                </a:solidFill>
                <a:latin typeface="Calibri" pitchFamily="34" charset="0"/>
                <a:ea typeface="Calibri" pitchFamily="34" charset="-122"/>
                <a:cs typeface="Calibri" pitchFamily="34" charset="-120"/>
              </a:rPr>
              <a:t>That selling crushes the forward straight back to about 67. The curve is leashed to spot by the cost of carry.</a:t>
            </a:r>
            <a:endParaRPr lang="en-US" sz="1400" dirty="0"/>
          </a:p>
        </p:txBody>
      </p:sp>
      <p:sp>
        <p:nvSpPr>
          <p:cNvPr id="7" name="Shape 5"/>
          <p:cNvSpPr/>
          <p:nvPr/>
        </p:nvSpPr>
        <p:spPr>
          <a:xfrm>
            <a:off x="5943600" y="1600200"/>
            <a:ext cx="2651760" cy="1737360"/>
          </a:xfrm>
          <a:prstGeom prst="roundRect">
            <a:avLst>
              <a:gd name="adj" fmla="val 3158"/>
            </a:avLst>
          </a:prstGeom>
          <a:solidFill>
            <a:srgbClr val="F7F5F3"/>
          </a:solidFill>
          <a:ln w="9525">
            <a:solidFill>
              <a:srgbClr val="E3DFDA"/>
            </a:solidFill>
            <a:prstDash val="solid"/>
          </a:ln>
        </p:spPr>
      </p:sp>
      <p:sp>
        <p:nvSpPr>
          <p:cNvPr id="8" name="Text 6"/>
          <p:cNvSpPr txBox="1"/>
          <p:nvPr/>
        </p:nvSpPr>
        <p:spPr>
          <a:xfrm>
            <a:off x="6126480" y="1783080"/>
            <a:ext cx="2286000" cy="1463040"/>
          </a:xfrm>
          <a:prstGeom prst="rect">
            <a:avLst/>
          </a:prstGeom>
          <a:noFill/>
          <a:ln/>
        </p:spPr>
        <p:txBody>
          <a:bodyPr wrap="square" lIns="0" tIns="0" rIns="0" bIns="0" rtlCol="0" anchor="ctr"/>
          <a:lstStyle/>
          <a:p>
            <a:pPr indent="0" marL="0">
              <a:lnSpc>
                <a:spcPts val="1800"/>
              </a:lnSpc>
              <a:buNone/>
            </a:pPr>
            <a:r>
              <a:rPr lang="en-US" sz="1200" dirty="0">
                <a:solidFill>
                  <a:srgbClr val="221E1B"/>
                </a:solidFill>
                <a:latin typeface="Calibri" pitchFamily="34" charset="0"/>
                <a:ea typeface="Calibri" pitchFamily="34" charset="-122"/>
                <a:cs typeface="Calibri" pitchFamily="34" charset="-120"/>
              </a:rPr>
              <a:t>Contango describes TODAY:</a:t>
            </a:r>
            <a:endParaRPr lang="en-US" sz="1200" dirty="0"/>
          </a:p>
          <a:p>
            <a:pPr indent="0" marL="0">
              <a:lnSpc>
                <a:spcPts val="1800"/>
              </a:lnSpc>
              <a:buNone/>
            </a:pPr>
            <a:endParaRPr lang="en-US" sz="1200" dirty="0"/>
          </a:p>
          <a:p>
            <a:pPr indent="0" marL="0">
              <a:lnSpc>
                <a:spcPts val="1800"/>
              </a:lnSpc>
              <a:buNone/>
            </a:pPr>
            <a:r>
              <a:rPr lang="en-US" sz="1200" dirty="0">
                <a:solidFill>
                  <a:srgbClr val="221E1B"/>
                </a:solidFill>
                <a:latin typeface="Calibri" pitchFamily="34" charset="0"/>
                <a:ea typeface="Calibri" pitchFamily="34" charset="-122"/>
                <a:cs typeface="Calibri" pitchFamily="34" charset="-120"/>
              </a:rPr>
              <a:t>ample supply, demand for storage, and the cost of money.</a:t>
            </a:r>
            <a:endParaRPr lang="en-US" sz="1200" dirty="0"/>
          </a:p>
          <a:p>
            <a:pPr indent="0" marL="0">
              <a:lnSpc>
                <a:spcPts val="1800"/>
              </a:lnSpc>
              <a:buNone/>
            </a:pPr>
            <a:endParaRPr lang="en-US" sz="1200" dirty="0"/>
          </a:p>
          <a:p>
            <a:pPr indent="0" marL="0">
              <a:lnSpc>
                <a:spcPts val="1800"/>
              </a:lnSpc>
              <a:buNone/>
            </a:pPr>
            <a:r>
              <a:rPr lang="en-US" sz="1200" dirty="0">
                <a:solidFill>
                  <a:srgbClr val="221E1B"/>
                </a:solidFill>
                <a:latin typeface="Calibri" pitchFamily="34" charset="0"/>
                <a:ea typeface="Calibri" pitchFamily="34" charset="-122"/>
                <a:cs typeface="Calibri" pitchFamily="34" charset="-120"/>
              </a:rPr>
              <a:t>Not where spot will be at maturity.</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market structure</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Squeezes, and the exchange's toolkit</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MARKET STRUCTURE</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34</a:t>
            </a:r>
            <a:endParaRPr lang="en-US" sz="800" dirty="0"/>
          </a:p>
        </p:txBody>
      </p:sp>
      <p:sp>
        <p:nvSpPr>
          <p:cNvPr id="6" name="Text 4"/>
          <p:cNvSpPr txBox="1"/>
          <p:nvPr/>
        </p:nvSpPr>
        <p:spPr>
          <a:xfrm>
            <a:off x="548640" y="1554480"/>
            <a:ext cx="8046720" cy="822960"/>
          </a:xfrm>
          <a:prstGeom prst="rect">
            <a:avLst/>
          </a:prstGeom>
          <a:noFill/>
          <a:ln/>
        </p:spPr>
        <p:txBody>
          <a:bodyPr wrap="square" lIns="0" tIns="0" rIns="0" bIns="0" rtlCol="0" anchor="t"/>
          <a:lstStyle/>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Backwardation signals scarcity now: a bad harvest, a port strike, an inventory drawdown, a seasonal demand peak.</a:t>
            </a:r>
            <a:endParaRPr lang="en-US" sz="1400" dirty="0"/>
          </a:p>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Its extreme form is the squeeze — a dominant player controls nearby physical supply and forces short hedgers to pay whatever it takes to close.</a:t>
            </a:r>
            <a:endParaRPr lang="en-US" sz="1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8046720" cy="914400"/>
        </p:xfrm>
        <a:graphic>
          <a:graphicData uri="http://schemas.openxmlformats.org/drawingml/2006/table">
            <a:tbl>
              <a:tblPr/>
              <a:tblGrid>
                <a:gridCol w="2377440"/>
                <a:gridCol w="5669280"/>
              </a:tblGrid>
              <a:tr h="310896">
                <a:tc>
                  <a:txBody>
                    <a:bodyPr/>
                    <a:lstStyle/>
                    <a:p>
                      <a:pPr indent="0" marL="0">
                        <a:buNone/>
                      </a:pPr>
                      <a:r>
                        <a:rPr lang="en-US" sz="1150" b="1" dirty="0">
                          <a:solidFill>
                            <a:srgbClr val="221E1B"/>
                          </a:solidFill>
                          <a:latin typeface="Calibri" pitchFamily="34" charset="0"/>
                          <a:ea typeface="Calibri" pitchFamily="34" charset="-122"/>
                          <a:cs typeface="Calibri" pitchFamily="34" charset="-120"/>
                        </a:rPr>
                        <a:t>Intervention</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c>
                  <a:txBody>
                    <a:bodyPr/>
                    <a:lstStyle/>
                    <a:p>
                      <a:pPr indent="0" marL="0">
                        <a:buNone/>
                      </a:pPr>
                      <a:r>
                        <a:rPr lang="en-US" sz="1150" b="1" dirty="0">
                          <a:solidFill>
                            <a:srgbClr val="221E1B"/>
                          </a:solidFill>
                          <a:latin typeface="Calibri" pitchFamily="34" charset="0"/>
                          <a:ea typeface="Calibri" pitchFamily="34" charset="-122"/>
                          <a:cs typeface="Calibri" pitchFamily="34" charset="-120"/>
                        </a:rPr>
                        <a:t>What it does</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r>
              <a:tr h="310896">
                <a:tc>
                  <a:txBody>
                    <a:bodyPr/>
                    <a:lstStyle/>
                    <a:p>
                      <a:pPr indent="0" marL="0">
                        <a:buNone/>
                      </a:pPr>
                      <a:r>
                        <a:rPr lang="en-US" sz="1150" dirty="0">
                          <a:solidFill>
                            <a:srgbClr val="221E1B"/>
                          </a:solidFill>
                          <a:latin typeface="Calibri" pitchFamily="34" charset="0"/>
                          <a:ea typeface="Calibri" pitchFamily="34" charset="-122"/>
                          <a:cs typeface="Calibri" pitchFamily="34" charset="-120"/>
                        </a:rPr>
                        <a:t>Position limits</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150" dirty="0">
                          <a:solidFill>
                            <a:srgbClr val="221E1B"/>
                          </a:solidFill>
                          <a:latin typeface="Calibri" pitchFamily="34" charset="0"/>
                          <a:ea typeface="Calibri" pitchFamily="34" charset="-122"/>
                          <a:cs typeface="Calibri" pitchFamily="34" charset="-120"/>
                        </a:rPr>
                        <a:t>Caps how much of the delivery month any one entity may hold</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10896">
                <a:tc>
                  <a:txBody>
                    <a:bodyPr/>
                    <a:lstStyle/>
                    <a:p>
                      <a:pPr indent="0" marL="0">
                        <a:buNone/>
                      </a:pPr>
                      <a:r>
                        <a:rPr lang="en-US" sz="1150" dirty="0">
                          <a:solidFill>
                            <a:srgbClr val="221E1B"/>
                          </a:solidFill>
                          <a:latin typeface="Calibri" pitchFamily="34" charset="0"/>
                          <a:ea typeface="Calibri" pitchFamily="34" charset="-122"/>
                          <a:cs typeface="Calibri" pitchFamily="34" charset="-120"/>
                        </a:rPr>
                        <a:t>Lending rules</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150" dirty="0">
                          <a:solidFill>
                            <a:srgbClr val="221E1B"/>
                          </a:solidFill>
                          <a:latin typeface="Calibri" pitchFamily="34" charset="0"/>
                          <a:ea typeface="Calibri" pitchFamily="34" charset="-122"/>
                          <a:cs typeface="Calibri" pitchFamily="34" charset="-120"/>
                        </a:rPr>
                        <a:t>Forces a dominant long to lend at a capped premium (LME Tom-Next)</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10896">
                <a:tc>
                  <a:txBody>
                    <a:bodyPr/>
                    <a:lstStyle/>
                    <a:p>
                      <a:pPr indent="0" marL="0">
                        <a:buNone/>
                      </a:pPr>
                      <a:r>
                        <a:rPr lang="en-US" sz="1150" dirty="0">
                          <a:solidFill>
                            <a:srgbClr val="221E1B"/>
                          </a:solidFill>
                          <a:latin typeface="Calibri" pitchFamily="34" charset="0"/>
                          <a:ea typeface="Calibri" pitchFamily="34" charset="-122"/>
                          <a:cs typeface="Calibri" pitchFamily="34" charset="-120"/>
                        </a:rPr>
                        <a:t>Backwardation caps</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150" dirty="0">
                          <a:solidFill>
                            <a:srgbClr val="221E1B"/>
                          </a:solidFill>
                          <a:latin typeface="Calibri" pitchFamily="34" charset="0"/>
                          <a:ea typeface="Calibri" pitchFamily="34" charset="-122"/>
                          <a:cs typeface="Calibri" pitchFamily="34" charset="-120"/>
                        </a:rPr>
                        <a:t>A hard ceiling on the spot-to-3M spread — introduced after nickel, 2022</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10896">
                <a:tc>
                  <a:txBody>
                    <a:bodyPr/>
                    <a:lstStyle/>
                    <a:p>
                      <a:pPr indent="0" marL="0">
                        <a:buNone/>
                      </a:pPr>
                      <a:r>
                        <a:rPr lang="en-US" sz="1150" dirty="0">
                          <a:solidFill>
                            <a:srgbClr val="221E1B"/>
                          </a:solidFill>
                          <a:latin typeface="Calibri" pitchFamily="34" charset="0"/>
                          <a:ea typeface="Calibri" pitchFamily="34" charset="-122"/>
                          <a:cs typeface="Calibri" pitchFamily="34" charset="-120"/>
                        </a:rPr>
                        <a:t>Delivery deferral</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150" dirty="0">
                          <a:solidFill>
                            <a:srgbClr val="221E1B"/>
                          </a:solidFill>
                          <a:latin typeface="Calibri" pitchFamily="34" charset="0"/>
                          <a:ea typeface="Calibri" pitchFamily="34" charset="-122"/>
                          <a:cs typeface="Calibri" pitchFamily="34" charset="-120"/>
                        </a:rPr>
                        <a:t>Lets a trapped short postpone delivery for a fee instead of defaulting</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10896">
                <a:tc>
                  <a:txBody>
                    <a:bodyPr/>
                    <a:lstStyle/>
                    <a:p>
                      <a:pPr indent="0" marL="0">
                        <a:buNone/>
                      </a:pPr>
                      <a:r>
                        <a:rPr lang="en-US" sz="1150" dirty="0">
                          <a:solidFill>
                            <a:srgbClr val="221E1B"/>
                          </a:solidFill>
                          <a:latin typeface="Calibri" pitchFamily="34" charset="0"/>
                          <a:ea typeface="Calibri" pitchFamily="34" charset="-122"/>
                          <a:cs typeface="Calibri" pitchFamily="34" charset="-120"/>
                        </a:rPr>
                        <a:t>Cash settlement</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150" dirty="0">
                          <a:solidFill>
                            <a:srgbClr val="221E1B"/>
                          </a:solidFill>
                          <a:latin typeface="Calibri" pitchFamily="34" charset="0"/>
                          <a:ea typeface="Calibri" pitchFamily="34" charset="-122"/>
                          <a:cs typeface="Calibri" pitchFamily="34" charset="-120"/>
                        </a:rPr>
                        <a:t>No physical delivery at all, so no physical squeeze is possible</a:t>
                      </a:r>
                      <a:endParaRPr lang="en-US" sz="115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market structure</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The roll: open interest changes address</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MARKET STRUCTURE</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35</a:t>
            </a:r>
            <a:endParaRPr lang="en-US" sz="800" dirty="0"/>
          </a:p>
        </p:txBody>
      </p:sp>
      <p:sp>
        <p:nvSpPr>
          <p:cNvPr id="6" name="Text 4"/>
          <p:cNvSpPr txBox="1"/>
          <p:nvPr/>
        </p:nvSpPr>
        <p:spPr>
          <a:xfrm>
            <a:off x="548640" y="1600200"/>
            <a:ext cx="5212080" cy="2651760"/>
          </a:xfrm>
          <a:prstGeom prst="rect">
            <a:avLst/>
          </a:prstGeom>
          <a:noFill/>
          <a:ln/>
        </p:spPr>
        <p:txBody>
          <a:bodyPr wrap="square" lIns="0" tIns="0" rIns="0" bIns="0" rtlCol="0" anchor="t"/>
          <a:lstStyle/>
          <a:p>
            <a:pPr indent="0" marL="0">
              <a:lnSpc>
                <a:spcPts val="2200"/>
              </a:lnSpc>
              <a:spcAft>
                <a:spcPts val="800"/>
              </a:spcAft>
              <a:buNone/>
            </a:pPr>
            <a:r>
              <a:rPr lang="en-US" sz="1400" dirty="0">
                <a:solidFill>
                  <a:srgbClr val="221E1B"/>
                </a:solidFill>
                <a:latin typeface="Calibri" pitchFamily="34" charset="0"/>
                <a:ea typeface="Calibri" pitchFamily="34" charset="-122"/>
                <a:cs typeface="Calibri" pitchFamily="34" charset="-120"/>
              </a:rPr>
              <a:t>The front month carries roughly half the board's open interest. As its expiry approaches, holders who want no part of physical delivery close it and reopen the next month.</a:t>
            </a:r>
            <a:endParaRPr lang="en-US" sz="1400" dirty="0"/>
          </a:p>
          <a:p>
            <a:pPr indent="0" marL="0">
              <a:lnSpc>
                <a:spcPts val="2200"/>
              </a:lnSpc>
              <a:spcAft>
                <a:spcPts val="800"/>
              </a:spcAft>
              <a:buNone/>
            </a:pPr>
            <a:r>
              <a:rPr lang="en-US" sz="1400" dirty="0">
                <a:solidFill>
                  <a:srgbClr val="221E1B"/>
                </a:solidFill>
                <a:latin typeface="Calibri" pitchFamily="34" charset="0"/>
                <a:ea typeface="Calibri" pitchFamily="34" charset="-122"/>
                <a:cs typeface="Calibri" pitchFamily="34" charset="-120"/>
              </a:rPr>
              <a:t>Volume spikes while it happens — every migrating lot trades twice — but total open interest barely moves. It does not die. It changes address.</a:t>
            </a:r>
            <a:endParaRPr lang="en-US" sz="1400" dirty="0"/>
          </a:p>
          <a:p>
            <a:pPr indent="0" marL="0">
              <a:lnSpc>
                <a:spcPts val="2200"/>
              </a:lnSpc>
              <a:spcAft>
                <a:spcPts val="800"/>
              </a:spcAft>
              <a:buNone/>
            </a:pPr>
            <a:r>
              <a:rPr lang="en-US" sz="1400" dirty="0">
                <a:solidFill>
                  <a:srgbClr val="221E1B"/>
                </a:solidFill>
                <a:latin typeface="Calibri" pitchFamily="34" charset="0"/>
                <a:ea typeface="Calibri" pitchFamily="34" charset="-122"/>
                <a:cs typeface="Calibri" pitchFamily="34" charset="-120"/>
              </a:rPr>
              <a:t>A small remainder rides into expiry on purpose: the players with a delivery plan.</a:t>
            </a:r>
            <a:endParaRPr lang="en-US" sz="1400" dirty="0"/>
          </a:p>
        </p:txBody>
      </p:sp>
      <p:sp>
        <p:nvSpPr>
          <p:cNvPr id="7" name="Shape 5"/>
          <p:cNvSpPr/>
          <p:nvPr/>
        </p:nvSpPr>
        <p:spPr>
          <a:xfrm>
            <a:off x="5943600" y="1600200"/>
            <a:ext cx="2651760" cy="1920240"/>
          </a:xfrm>
          <a:prstGeom prst="roundRect">
            <a:avLst>
              <a:gd name="adj" fmla="val 2857"/>
            </a:avLst>
          </a:prstGeom>
          <a:solidFill>
            <a:srgbClr val="F7F5F3"/>
          </a:solidFill>
          <a:ln w="12700">
            <a:solidFill>
              <a:srgbClr val="A34B12"/>
            </a:solidFill>
            <a:prstDash val="solid"/>
          </a:ln>
        </p:spPr>
      </p:sp>
      <p:sp>
        <p:nvSpPr>
          <p:cNvPr id="8" name="Text 6"/>
          <p:cNvSpPr txBox="1"/>
          <p:nvPr/>
        </p:nvSpPr>
        <p:spPr>
          <a:xfrm>
            <a:off x="6126480" y="1783080"/>
            <a:ext cx="2286000" cy="1645920"/>
          </a:xfrm>
          <a:prstGeom prst="rect">
            <a:avLst/>
          </a:prstGeom>
          <a:noFill/>
          <a:ln/>
        </p:spPr>
        <p:txBody>
          <a:bodyPr wrap="square" lIns="0" tIns="0" rIns="0" bIns="0" rtlCol="0" anchor="ctr"/>
          <a:lstStyle/>
          <a:p>
            <a:pPr indent="0" marL="0">
              <a:lnSpc>
                <a:spcPts val="1800"/>
              </a:lnSpc>
              <a:buNone/>
            </a:pPr>
            <a:r>
              <a:rPr lang="en-US" sz="1200" dirty="0">
                <a:solidFill>
                  <a:srgbClr val="221E1B"/>
                </a:solidFill>
                <a:latin typeface="Calibri" pitchFamily="34" charset="0"/>
                <a:ea typeface="Calibri" pitchFamily="34" charset="-122"/>
                <a:cs typeface="Calibri" pitchFamily="34" charset="-120"/>
              </a:rPr>
              <a:t>Reading a screen:</a:t>
            </a:r>
            <a:endParaRPr lang="en-US" sz="1200" dirty="0"/>
          </a:p>
          <a:p>
            <a:pPr indent="0" marL="0">
              <a:lnSpc>
                <a:spcPts val="1800"/>
              </a:lnSpc>
              <a:buNone/>
            </a:pPr>
            <a:endParaRPr lang="en-US" sz="1200" dirty="0"/>
          </a:p>
          <a:p>
            <a:pPr indent="0" marL="0">
              <a:lnSpc>
                <a:spcPts val="1800"/>
              </a:lnSpc>
              <a:buNone/>
            </a:pPr>
            <a:r>
              <a:rPr lang="en-US" sz="1200" dirty="0">
                <a:solidFill>
                  <a:srgbClr val="221E1B"/>
                </a:solidFill>
                <a:latin typeface="Calibri" pitchFamily="34" charset="0"/>
                <a:ea typeface="Calibri" pitchFamily="34" charset="-122"/>
                <a:cs typeface="Calibri" pitchFamily="34" charset="-120"/>
              </a:rPr>
              <a:t>a nearby contract with almost no open interest left is a contract whose remaining holders all intend to deliver.</a:t>
            </a:r>
            <a:endParaRPr lang="en-US" sz="1200" dirty="0"/>
          </a:p>
          <a:p>
            <a:pPr indent="0" marL="0">
              <a:lnSpc>
                <a:spcPts val="1800"/>
              </a:lnSpc>
              <a:buNone/>
            </a:pPr>
            <a:endParaRPr lang="en-US" sz="1200" dirty="0"/>
          </a:p>
          <a:p>
            <a:pPr indent="0" marL="0">
              <a:lnSpc>
                <a:spcPts val="1800"/>
              </a:lnSpc>
              <a:buNone/>
            </a:pPr>
            <a:r>
              <a:rPr lang="en-US" sz="1200" dirty="0">
                <a:solidFill>
                  <a:srgbClr val="221E1B"/>
                </a:solidFill>
                <a:latin typeface="Calibri" pitchFamily="34" charset="0"/>
                <a:ea typeface="Calibri" pitchFamily="34" charset="-122"/>
                <a:cs typeface="Calibri" pitchFamily="34" charset="-120"/>
              </a:rPr>
              <a:t>Do you?</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21E1B"/>
        </a:solidFill>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lstStyle/>
          <a:p>
            <a:pPr indent="0" marL="0">
              <a:buNone/>
            </a:pPr>
            <a:r>
              <a:rPr lang="en-US" sz="5400" dirty="0">
                <a:solidFill>
                  <a:srgbClr val="A34B12"/>
                </a:solidFill>
                <a:latin typeface="Courier New" pitchFamily="34" charset="0"/>
                <a:ea typeface="Courier New" pitchFamily="34" charset="-122"/>
                <a:cs typeface="Courier New" pitchFamily="34" charset="-120"/>
              </a:rPr>
              <a:t>06</a:t>
            </a:r>
            <a:endParaRPr lang="en-US" sz="5400" dirty="0"/>
          </a:p>
        </p:txBody>
      </p:sp>
      <p:sp>
        <p:nvSpPr>
          <p:cNvPr id="3" name="Text 1"/>
          <p:cNvSpPr txBox="1"/>
          <p:nvPr/>
        </p:nvSpPr>
        <p:spPr>
          <a:xfrm>
            <a:off x="548640" y="2377440"/>
            <a:ext cx="80467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Supply and demand</a:t>
            </a:r>
            <a:endParaRPr lang="en-US" sz="3400" dirty="0"/>
          </a:p>
        </p:txBody>
      </p:sp>
      <p:sp>
        <p:nvSpPr>
          <p:cNvPr id="4" name="Text 2"/>
          <p:cNvSpPr txBox="1"/>
          <p:nvPr/>
        </p:nvSpPr>
        <p:spPr>
          <a:xfrm>
            <a:off x="548640" y="3200400"/>
            <a:ext cx="6675120" cy="548640"/>
          </a:xfrm>
          <a:prstGeom prst="rect">
            <a:avLst/>
          </a:prstGeom>
          <a:noFill/>
          <a:ln/>
        </p:spPr>
        <p:txBody>
          <a:bodyPr wrap="square" lIns="0" tIns="0" rIns="0" bIns="0" rtlCol="0" anchor="ctr"/>
          <a:lstStyle/>
          <a:p>
            <a:pPr indent="0" marL="0">
              <a:lnSpc>
                <a:spcPts val="2000"/>
              </a:lnSpc>
              <a:buNone/>
            </a:pPr>
            <a:r>
              <a:rPr lang="en-US" sz="1400" dirty="0">
                <a:solidFill>
                  <a:srgbClr val="9A8F86"/>
                </a:solidFill>
                <a:latin typeface="Calibri" pitchFamily="34" charset="0"/>
                <a:ea typeface="Calibri" pitchFamily="34" charset="-122"/>
                <a:cs typeface="Calibri" pitchFamily="34" charset="-120"/>
              </a:rPr>
              <a:t>A balance sheet of tons — and which line does the adjusting.</a:t>
            </a:r>
            <a:endParaRPr lang="en-US" sz="1400" dirty="0"/>
          </a:p>
        </p:txBody>
      </p:sp>
      <p:sp>
        <p:nvSpPr>
          <p:cNvPr id="5" name="Text 3"/>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E6259"/>
                </a:solidFill>
                <a:latin typeface="Courier New" pitchFamily="34" charset="0"/>
                <a:ea typeface="Courier New" pitchFamily="34" charset="-122"/>
                <a:cs typeface="Courier New" pitchFamily="34" charset="-120"/>
              </a:rPr>
              <a:t>SUPPLY AND DEMAND</a:t>
            </a:r>
            <a:endParaRPr lang="en-US" sz="800" dirty="0"/>
          </a:p>
        </p:txBody>
      </p:sp>
      <p:sp>
        <p:nvSpPr>
          <p:cNvPr id="6" name="Text 4"/>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E6259"/>
                </a:solidFill>
                <a:latin typeface="Courier New" pitchFamily="34" charset="0"/>
                <a:ea typeface="Courier New" pitchFamily="34" charset="-122"/>
                <a:cs typeface="Courier New" pitchFamily="34" charset="-120"/>
              </a:rPr>
              <a:t>36</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supply and demand</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Two multiplications</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SUPPLY AND DEMAND</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37</a:t>
            </a:r>
            <a:endParaRPr lang="en-US" sz="800" dirty="0"/>
          </a:p>
        </p:txBody>
      </p:sp>
      <p:sp>
        <p:nvSpPr>
          <p:cNvPr id="6" name="Shape 4"/>
          <p:cNvSpPr/>
          <p:nvPr/>
        </p:nvSpPr>
        <p:spPr>
          <a:xfrm>
            <a:off x="548640" y="1600200"/>
            <a:ext cx="3886200" cy="2468880"/>
          </a:xfrm>
          <a:prstGeom prst="roundRect">
            <a:avLst>
              <a:gd name="adj" fmla="val 2222"/>
            </a:avLst>
          </a:prstGeom>
          <a:solidFill>
            <a:srgbClr val="F7F5F3"/>
          </a:solidFill>
          <a:ln w="9525">
            <a:solidFill>
              <a:srgbClr val="E3DFDA"/>
            </a:solidFill>
            <a:prstDash val="solid"/>
          </a:ln>
        </p:spPr>
      </p:sp>
      <p:sp>
        <p:nvSpPr>
          <p:cNvPr id="7" name="Text 5"/>
          <p:cNvSpPr txBox="1"/>
          <p:nvPr/>
        </p:nvSpPr>
        <p:spPr>
          <a:xfrm>
            <a:off x="777240" y="1783080"/>
            <a:ext cx="3429000" cy="320040"/>
          </a:xfrm>
          <a:prstGeom prst="rect">
            <a:avLst/>
          </a:prstGeom>
          <a:noFill/>
          <a:ln/>
        </p:spPr>
        <p:txBody>
          <a:bodyPr wrap="square" lIns="0" tIns="0" rIns="0" bIns="0" rtlCol="0" anchor="ctr"/>
          <a:lstStyle/>
          <a:p>
            <a:pPr indent="0" marL="0">
              <a:buNone/>
            </a:pPr>
            <a:r>
              <a:rPr lang="en-US" sz="1600" b="1" dirty="0">
                <a:solidFill>
                  <a:srgbClr val="A34B12"/>
                </a:solidFill>
                <a:latin typeface="Cambria" pitchFamily="34" charset="0"/>
                <a:ea typeface="Cambria" pitchFamily="34" charset="-122"/>
                <a:cs typeface="Cambria" pitchFamily="34" charset="-120"/>
              </a:rPr>
              <a:t>Supply</a:t>
            </a:r>
            <a:endParaRPr lang="en-US" sz="1600" dirty="0"/>
          </a:p>
        </p:txBody>
      </p:sp>
      <p:sp>
        <p:nvSpPr>
          <p:cNvPr id="8" name="Text 6"/>
          <p:cNvSpPr txBox="1"/>
          <p:nvPr/>
        </p:nvSpPr>
        <p:spPr>
          <a:xfrm>
            <a:off x="777240" y="2121408"/>
            <a:ext cx="3429000" cy="457200"/>
          </a:xfrm>
          <a:prstGeom prst="rect">
            <a:avLst/>
          </a:prstGeom>
          <a:noFill/>
          <a:ln/>
        </p:spPr>
        <p:txBody>
          <a:bodyPr wrap="square" lIns="0" tIns="0" rIns="0" bIns="0" rtlCol="0" anchor="ctr"/>
          <a:lstStyle/>
          <a:p>
            <a:pPr indent="0" marL="0">
              <a:lnSpc>
                <a:spcPts val="1600"/>
              </a:lnSpc>
              <a:buNone/>
            </a:pPr>
            <a:r>
              <a:rPr lang="en-US" sz="1100" dirty="0">
                <a:solidFill>
                  <a:srgbClr val="221E1B"/>
                </a:solidFill>
                <a:latin typeface="Courier New" pitchFamily="34" charset="0"/>
                <a:ea typeface="Courier New" pitchFamily="34" charset="-122"/>
                <a:cs typeface="Courier New" pitchFamily="34" charset="-120"/>
              </a:rPr>
              <a:t>hectares  ×  trees per hectare  ×  yield per tree</a:t>
            </a:r>
            <a:endParaRPr lang="en-US" sz="1100" dirty="0"/>
          </a:p>
        </p:txBody>
      </p:sp>
      <p:sp>
        <p:nvSpPr>
          <p:cNvPr id="9" name="Text 7"/>
          <p:cNvSpPr txBox="1"/>
          <p:nvPr/>
        </p:nvSpPr>
        <p:spPr>
          <a:xfrm>
            <a:off x="777240" y="2578608"/>
            <a:ext cx="3429000" cy="1371600"/>
          </a:xfrm>
          <a:prstGeom prst="rect">
            <a:avLst/>
          </a:prstGeom>
          <a:noFill/>
          <a:ln/>
        </p:spPr>
        <p:txBody>
          <a:bodyPr wrap="square" lIns="0" tIns="0" rIns="0" bIns="0" rtlCol="0" anchor="ctr"/>
          <a:lstStyle/>
          <a:p>
            <a:pPr indent="0" marL="0">
              <a:lnSpc>
                <a:spcPts val="1500"/>
              </a:lnSpc>
              <a:buNone/>
            </a:pPr>
            <a:r>
              <a:rPr lang="en-US" sz="1100" dirty="0">
                <a:solidFill>
                  <a:srgbClr val="221E1B"/>
                </a:solidFill>
                <a:latin typeface="Calibri" pitchFamily="34" charset="0"/>
                <a:ea typeface="Calibri" pitchFamily="34" charset="-122"/>
                <a:cs typeface="Calibri" pitchFamily="34" charset="-120"/>
              </a:rPr>
              <a:t>Land cost and the opportunity cost of competing crops. Planting density, tree age. Weather, fertiliser, irrigation, variety, disease — then the cherry and conversion ratios.</a:t>
            </a:r>
            <a:endParaRPr lang="en-US" sz="1100" dirty="0"/>
          </a:p>
          <a:p>
            <a:pPr indent="0" marL="0">
              <a:lnSpc>
                <a:spcPts val="1500"/>
              </a:lnSpc>
              <a:buNone/>
            </a:pPr>
            <a:endParaRPr lang="en-US" sz="1100" dirty="0"/>
          </a:p>
          <a:p>
            <a:pPr indent="0" marL="0">
              <a:lnSpc>
                <a:spcPts val="1500"/>
              </a:lnSpc>
              <a:buNone/>
            </a:pPr>
            <a:r>
              <a:rPr lang="en-US" sz="1100" dirty="0">
                <a:solidFill>
                  <a:srgbClr val="221E1B"/>
                </a:solidFill>
                <a:latin typeface="Calibri" pitchFamily="34" charset="0"/>
                <a:ea typeface="Calibri" pitchFamily="34" charset="-122"/>
                <a:cs typeface="Calibri" pitchFamily="34" charset="-120"/>
              </a:rPr>
              <a:t>Plus the carry-in: what was kept from last year, at the farm, at origin, at destination.</a:t>
            </a:r>
            <a:endParaRPr lang="en-US" sz="1100" dirty="0"/>
          </a:p>
        </p:txBody>
      </p:sp>
      <p:sp>
        <p:nvSpPr>
          <p:cNvPr id="10" name="Shape 8"/>
          <p:cNvSpPr/>
          <p:nvPr/>
        </p:nvSpPr>
        <p:spPr>
          <a:xfrm>
            <a:off x="4709160" y="1600200"/>
            <a:ext cx="3886200" cy="2468880"/>
          </a:xfrm>
          <a:prstGeom prst="roundRect">
            <a:avLst>
              <a:gd name="adj" fmla="val 2222"/>
            </a:avLst>
          </a:prstGeom>
          <a:solidFill>
            <a:srgbClr val="F7F5F3"/>
          </a:solidFill>
          <a:ln w="9525">
            <a:solidFill>
              <a:srgbClr val="E3DFDA"/>
            </a:solidFill>
            <a:prstDash val="solid"/>
          </a:ln>
        </p:spPr>
      </p:sp>
      <p:sp>
        <p:nvSpPr>
          <p:cNvPr id="11" name="Text 9"/>
          <p:cNvSpPr txBox="1"/>
          <p:nvPr/>
        </p:nvSpPr>
        <p:spPr>
          <a:xfrm>
            <a:off x="4937760" y="1783080"/>
            <a:ext cx="3429000" cy="320040"/>
          </a:xfrm>
          <a:prstGeom prst="rect">
            <a:avLst/>
          </a:prstGeom>
          <a:noFill/>
          <a:ln/>
        </p:spPr>
        <p:txBody>
          <a:bodyPr wrap="square" lIns="0" tIns="0" rIns="0" bIns="0" rtlCol="0" anchor="ctr"/>
          <a:lstStyle/>
          <a:p>
            <a:pPr indent="0" marL="0">
              <a:buNone/>
            </a:pPr>
            <a:r>
              <a:rPr lang="en-US" sz="1600" b="1" dirty="0">
                <a:solidFill>
                  <a:srgbClr val="A34B12"/>
                </a:solidFill>
                <a:latin typeface="Cambria" pitchFamily="34" charset="0"/>
                <a:ea typeface="Cambria" pitchFamily="34" charset="-122"/>
                <a:cs typeface="Cambria" pitchFamily="34" charset="-120"/>
              </a:rPr>
              <a:t>Demand</a:t>
            </a:r>
            <a:endParaRPr lang="en-US" sz="1600" dirty="0"/>
          </a:p>
        </p:txBody>
      </p:sp>
      <p:sp>
        <p:nvSpPr>
          <p:cNvPr id="12" name="Text 10"/>
          <p:cNvSpPr txBox="1"/>
          <p:nvPr/>
        </p:nvSpPr>
        <p:spPr>
          <a:xfrm>
            <a:off x="4937760" y="2121408"/>
            <a:ext cx="3429000" cy="457200"/>
          </a:xfrm>
          <a:prstGeom prst="rect">
            <a:avLst/>
          </a:prstGeom>
          <a:noFill/>
          <a:ln/>
        </p:spPr>
        <p:txBody>
          <a:bodyPr wrap="square" lIns="0" tIns="0" rIns="0" bIns="0" rtlCol="0" anchor="ctr"/>
          <a:lstStyle/>
          <a:p>
            <a:pPr indent="0" marL="0">
              <a:lnSpc>
                <a:spcPts val="1600"/>
              </a:lnSpc>
              <a:buNone/>
            </a:pPr>
            <a:r>
              <a:rPr lang="en-US" sz="1100" dirty="0">
                <a:solidFill>
                  <a:srgbClr val="221E1B"/>
                </a:solidFill>
                <a:latin typeface="Courier New" pitchFamily="34" charset="0"/>
                <a:ea typeface="Courier New" pitchFamily="34" charset="-122"/>
                <a:cs typeface="Courier New" pitchFamily="34" charset="-120"/>
              </a:rPr>
              <a:t>population  ×  cups per capita  ×  grams per cup  ×  blend</a:t>
            </a:r>
            <a:endParaRPr lang="en-US" sz="1100" dirty="0"/>
          </a:p>
        </p:txBody>
      </p:sp>
      <p:sp>
        <p:nvSpPr>
          <p:cNvPr id="13" name="Text 11"/>
          <p:cNvSpPr txBox="1"/>
          <p:nvPr/>
        </p:nvSpPr>
        <p:spPr>
          <a:xfrm>
            <a:off x="4937760" y="2578608"/>
            <a:ext cx="3429000" cy="1371600"/>
          </a:xfrm>
          <a:prstGeom prst="rect">
            <a:avLst/>
          </a:prstGeom>
          <a:noFill/>
          <a:ln/>
        </p:spPr>
        <p:txBody>
          <a:bodyPr wrap="square" lIns="0" tIns="0" rIns="0" bIns="0" rtlCol="0" anchor="ctr"/>
          <a:lstStyle/>
          <a:p>
            <a:pPr indent="0" marL="0">
              <a:lnSpc>
                <a:spcPts val="1500"/>
              </a:lnSpc>
              <a:buNone/>
            </a:pPr>
            <a:r>
              <a:rPr lang="en-US" sz="1100" dirty="0">
                <a:solidFill>
                  <a:srgbClr val="221E1B"/>
                </a:solidFill>
                <a:latin typeface="Calibri" pitchFamily="34" charset="0"/>
                <a:ea typeface="Calibri" pitchFamily="34" charset="-122"/>
                <a:cs typeface="Calibri" pitchFamily="34" charset="-120"/>
              </a:rPr>
              <a:t>Bent by purchasing power (inflation against wages), by coffee culture (capsules, specialty, out-of-home), and by substitution at the margin.</a:t>
            </a:r>
            <a:endParaRPr lang="en-US" sz="1100" dirty="0"/>
          </a:p>
          <a:p>
            <a:pPr indent="0" marL="0">
              <a:lnSpc>
                <a:spcPts val="1500"/>
              </a:lnSpc>
              <a:buNone/>
            </a:pPr>
            <a:endParaRPr lang="en-US" sz="1100" dirty="0"/>
          </a:p>
          <a:p>
            <a:pPr indent="0" marL="0">
              <a:lnSpc>
                <a:spcPts val="1500"/>
              </a:lnSpc>
              <a:buNone/>
            </a:pPr>
            <a:r>
              <a:rPr lang="en-US" sz="1100" dirty="0">
                <a:solidFill>
                  <a:srgbClr val="221E1B"/>
                </a:solidFill>
                <a:latin typeface="Calibri" pitchFamily="34" charset="0"/>
                <a:ea typeface="Calibri" pitchFamily="34" charset="-122"/>
                <a:cs typeface="Calibri" pitchFamily="34" charset="-120"/>
              </a:rPr>
              <a:t>Split destination consumption from origin consumption — Brazil drinks a top-two share of the world's coffee itself.</a:t>
            </a:r>
            <a:endParaRPr lang="en-US" sz="1100" dirty="0"/>
          </a:p>
        </p:txBody>
      </p:sp>
      <p:sp>
        <p:nvSpPr>
          <p:cNvPr id="14" name="Text 12"/>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i="1" dirty="0">
                <a:solidFill>
                  <a:srgbClr val="6B655F"/>
                </a:solidFill>
                <a:latin typeface="Calibri" pitchFamily="34" charset="0"/>
                <a:ea typeface="Calibri" pitchFamily="34" charset="-122"/>
                <a:cs typeface="Calibri" pitchFamily="34" charset="-120"/>
              </a:rPr>
              <a:t>Demand moves slowly and almost never backwards. Supply does most of the price-setting.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supply and demand</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The balance sheet</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SUPPLY AND DEMAND</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38</a:t>
            </a:r>
            <a:endParaRPr lang="en-US" sz="800" dirty="0"/>
          </a:p>
        </p:txBody>
      </p:sp>
      <p:sp>
        <p:nvSpPr>
          <p:cNvPr id="6" name="Shape 4"/>
          <p:cNvSpPr/>
          <p:nvPr/>
        </p:nvSpPr>
        <p:spPr>
          <a:xfrm>
            <a:off x="548640" y="1554480"/>
            <a:ext cx="8046720" cy="640080"/>
          </a:xfrm>
          <a:prstGeom prst="roundRect">
            <a:avLst>
              <a:gd name="adj" fmla="val 8571"/>
            </a:avLst>
          </a:prstGeom>
          <a:solidFill>
            <a:srgbClr val="221E1B"/>
          </a:solidFill>
          <a:ln w="12700">
            <a:solidFill>
              <a:srgbClr val="221E1B"/>
            </a:solidFill>
            <a:prstDash val="solid"/>
          </a:ln>
        </p:spPr>
      </p:sp>
      <p:sp>
        <p:nvSpPr>
          <p:cNvPr id="7" name="Text 5"/>
          <p:cNvSpPr txBox="1"/>
          <p:nvPr/>
        </p:nvSpPr>
        <p:spPr>
          <a:xfrm>
            <a:off x="548640" y="1554480"/>
            <a:ext cx="8046720" cy="640080"/>
          </a:xfrm>
          <a:prstGeom prst="rect">
            <a:avLst/>
          </a:prstGeom>
          <a:noFill/>
          <a:ln/>
        </p:spPr>
        <p:txBody>
          <a:bodyPr wrap="square" lIns="0" tIns="0" rIns="0" bIns="0" rtlCol="0" anchor="ctr"/>
          <a:lstStyle/>
          <a:p>
            <a:pPr algn="ctr" indent="0" marL="0">
              <a:buNone/>
            </a:pPr>
            <a:r>
              <a:rPr lang="en-US" sz="1500" dirty="0">
                <a:solidFill>
                  <a:srgbClr val="FFFFFF"/>
                </a:solidFill>
                <a:latin typeface="Courier New" pitchFamily="34" charset="0"/>
                <a:ea typeface="Courier New" pitchFamily="34" charset="-122"/>
                <a:cs typeface="Courier New" pitchFamily="34" charset="-120"/>
              </a:rPr>
              <a:t>Beginning stocks  +  Production   =   Consumption  +  Ending stocks</a:t>
            </a:r>
            <a:endParaRPr lang="en-US" sz="1500" dirty="0"/>
          </a:p>
        </p:txBody>
      </p:sp>
      <p:sp>
        <p:nvSpPr>
          <p:cNvPr id="8" name="Text 6"/>
          <p:cNvSpPr txBox="1"/>
          <p:nvPr/>
        </p:nvSpPr>
        <p:spPr>
          <a:xfrm>
            <a:off x="548640" y="2377440"/>
            <a:ext cx="8046720" cy="2194560"/>
          </a:xfrm>
          <a:prstGeom prst="rect">
            <a:avLst/>
          </a:prstGeom>
          <a:noFill/>
          <a:ln/>
        </p:spPr>
        <p:txBody>
          <a:bodyPr wrap="square" lIns="0" tIns="0" rIns="0" bIns="0" rtlCol="0" anchor="t"/>
          <a:lstStyle/>
          <a:p>
            <a:pPr indent="0" marL="0">
              <a:lnSpc>
                <a:spcPts val="2200"/>
              </a:lnSpc>
              <a:spcAft>
                <a:spcPts val="800"/>
              </a:spcAft>
              <a:buNone/>
            </a:pPr>
            <a:r>
              <a:rPr lang="en-US" sz="1400" dirty="0">
                <a:solidFill>
                  <a:srgbClr val="221E1B"/>
                </a:solidFill>
                <a:latin typeface="Calibri" pitchFamily="34" charset="0"/>
                <a:ea typeface="Calibri" pitchFamily="34" charset="-122"/>
                <a:cs typeface="Calibri" pitchFamily="34" charset="-120"/>
              </a:rPr>
              <a:t>Sources on the left, uses on the right, and the two sides are forced to equal. The sheet always balances.</a:t>
            </a:r>
            <a:endParaRPr lang="en-US" sz="1400" dirty="0"/>
          </a:p>
          <a:p>
            <a:pPr indent="0" marL="0">
              <a:lnSpc>
                <a:spcPts val="2200"/>
              </a:lnSpc>
              <a:spcAft>
                <a:spcPts val="800"/>
              </a:spcAft>
              <a:buNone/>
            </a:pPr>
            <a:r>
              <a:rPr lang="en-US" sz="1400" dirty="0">
                <a:solidFill>
                  <a:srgbClr val="221E1B"/>
                </a:solidFill>
                <a:latin typeface="Calibri" pitchFamily="34" charset="0"/>
                <a:ea typeface="Calibri" pitchFamily="34" charset="-122"/>
                <a:cs typeface="Calibri" pitchFamily="34" charset="-120"/>
              </a:rPr>
              <a:t>So the analysis is never "does it balance". It is: WHICH LINE does the adjusting?</a:t>
            </a:r>
            <a:endParaRPr lang="en-US" sz="1400" dirty="0"/>
          </a:p>
          <a:p>
            <a:pPr indent="0" marL="0">
              <a:lnSpc>
                <a:spcPts val="2200"/>
              </a:lnSpc>
              <a:spcAft>
                <a:spcPts val="800"/>
              </a:spcAft>
              <a:buNone/>
            </a:pPr>
            <a:r>
              <a:rPr lang="en-US" sz="1400" dirty="0">
                <a:solidFill>
                  <a:srgbClr val="221E1B"/>
                </a:solidFill>
                <a:latin typeface="Calibri" pitchFamily="34" charset="0"/>
                <a:ea typeface="Calibri" pitchFamily="34" charset="-122"/>
                <a:cs typeface="Calibri" pitchFamily="34" charset="-120"/>
              </a:rPr>
              <a:t>Consumption barely moves. Production is whatever the weather made of it. So in a tight year the ending stocks take the hit — the carry-out shrinks, next year opens with no cushion, and the following weather headline meets a market that cannot absorb it.</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supply and demand</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Supply arrives in pulses</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SUPPLY AND DEMAND</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39</a:t>
            </a:r>
            <a:endParaRPr lang="en-US" sz="800" dirty="0"/>
          </a:p>
        </p:txBody>
      </p:sp>
      <p:sp>
        <p:nvSpPr>
          <p:cNvPr id="6" name="Shape 4"/>
          <p:cNvSpPr/>
          <p:nvPr/>
        </p:nvSpPr>
        <p:spPr>
          <a:xfrm>
            <a:off x="548640" y="1645920"/>
            <a:ext cx="1805940" cy="1417320"/>
          </a:xfrm>
          <a:prstGeom prst="roundRect">
            <a:avLst>
              <a:gd name="adj" fmla="val 3871"/>
            </a:avLst>
          </a:prstGeom>
          <a:solidFill>
            <a:srgbClr val="F7F5F3"/>
          </a:solidFill>
          <a:ln w="9525">
            <a:solidFill>
              <a:srgbClr val="E3DFDA"/>
            </a:solidFill>
            <a:prstDash val="solid"/>
          </a:ln>
        </p:spPr>
      </p:sp>
      <p:sp>
        <p:nvSpPr>
          <p:cNvPr id="7" name="Text 5"/>
          <p:cNvSpPr txBox="1"/>
          <p:nvPr/>
        </p:nvSpPr>
        <p:spPr>
          <a:xfrm>
            <a:off x="749808" y="1847088"/>
            <a:ext cx="140360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Brazil</a:t>
            </a:r>
            <a:endParaRPr lang="en-US" sz="1500" dirty="0"/>
          </a:p>
        </p:txBody>
      </p:sp>
      <p:sp>
        <p:nvSpPr>
          <p:cNvPr id="8" name="Text 6"/>
          <p:cNvSpPr txBox="1"/>
          <p:nvPr/>
        </p:nvSpPr>
        <p:spPr>
          <a:xfrm>
            <a:off x="749808" y="2249424"/>
            <a:ext cx="1403604" cy="61264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Arabica</a:t>
            </a: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May – September</a:t>
            </a:r>
            <a:endParaRPr lang="en-US" sz="1150" dirty="0"/>
          </a:p>
        </p:txBody>
      </p:sp>
      <p:sp>
        <p:nvSpPr>
          <p:cNvPr id="9" name="Shape 7"/>
          <p:cNvSpPr/>
          <p:nvPr/>
        </p:nvSpPr>
        <p:spPr>
          <a:xfrm>
            <a:off x="2628900" y="1645920"/>
            <a:ext cx="1805940" cy="1417320"/>
          </a:xfrm>
          <a:prstGeom prst="roundRect">
            <a:avLst>
              <a:gd name="adj" fmla="val 3871"/>
            </a:avLst>
          </a:prstGeom>
          <a:solidFill>
            <a:srgbClr val="F7F5F3"/>
          </a:solidFill>
          <a:ln w="9525">
            <a:solidFill>
              <a:srgbClr val="E3DFDA"/>
            </a:solidFill>
            <a:prstDash val="solid"/>
          </a:ln>
        </p:spPr>
      </p:sp>
      <p:sp>
        <p:nvSpPr>
          <p:cNvPr id="10" name="Text 8"/>
          <p:cNvSpPr txBox="1"/>
          <p:nvPr/>
        </p:nvSpPr>
        <p:spPr>
          <a:xfrm>
            <a:off x="2830068" y="1847088"/>
            <a:ext cx="140360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Vietnam</a:t>
            </a:r>
            <a:endParaRPr lang="en-US" sz="1500" dirty="0"/>
          </a:p>
        </p:txBody>
      </p:sp>
      <p:sp>
        <p:nvSpPr>
          <p:cNvPr id="11" name="Text 9"/>
          <p:cNvSpPr txBox="1"/>
          <p:nvPr/>
        </p:nvSpPr>
        <p:spPr>
          <a:xfrm>
            <a:off x="2830068" y="2249424"/>
            <a:ext cx="1403604" cy="61264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Robusta</a:t>
            </a: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November – February</a:t>
            </a:r>
            <a:endParaRPr lang="en-US" sz="1150" dirty="0"/>
          </a:p>
        </p:txBody>
      </p:sp>
      <p:sp>
        <p:nvSpPr>
          <p:cNvPr id="12" name="Shape 10"/>
          <p:cNvSpPr/>
          <p:nvPr/>
        </p:nvSpPr>
        <p:spPr>
          <a:xfrm>
            <a:off x="4709160" y="1645920"/>
            <a:ext cx="1805940" cy="1417320"/>
          </a:xfrm>
          <a:prstGeom prst="roundRect">
            <a:avLst>
              <a:gd name="adj" fmla="val 3871"/>
            </a:avLst>
          </a:prstGeom>
          <a:solidFill>
            <a:srgbClr val="F7F5F3"/>
          </a:solidFill>
          <a:ln w="9525">
            <a:solidFill>
              <a:srgbClr val="E3DFDA"/>
            </a:solidFill>
            <a:prstDash val="solid"/>
          </a:ln>
        </p:spPr>
      </p:sp>
      <p:sp>
        <p:nvSpPr>
          <p:cNvPr id="13" name="Text 11"/>
          <p:cNvSpPr txBox="1"/>
          <p:nvPr/>
        </p:nvSpPr>
        <p:spPr>
          <a:xfrm>
            <a:off x="4910328" y="1847088"/>
            <a:ext cx="140360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Colombia</a:t>
            </a:r>
            <a:endParaRPr lang="en-US" sz="1500" dirty="0"/>
          </a:p>
        </p:txBody>
      </p:sp>
      <p:sp>
        <p:nvSpPr>
          <p:cNvPr id="14" name="Text 12"/>
          <p:cNvSpPr txBox="1"/>
          <p:nvPr/>
        </p:nvSpPr>
        <p:spPr>
          <a:xfrm>
            <a:off x="4910328" y="2249424"/>
            <a:ext cx="1403604" cy="61264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October – January</a:t>
            </a: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plus the mitaca, April – June</a:t>
            </a:r>
            <a:endParaRPr lang="en-US" sz="1150" dirty="0"/>
          </a:p>
        </p:txBody>
      </p:sp>
      <p:sp>
        <p:nvSpPr>
          <p:cNvPr id="15" name="Shape 13"/>
          <p:cNvSpPr/>
          <p:nvPr/>
        </p:nvSpPr>
        <p:spPr>
          <a:xfrm>
            <a:off x="6789420" y="1645920"/>
            <a:ext cx="1805940" cy="1417320"/>
          </a:xfrm>
          <a:prstGeom prst="roundRect">
            <a:avLst>
              <a:gd name="adj" fmla="val 3871"/>
            </a:avLst>
          </a:prstGeom>
          <a:solidFill>
            <a:srgbClr val="F7F5F3"/>
          </a:solidFill>
          <a:ln w="9525">
            <a:solidFill>
              <a:srgbClr val="E3DFDA"/>
            </a:solidFill>
            <a:prstDash val="solid"/>
          </a:ln>
        </p:spPr>
      </p:sp>
      <p:sp>
        <p:nvSpPr>
          <p:cNvPr id="16" name="Text 14"/>
          <p:cNvSpPr txBox="1"/>
          <p:nvPr/>
        </p:nvSpPr>
        <p:spPr>
          <a:xfrm>
            <a:off x="6990588" y="1847088"/>
            <a:ext cx="140360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Indonesia</a:t>
            </a:r>
            <a:endParaRPr lang="en-US" sz="1500" dirty="0"/>
          </a:p>
        </p:txBody>
      </p:sp>
      <p:sp>
        <p:nvSpPr>
          <p:cNvPr id="17" name="Text 15"/>
          <p:cNvSpPr txBox="1"/>
          <p:nvPr/>
        </p:nvSpPr>
        <p:spPr>
          <a:xfrm>
            <a:off x="6990588" y="2249424"/>
            <a:ext cx="1403604" cy="61264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Sumatra</a:t>
            </a: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October – March</a:t>
            </a:r>
            <a:endParaRPr lang="en-US" sz="1150" dirty="0"/>
          </a:p>
        </p:txBody>
      </p:sp>
      <p:sp>
        <p:nvSpPr>
          <p:cNvPr id="18" name="Text 16"/>
          <p:cNvSpPr txBox="1"/>
          <p:nvPr/>
        </p:nvSpPr>
        <p:spPr>
          <a:xfrm>
            <a:off x="548640" y="3246120"/>
            <a:ext cx="8046720" cy="1325880"/>
          </a:xfrm>
          <a:prstGeom prst="rect">
            <a:avLst/>
          </a:prstGeom>
          <a:noFill/>
          <a:ln/>
        </p:spPr>
        <p:txBody>
          <a:bodyPr wrap="square" lIns="0" tIns="0" rIns="0" bIns="0" rtlCol="0" anchor="t"/>
          <a:lstStyle/>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Somewhere it is always harvest. But for any single origin, supply pressure — and harvest-time selling of differentials — is intensely seasonal.</a:t>
            </a:r>
            <a:endParaRPr lang="en-US" sz="1400" dirty="0"/>
          </a:p>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That is why softs curves carry crop-year structure, and why an origin's differentials have seasons of their own.</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supply and demand</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Where the numbers come from</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SUPPLY AND DEMAND</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40</a:t>
            </a:r>
            <a:endParaRPr lang="en-US" sz="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914400"/>
        </p:xfrm>
        <a:graphic>
          <a:graphicData uri="http://schemas.openxmlformats.org/drawingml/2006/table">
            <a:tbl>
              <a:tblPr/>
              <a:tblGrid>
                <a:gridCol w="1554480"/>
                <a:gridCol w="2103120"/>
                <a:gridCol w="4389120"/>
              </a:tblGrid>
              <a:tr h="329184">
                <a:tc>
                  <a:txBody>
                    <a:bodyPr/>
                    <a:lstStyle/>
                    <a:p>
                      <a:pPr indent="0" marL="0">
                        <a:buNone/>
                      </a:pPr>
                      <a:r>
                        <a:rPr lang="en-US" sz="1200" b="1" dirty="0">
                          <a:solidFill>
                            <a:srgbClr val="221E1B"/>
                          </a:solidFill>
                          <a:latin typeface="Calibri" pitchFamily="34" charset="0"/>
                          <a:ea typeface="Calibri" pitchFamily="34" charset="-122"/>
                          <a:cs typeface="Calibri" pitchFamily="34" charset="-120"/>
                        </a:rPr>
                        <a:t>Market</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c>
                  <a:txBody>
                    <a:bodyPr/>
                    <a:lstStyle/>
                    <a:p>
                      <a:pPr indent="0" marL="0">
                        <a:buNone/>
                      </a:pPr>
                      <a:r>
                        <a:rPr lang="en-US" sz="1200" b="1" dirty="0">
                          <a:solidFill>
                            <a:srgbClr val="221E1B"/>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c>
                  <a:txBody>
                    <a:bodyPr/>
                    <a:lstStyle/>
                    <a:p>
                      <a:pPr indent="0" marL="0">
                        <a:buNone/>
                      </a:pPr>
                      <a:r>
                        <a:rPr lang="en-US" sz="1200" b="1" dirty="0">
                          <a:solidFill>
                            <a:srgbClr val="221E1B"/>
                          </a:solidFill>
                          <a:latin typeface="Calibri" pitchFamily="34" charset="0"/>
                          <a:ea typeface="Calibri" pitchFamily="34" charset="-122"/>
                          <a:cs typeface="Calibri" pitchFamily="34" charset="-120"/>
                        </a:rPr>
                        <a:t>What it gives you</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solidFill>
                      <a:srgbClr val="F7F5F3"/>
                    </a:solidFill>
                  </a:tcPr>
                </a:tc>
              </a:tr>
              <a:tr h="329184">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Coffee</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ICO</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Monthly trade statistics</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29184">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Coffee</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USDA GAIN</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Origin-by-origin crop estimates</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29184">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Oil</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IEA</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Monthly oil market report</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29184">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Oil</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EIA</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Weekly US inventory data</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r h="329184">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Grains</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USDA WASDE</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c>
                  <a:txBody>
                    <a:bodyPr/>
                    <a:lstStyle/>
                    <a:p>
                      <a:pPr indent="0" marL="0">
                        <a:buNone/>
                      </a:pPr>
                      <a:r>
                        <a:rPr lang="en-US" sz="1200" dirty="0">
                          <a:solidFill>
                            <a:srgbClr val="221E1B"/>
                          </a:solidFill>
                          <a:latin typeface="Calibri" pitchFamily="34" charset="0"/>
                          <a:ea typeface="Calibri" pitchFamily="34" charset="-122"/>
                          <a:cs typeface="Calibri" pitchFamily="34" charset="-120"/>
                        </a:rPr>
                        <a:t>Monthly — a market-moving event in itself</a:t>
                      </a:r>
                      <a:endParaRPr lang="en-US" sz="1200" dirty="0">
                        <a:latin typeface="Calibri" charset="0"/>
                        <a:ea typeface="Calibri" charset="0"/>
                        <a:cs typeface="Calibri" charset="0"/>
                      </a:endParaRPr>
                    </a:p>
                  </a:txBody>
                  <a:tcPr marL="109728" marR="109728" marT="54864" marB="54864" anchor="ctr">
                    <a:lnL w="9525" cap="flat" cmpd="sng" algn="ctr">
                      <a:solidFill>
                        <a:srgbClr val="E3DFDA"/>
                      </a:solidFill>
                      <a:prstDash val="solid"/>
                      <a:round/>
                      <a:headEnd type="none" w="med" len="med"/>
                      <a:tailEnd type="none" w="med" len="med"/>
                    </a:lnL>
                    <a:lnR w="9525" cap="flat" cmpd="sng" algn="ctr">
                      <a:solidFill>
                        <a:srgbClr val="E3DFDA"/>
                      </a:solidFill>
                      <a:prstDash val="solid"/>
                      <a:round/>
                      <a:headEnd type="none" w="med" len="med"/>
                      <a:tailEnd type="none" w="med" len="med"/>
                    </a:lnR>
                    <a:lnT w="9525" cap="flat" cmpd="sng" algn="ctr">
                      <a:solidFill>
                        <a:srgbClr val="E3DFDA"/>
                      </a:solidFill>
                      <a:prstDash val="solid"/>
                      <a:round/>
                      <a:headEnd type="none" w="med" len="med"/>
                      <a:tailEnd type="none" w="med" len="med"/>
                    </a:lnT>
                    <a:lnB w="9525" cap="flat" cmpd="sng" algn="ctr">
                      <a:solidFill>
                        <a:srgbClr val="E3DFDA"/>
                      </a:solidFill>
                      <a:prstDash val="solid"/>
                      <a:round/>
                      <a:headEnd type="none" w="med" len="med"/>
                      <a:tailEnd type="none" w="med" len="med"/>
                    </a:lnB>
                  </a:tcPr>
                </a:tc>
              </a:tr>
            </a:tbl>
          </a:graphicData>
        </a:graphic>
      </p:graphicFrame>
      <p:sp>
        <p:nvSpPr>
          <p:cNvPr id="7" name="Text 4"/>
          <p:cNvSpPr txBox="1"/>
          <p:nvPr/>
        </p:nvSpPr>
        <p:spPr>
          <a:xfrm>
            <a:off x="548640" y="3749040"/>
            <a:ext cx="8046720" cy="457200"/>
          </a:xfrm>
          <a:prstGeom prst="rect">
            <a:avLst/>
          </a:prstGeom>
          <a:noFill/>
          <a:ln/>
        </p:spPr>
        <p:txBody>
          <a:bodyPr wrap="square" lIns="0" tIns="0" rIns="0" bIns="0" rtlCol="0" anchor="ctr"/>
          <a:lstStyle/>
          <a:p>
            <a:pPr indent="0" marL="0">
              <a:lnSpc>
                <a:spcPts val="1800"/>
              </a:lnSpc>
              <a:buNone/>
            </a:pPr>
            <a:r>
              <a:rPr lang="en-US" sz="1300" i="1" dirty="0">
                <a:solidFill>
                  <a:srgbClr val="6B655F"/>
                </a:solidFill>
                <a:latin typeface="Calibri" pitchFamily="34" charset="0"/>
                <a:ea typeface="Calibri" pitchFamily="34" charset="-122"/>
                <a:cs typeface="Calibri" pitchFamily="34" charset="-120"/>
              </a:rPr>
              <a:t>Traders build their own balance from these, then apply their own adjustments. The edge is in the adjustment, not the download.</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supply and demand</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Sort every headline into four boxes</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SUPPLY AND DEMAND</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41</a:t>
            </a:r>
            <a:endParaRPr lang="en-US" sz="800" dirty="0"/>
          </a:p>
        </p:txBody>
      </p:sp>
      <p:sp>
        <p:nvSpPr>
          <p:cNvPr id="6" name="Shape 4"/>
          <p:cNvSpPr/>
          <p:nvPr/>
        </p:nvSpPr>
        <p:spPr>
          <a:xfrm>
            <a:off x="548640" y="1737360"/>
            <a:ext cx="1805940" cy="1554480"/>
          </a:xfrm>
          <a:prstGeom prst="roundRect">
            <a:avLst>
              <a:gd name="adj" fmla="val 3529"/>
            </a:avLst>
          </a:prstGeom>
          <a:solidFill>
            <a:srgbClr val="F7F5F3"/>
          </a:solidFill>
          <a:ln w="9525">
            <a:solidFill>
              <a:srgbClr val="E3DFDA"/>
            </a:solidFill>
            <a:prstDash val="solid"/>
          </a:ln>
        </p:spPr>
      </p:sp>
      <p:sp>
        <p:nvSpPr>
          <p:cNvPr id="7" name="Text 5"/>
          <p:cNvSpPr txBox="1"/>
          <p:nvPr/>
        </p:nvSpPr>
        <p:spPr>
          <a:xfrm>
            <a:off x="749808" y="1938528"/>
            <a:ext cx="140360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Supply</a:t>
            </a:r>
            <a:endParaRPr lang="en-US" sz="1500" dirty="0"/>
          </a:p>
        </p:txBody>
      </p:sp>
      <p:sp>
        <p:nvSpPr>
          <p:cNvPr id="8" name="Text 6"/>
          <p:cNvSpPr txBox="1"/>
          <p:nvPr/>
        </p:nvSpPr>
        <p:spPr>
          <a:xfrm>
            <a:off x="749808" y="2340864"/>
            <a:ext cx="1403604" cy="74980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Weather, crops, origin stocks, logistics</a:t>
            </a:r>
            <a:endParaRPr lang="en-US" sz="1150" dirty="0"/>
          </a:p>
        </p:txBody>
      </p:sp>
      <p:sp>
        <p:nvSpPr>
          <p:cNvPr id="9" name="Shape 7"/>
          <p:cNvSpPr/>
          <p:nvPr/>
        </p:nvSpPr>
        <p:spPr>
          <a:xfrm>
            <a:off x="2628900" y="1737360"/>
            <a:ext cx="1805940" cy="1554480"/>
          </a:xfrm>
          <a:prstGeom prst="roundRect">
            <a:avLst>
              <a:gd name="adj" fmla="val 3529"/>
            </a:avLst>
          </a:prstGeom>
          <a:solidFill>
            <a:srgbClr val="F7F5F3"/>
          </a:solidFill>
          <a:ln w="9525">
            <a:solidFill>
              <a:srgbClr val="E3DFDA"/>
            </a:solidFill>
            <a:prstDash val="solid"/>
          </a:ln>
        </p:spPr>
      </p:sp>
      <p:sp>
        <p:nvSpPr>
          <p:cNvPr id="10" name="Text 8"/>
          <p:cNvSpPr txBox="1"/>
          <p:nvPr/>
        </p:nvSpPr>
        <p:spPr>
          <a:xfrm>
            <a:off x="2830068" y="1938528"/>
            <a:ext cx="140360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Demand</a:t>
            </a:r>
            <a:endParaRPr lang="en-US" sz="1500" dirty="0"/>
          </a:p>
        </p:txBody>
      </p:sp>
      <p:sp>
        <p:nvSpPr>
          <p:cNvPr id="11" name="Text 9"/>
          <p:cNvSpPr txBox="1"/>
          <p:nvPr/>
        </p:nvSpPr>
        <p:spPr>
          <a:xfrm>
            <a:off x="2830068" y="2340864"/>
            <a:ext cx="1403604" cy="74980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Consumption, substitution, preferences, processor margins</a:t>
            </a:r>
            <a:endParaRPr lang="en-US" sz="1150" dirty="0"/>
          </a:p>
        </p:txBody>
      </p:sp>
      <p:sp>
        <p:nvSpPr>
          <p:cNvPr id="12" name="Shape 10"/>
          <p:cNvSpPr/>
          <p:nvPr/>
        </p:nvSpPr>
        <p:spPr>
          <a:xfrm>
            <a:off x="4709160" y="1737360"/>
            <a:ext cx="1805940" cy="1554480"/>
          </a:xfrm>
          <a:prstGeom prst="roundRect">
            <a:avLst>
              <a:gd name="adj" fmla="val 3529"/>
            </a:avLst>
          </a:prstGeom>
          <a:solidFill>
            <a:srgbClr val="F7F5F3"/>
          </a:solidFill>
          <a:ln w="9525">
            <a:solidFill>
              <a:srgbClr val="E3DFDA"/>
            </a:solidFill>
            <a:prstDash val="solid"/>
          </a:ln>
        </p:spPr>
      </p:sp>
      <p:sp>
        <p:nvSpPr>
          <p:cNvPr id="13" name="Text 11"/>
          <p:cNvSpPr txBox="1"/>
          <p:nvPr/>
        </p:nvSpPr>
        <p:spPr>
          <a:xfrm>
            <a:off x="4910328" y="1938528"/>
            <a:ext cx="140360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Exchange</a:t>
            </a:r>
            <a:endParaRPr lang="en-US" sz="1500" dirty="0"/>
          </a:p>
        </p:txBody>
      </p:sp>
      <p:sp>
        <p:nvSpPr>
          <p:cNvPr id="14" name="Text 12"/>
          <p:cNvSpPr txBox="1"/>
          <p:nvPr/>
        </p:nvSpPr>
        <p:spPr>
          <a:xfrm>
            <a:off x="4910328" y="2340864"/>
            <a:ext cx="1403604" cy="74980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Certified stocks, fund positioning, deliveries, squeezes, rule changes</a:t>
            </a:r>
            <a:endParaRPr lang="en-US" sz="1150" dirty="0"/>
          </a:p>
        </p:txBody>
      </p:sp>
      <p:sp>
        <p:nvSpPr>
          <p:cNvPr id="15" name="Shape 13"/>
          <p:cNvSpPr/>
          <p:nvPr/>
        </p:nvSpPr>
        <p:spPr>
          <a:xfrm>
            <a:off x="6789420" y="1737360"/>
            <a:ext cx="1805940" cy="1554480"/>
          </a:xfrm>
          <a:prstGeom prst="roundRect">
            <a:avLst>
              <a:gd name="adj" fmla="val 3529"/>
            </a:avLst>
          </a:prstGeom>
          <a:solidFill>
            <a:srgbClr val="F7F5F3"/>
          </a:solidFill>
          <a:ln w="9525">
            <a:solidFill>
              <a:srgbClr val="E3DFDA"/>
            </a:solidFill>
            <a:prstDash val="solid"/>
          </a:ln>
        </p:spPr>
      </p:sp>
      <p:sp>
        <p:nvSpPr>
          <p:cNvPr id="16" name="Text 14"/>
          <p:cNvSpPr txBox="1"/>
          <p:nvPr/>
        </p:nvSpPr>
        <p:spPr>
          <a:xfrm>
            <a:off x="6990588" y="1938528"/>
            <a:ext cx="140360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Macro</a:t>
            </a:r>
            <a:endParaRPr lang="en-US" sz="1500" dirty="0"/>
          </a:p>
        </p:txBody>
      </p:sp>
      <p:sp>
        <p:nvSpPr>
          <p:cNvPr id="17" name="Text 15"/>
          <p:cNvSpPr txBox="1"/>
          <p:nvPr/>
        </p:nvSpPr>
        <p:spPr>
          <a:xfrm>
            <a:off x="6990588" y="2340864"/>
            <a:ext cx="1403604" cy="74980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FX, interest rates, tariffs, regulation</a:t>
            </a:r>
            <a:endParaRPr lang="en-US" sz="1150" dirty="0"/>
          </a:p>
        </p:txBody>
      </p:sp>
      <p:sp>
        <p:nvSpPr>
          <p:cNvPr id="18" name="Text 16"/>
          <p:cNvSpPr txBox="1"/>
          <p:nvPr/>
        </p:nvSpPr>
        <p:spPr>
          <a:xfrm>
            <a:off x="548640" y="3474720"/>
            <a:ext cx="8046720" cy="1097280"/>
          </a:xfrm>
          <a:prstGeom prst="rect">
            <a:avLst/>
          </a:prstGeom>
          <a:noFill/>
          <a:ln/>
        </p:spPr>
        <p:txBody>
          <a:bodyPr wrap="square" lIns="0" tIns="0" rIns="0" bIns="0" rtlCol="0" anchor="t"/>
          <a:lstStyle/>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Price is not set by one variable. It emerges from the intersection — and each family works on a different time horizon and a different magnitude.</a:t>
            </a:r>
            <a:endParaRPr lang="en-US" sz="1400" dirty="0"/>
          </a:p>
          <a:p>
            <a:pPr indent="0" marL="0">
              <a:lnSpc>
                <a:spcPts val="2100"/>
              </a:lnSpc>
              <a:spcAft>
                <a:spcPts val="800"/>
              </a:spcAft>
              <a:buNone/>
            </a:pPr>
            <a:r>
              <a:rPr lang="en-US" sz="1400" dirty="0">
                <a:solidFill>
                  <a:srgbClr val="221E1B"/>
                </a:solidFill>
                <a:latin typeface="Calibri" pitchFamily="34" charset="0"/>
                <a:ea typeface="Calibri" pitchFamily="34" charset="-122"/>
                <a:cs typeface="Calibri" pitchFamily="34" charset="-120"/>
              </a:rPr>
              <a:t>When the live screen runs later, every news flash you trade will come out of one of these four boxes. Practise sorting now.</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221E1B"/>
        </a:solidFill>
      </p:bgPr>
    </p:bg>
    <p:spTree>
      <p:nvGrpSpPr>
        <p:cNvPr id="1" name=""/>
        <p:cNvGrpSpPr/>
        <p:nvPr/>
      </p:nvGrpSpPr>
      <p:grpSpPr>
        <a:xfrm>
          <a:off x="0" y="0"/>
          <a:ext cx="0" cy="0"/>
          <a:chOff x="0" y="0"/>
          <a:chExt cx="0" cy="0"/>
        </a:xfrm>
      </p:grpSpPr>
      <p:sp>
        <p:nvSpPr>
          <p:cNvPr id="2" name="Text 0"/>
          <p:cNvSpPr txBox="1"/>
          <p:nvPr/>
        </p:nvSpPr>
        <p:spPr>
          <a:xfrm>
            <a:off x="548640" y="1371600"/>
            <a:ext cx="1828800" cy="1097280"/>
          </a:xfrm>
          <a:prstGeom prst="rect">
            <a:avLst/>
          </a:prstGeom>
          <a:noFill/>
          <a:ln/>
        </p:spPr>
        <p:txBody>
          <a:bodyPr wrap="square" lIns="0" tIns="0" rIns="0" bIns="0" rtlCol="0" anchor="ctr"/>
          <a:lstStyle/>
          <a:p>
            <a:pPr indent="0" marL="0">
              <a:buNone/>
            </a:pPr>
            <a:r>
              <a:rPr lang="en-US" sz="5400" dirty="0">
                <a:solidFill>
                  <a:srgbClr val="A34B12"/>
                </a:solidFill>
                <a:latin typeface="Courier New" pitchFamily="34" charset="0"/>
                <a:ea typeface="Courier New" pitchFamily="34" charset="-122"/>
                <a:cs typeface="Courier New" pitchFamily="34" charset="-120"/>
              </a:rPr>
              <a:t>07</a:t>
            </a:r>
            <a:endParaRPr lang="en-US" sz="5400" dirty="0"/>
          </a:p>
        </p:txBody>
      </p:sp>
      <p:sp>
        <p:nvSpPr>
          <p:cNvPr id="3" name="Text 1"/>
          <p:cNvSpPr txBox="1"/>
          <p:nvPr/>
        </p:nvSpPr>
        <p:spPr>
          <a:xfrm>
            <a:off x="548640" y="2377440"/>
            <a:ext cx="80467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building</a:t>
            </a:r>
            <a:endParaRPr lang="en-US" sz="3400" dirty="0"/>
          </a:p>
        </p:txBody>
      </p:sp>
      <p:sp>
        <p:nvSpPr>
          <p:cNvPr id="4" name="Text 2"/>
          <p:cNvSpPr txBox="1"/>
          <p:nvPr/>
        </p:nvSpPr>
        <p:spPr>
          <a:xfrm>
            <a:off x="548640" y="3200400"/>
            <a:ext cx="6675120" cy="548640"/>
          </a:xfrm>
          <a:prstGeom prst="rect">
            <a:avLst/>
          </a:prstGeom>
          <a:noFill/>
          <a:ln/>
        </p:spPr>
        <p:txBody>
          <a:bodyPr wrap="square" lIns="0" tIns="0" rIns="0" bIns="0" rtlCol="0" anchor="ctr"/>
          <a:lstStyle/>
          <a:p>
            <a:pPr indent="0" marL="0">
              <a:lnSpc>
                <a:spcPts val="2000"/>
              </a:lnSpc>
              <a:buNone/>
            </a:pPr>
            <a:r>
              <a:rPr lang="en-US" sz="1400" dirty="0">
                <a:solidFill>
                  <a:srgbClr val="9A8F86"/>
                </a:solidFill>
                <a:latin typeface="Calibri" pitchFamily="34" charset="0"/>
                <a:ea typeface="Calibri" pitchFamily="34" charset="-122"/>
                <a:cs typeface="Calibri" pitchFamily="34" charset="-120"/>
              </a:rPr>
              <a:t>Where a graduate actually enters a trading house.</a:t>
            </a:r>
            <a:endParaRPr lang="en-US" sz="1400" dirty="0"/>
          </a:p>
        </p:txBody>
      </p:sp>
      <p:sp>
        <p:nvSpPr>
          <p:cNvPr id="5" name="Text 3"/>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E6259"/>
                </a:solidFill>
                <a:latin typeface="Courier New" pitchFamily="34" charset="0"/>
                <a:ea typeface="Courier New" pitchFamily="34" charset="-122"/>
                <a:cs typeface="Courier New" pitchFamily="34" charset="-120"/>
              </a:rPr>
              <a:t>THE BUILDING</a:t>
            </a:r>
            <a:endParaRPr lang="en-US" sz="800" dirty="0"/>
          </a:p>
        </p:txBody>
      </p:sp>
      <p:sp>
        <p:nvSpPr>
          <p:cNvPr id="6" name="Text 4"/>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E6259"/>
                </a:solidFill>
                <a:latin typeface="Courier New" pitchFamily="34" charset="0"/>
                <a:ea typeface="Courier New" pitchFamily="34" charset="-122"/>
                <a:cs typeface="Courier New" pitchFamily="34" charset="-120"/>
              </a:rPr>
              <a:t>42</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building</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Three offices</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THE BUILDING</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43</a:t>
            </a:r>
            <a:endParaRPr lang="en-US" sz="800" dirty="0"/>
          </a:p>
        </p:txBody>
      </p:sp>
      <p:sp>
        <p:nvSpPr>
          <p:cNvPr id="6" name="Shape 4"/>
          <p:cNvSpPr/>
          <p:nvPr/>
        </p:nvSpPr>
        <p:spPr>
          <a:xfrm>
            <a:off x="548640" y="1572768"/>
            <a:ext cx="2499360" cy="2331720"/>
          </a:xfrm>
          <a:prstGeom prst="roundRect">
            <a:avLst>
              <a:gd name="adj" fmla="val 2353"/>
            </a:avLst>
          </a:prstGeom>
          <a:solidFill>
            <a:srgbClr val="F7F5F3"/>
          </a:solidFill>
          <a:ln w="9525">
            <a:solidFill>
              <a:srgbClr val="E3DFDA"/>
            </a:solidFill>
            <a:prstDash val="solid"/>
          </a:ln>
        </p:spPr>
      </p:sp>
      <p:sp>
        <p:nvSpPr>
          <p:cNvPr id="7" name="Text 5"/>
          <p:cNvSpPr txBox="1"/>
          <p:nvPr/>
        </p:nvSpPr>
        <p:spPr>
          <a:xfrm>
            <a:off x="749808" y="1773936"/>
            <a:ext cx="209702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Front</a:t>
            </a:r>
            <a:endParaRPr lang="en-US" sz="1500" dirty="0"/>
          </a:p>
        </p:txBody>
      </p:sp>
      <p:sp>
        <p:nvSpPr>
          <p:cNvPr id="8" name="Text 6"/>
          <p:cNvSpPr txBox="1"/>
          <p:nvPr/>
        </p:nvSpPr>
        <p:spPr>
          <a:xfrm>
            <a:off x="749808" y="2176272"/>
            <a:ext cx="2097024" cy="152704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Traders, originators, sales.</a:t>
            </a:r>
            <a:endParaRPr lang="en-US" sz="1150" dirty="0"/>
          </a:p>
          <a:p>
            <a:pPr indent="0" marL="0">
              <a:lnSpc>
                <a:spcPts val="1700"/>
              </a:lnSpc>
              <a:buNone/>
            </a:pP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Prices and executes, manages positions, faces counterparties.</a:t>
            </a:r>
            <a:endParaRPr lang="en-US" sz="1150" dirty="0"/>
          </a:p>
          <a:p>
            <a:pPr indent="0" marL="0">
              <a:lnSpc>
                <a:spcPts val="1700"/>
              </a:lnSpc>
              <a:buNone/>
            </a:pP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Owns the P&amp;L.</a:t>
            </a:r>
            <a:endParaRPr lang="en-US" sz="1150" dirty="0"/>
          </a:p>
        </p:txBody>
      </p:sp>
      <p:sp>
        <p:nvSpPr>
          <p:cNvPr id="9" name="Shape 7"/>
          <p:cNvSpPr/>
          <p:nvPr/>
        </p:nvSpPr>
        <p:spPr>
          <a:xfrm>
            <a:off x="3322320" y="1572768"/>
            <a:ext cx="2499360" cy="2331720"/>
          </a:xfrm>
          <a:prstGeom prst="roundRect">
            <a:avLst>
              <a:gd name="adj" fmla="val 2353"/>
            </a:avLst>
          </a:prstGeom>
          <a:solidFill>
            <a:srgbClr val="F7F5F3"/>
          </a:solidFill>
          <a:ln w="9525">
            <a:solidFill>
              <a:srgbClr val="E3DFDA"/>
            </a:solidFill>
            <a:prstDash val="solid"/>
          </a:ln>
        </p:spPr>
      </p:sp>
      <p:sp>
        <p:nvSpPr>
          <p:cNvPr id="10" name="Text 8"/>
          <p:cNvSpPr txBox="1"/>
          <p:nvPr/>
        </p:nvSpPr>
        <p:spPr>
          <a:xfrm>
            <a:off x="3523488" y="1773936"/>
            <a:ext cx="209702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Middle</a:t>
            </a:r>
            <a:endParaRPr lang="en-US" sz="1500" dirty="0"/>
          </a:p>
        </p:txBody>
      </p:sp>
      <p:sp>
        <p:nvSpPr>
          <p:cNvPr id="11" name="Text 9"/>
          <p:cNvSpPr txBox="1"/>
          <p:nvPr/>
        </p:nvSpPr>
        <p:spPr>
          <a:xfrm>
            <a:off x="3523488" y="2176272"/>
            <a:ext cx="2097024" cy="152704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Risk, control, compliance.</a:t>
            </a:r>
            <a:endParaRPr lang="en-US" sz="1150" dirty="0"/>
          </a:p>
          <a:p>
            <a:pPr indent="0" marL="0">
              <a:lnSpc>
                <a:spcPts val="1700"/>
              </a:lnSpc>
              <a:buNone/>
            </a:pP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Monitors limits, validates the marks, vets credit.</a:t>
            </a:r>
            <a:endParaRPr lang="en-US" sz="1150" dirty="0"/>
          </a:p>
          <a:p>
            <a:pPr indent="0" marL="0">
              <a:lnSpc>
                <a:spcPts val="1700"/>
              </a:lnSpc>
              <a:buNone/>
            </a:pP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Owns the limits.</a:t>
            </a:r>
            <a:endParaRPr lang="en-US" sz="1150" dirty="0"/>
          </a:p>
        </p:txBody>
      </p:sp>
      <p:sp>
        <p:nvSpPr>
          <p:cNvPr id="12" name="Shape 10"/>
          <p:cNvSpPr/>
          <p:nvPr/>
        </p:nvSpPr>
        <p:spPr>
          <a:xfrm>
            <a:off x="6096000" y="1572768"/>
            <a:ext cx="2499360" cy="2331720"/>
          </a:xfrm>
          <a:prstGeom prst="roundRect">
            <a:avLst>
              <a:gd name="adj" fmla="val 2353"/>
            </a:avLst>
          </a:prstGeom>
          <a:solidFill>
            <a:srgbClr val="F7F5F3"/>
          </a:solidFill>
          <a:ln w="9525">
            <a:solidFill>
              <a:srgbClr val="E3DFDA"/>
            </a:solidFill>
            <a:prstDash val="solid"/>
          </a:ln>
        </p:spPr>
      </p:sp>
      <p:sp>
        <p:nvSpPr>
          <p:cNvPr id="13" name="Text 11"/>
          <p:cNvSpPr txBox="1"/>
          <p:nvPr/>
        </p:nvSpPr>
        <p:spPr>
          <a:xfrm>
            <a:off x="6297168" y="1773936"/>
            <a:ext cx="2097024" cy="384048"/>
          </a:xfrm>
          <a:prstGeom prst="rect">
            <a:avLst/>
          </a:prstGeom>
          <a:noFill/>
          <a:ln/>
        </p:spPr>
        <p:txBody>
          <a:bodyPr wrap="square" lIns="0" tIns="0" rIns="0" bIns="0" rtlCol="0" anchor="ctr"/>
          <a:lstStyle/>
          <a:p>
            <a:pPr indent="0" marL="0">
              <a:buNone/>
            </a:pPr>
            <a:r>
              <a:rPr lang="en-US" sz="1500" b="1" dirty="0">
                <a:solidFill>
                  <a:srgbClr val="A34B12"/>
                </a:solidFill>
                <a:latin typeface="Cambria" pitchFamily="34" charset="0"/>
                <a:ea typeface="Cambria" pitchFamily="34" charset="-122"/>
                <a:cs typeface="Cambria" pitchFamily="34" charset="-120"/>
              </a:rPr>
              <a:t>Back</a:t>
            </a:r>
            <a:endParaRPr lang="en-US" sz="1500" dirty="0"/>
          </a:p>
        </p:txBody>
      </p:sp>
      <p:sp>
        <p:nvSpPr>
          <p:cNvPr id="14" name="Text 12"/>
          <p:cNvSpPr txBox="1"/>
          <p:nvPr/>
        </p:nvSpPr>
        <p:spPr>
          <a:xfrm>
            <a:off x="6297168" y="2176272"/>
            <a:ext cx="2097024" cy="1527048"/>
          </a:xfrm>
          <a:prstGeom prst="rect">
            <a:avLst/>
          </a:prstGeom>
          <a:noFill/>
          <a:ln/>
        </p:spPr>
        <p:txBody>
          <a:bodyPr wrap="square" lIns="0" tIns="0" rIns="0" bIns="0" rtlCol="0" anchor="t"/>
          <a:lstStyle/>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Operations and settlements.</a:t>
            </a:r>
            <a:endParaRPr lang="en-US" sz="1150" dirty="0"/>
          </a:p>
          <a:p>
            <a:pPr indent="0" marL="0">
              <a:lnSpc>
                <a:spcPts val="1700"/>
              </a:lnSpc>
              <a:buNone/>
            </a:pP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Confirms, wires margin, invoices, moves the cargo and the paper.</a:t>
            </a:r>
            <a:endParaRPr lang="en-US" sz="1150" dirty="0"/>
          </a:p>
          <a:p>
            <a:pPr indent="0" marL="0">
              <a:lnSpc>
                <a:spcPts val="1700"/>
              </a:lnSpc>
              <a:buNone/>
            </a:pPr>
            <a:endParaRPr lang="en-US" sz="1150" dirty="0"/>
          </a:p>
          <a:p>
            <a:pPr indent="0" marL="0">
              <a:lnSpc>
                <a:spcPts val="1700"/>
              </a:lnSpc>
              <a:buNone/>
            </a:pPr>
            <a:r>
              <a:rPr lang="en-US" sz="1150" dirty="0">
                <a:solidFill>
                  <a:srgbClr val="221E1B"/>
                </a:solidFill>
                <a:latin typeface="Calibri" pitchFamily="34" charset="0"/>
                <a:ea typeface="Calibri" pitchFamily="34" charset="-122"/>
                <a:cs typeface="Calibri" pitchFamily="34" charset="-120"/>
              </a:rPr>
              <a:t>Owns the trade happening.</a:t>
            </a:r>
            <a:endParaRPr lang="en-US" sz="1150" dirty="0"/>
          </a:p>
        </p:txBody>
      </p:sp>
      <p:sp>
        <p:nvSpPr>
          <p:cNvPr id="15" name="Text 13"/>
          <p:cNvSpPr txBox="1"/>
          <p:nvPr/>
        </p:nvSpPr>
        <p:spPr>
          <a:xfrm>
            <a:off x="548640" y="4069080"/>
            <a:ext cx="8046720" cy="457200"/>
          </a:xfrm>
          <a:prstGeom prst="rect">
            <a:avLst/>
          </a:prstGeom>
          <a:noFill/>
          <a:ln/>
        </p:spPr>
        <p:txBody>
          <a:bodyPr wrap="square" lIns="0" tIns="0" rIns="0" bIns="0" rtlCol="0" anchor="ctr"/>
          <a:lstStyle/>
          <a:p>
            <a:pPr indent="0" marL="0">
              <a:lnSpc>
                <a:spcPts val="1800"/>
              </a:lnSpc>
              <a:buNone/>
            </a:pPr>
            <a:r>
              <a:rPr lang="en-US" sz="1250" dirty="0">
                <a:solidFill>
                  <a:srgbClr val="221E1B"/>
                </a:solidFill>
                <a:latin typeface="Calibri" pitchFamily="34" charset="0"/>
                <a:ea typeface="Calibri" pitchFamily="34" charset="-122"/>
                <a:cs typeface="Calibri" pitchFamily="34" charset="-120"/>
              </a:rPr>
              <a:t>The separation is not bureaucracy. It is a control — when one person sits on both sides of the wall, losses stay hidden until they are fatal. Barings, 1995.</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building</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One trade, every desk</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THE BUILDING</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44</a:t>
            </a:r>
            <a:endParaRPr lang="en-US" sz="800" dirty="0"/>
          </a:p>
        </p:txBody>
      </p:sp>
      <p:sp>
        <p:nvSpPr>
          <p:cNvPr id="6" name="Text 4"/>
          <p:cNvSpPr txBox="1"/>
          <p:nvPr/>
        </p:nvSpPr>
        <p:spPr>
          <a:xfrm>
            <a:off x="548640" y="1481328"/>
            <a:ext cx="457200" cy="347472"/>
          </a:xfrm>
          <a:prstGeom prst="rect">
            <a:avLst/>
          </a:prstGeom>
          <a:noFill/>
          <a:ln/>
        </p:spPr>
        <p:txBody>
          <a:bodyPr wrap="square" lIns="0" tIns="0" rIns="0" bIns="0" rtlCol="0" anchor="ctr"/>
          <a:lstStyle/>
          <a:p>
            <a:pPr indent="0" marL="0">
              <a:buNone/>
            </a:pPr>
            <a:r>
              <a:rPr lang="en-US" sz="1100" b="1" dirty="0">
                <a:solidFill>
                  <a:srgbClr val="A34B12"/>
                </a:solidFill>
                <a:latin typeface="Courier New" pitchFamily="34" charset="0"/>
                <a:ea typeface="Courier New" pitchFamily="34" charset="-122"/>
                <a:cs typeface="Courier New" pitchFamily="34" charset="-120"/>
              </a:rPr>
              <a:t>1–2</a:t>
            </a:r>
            <a:endParaRPr lang="en-US" sz="1100" dirty="0"/>
          </a:p>
        </p:txBody>
      </p:sp>
      <p:sp>
        <p:nvSpPr>
          <p:cNvPr id="7" name="Text 5"/>
          <p:cNvSpPr txBox="1"/>
          <p:nvPr/>
        </p:nvSpPr>
        <p:spPr>
          <a:xfrm>
            <a:off x="1097280" y="1481328"/>
            <a:ext cx="1417320" cy="347472"/>
          </a:xfrm>
          <a:prstGeom prst="rect">
            <a:avLst/>
          </a:prstGeom>
          <a:noFill/>
          <a:ln/>
        </p:spPr>
        <p:txBody>
          <a:bodyPr wrap="square" lIns="0" tIns="0" rIns="0" bIns="0" rtlCol="0" anchor="ctr"/>
          <a:lstStyle/>
          <a:p>
            <a:pPr indent="0" marL="0">
              <a:buNone/>
            </a:pPr>
            <a:r>
              <a:rPr lang="en-US" sz="1150" b="1" dirty="0">
                <a:solidFill>
                  <a:srgbClr val="221E1B"/>
                </a:solidFill>
                <a:latin typeface="Calibri" pitchFamily="34" charset="0"/>
                <a:ea typeface="Calibri" pitchFamily="34" charset="-122"/>
                <a:cs typeface="Calibri" pitchFamily="34" charset="-120"/>
              </a:rPr>
              <a:t>Front office</a:t>
            </a:r>
            <a:endParaRPr lang="en-US" sz="1150" dirty="0"/>
          </a:p>
        </p:txBody>
      </p:sp>
      <p:sp>
        <p:nvSpPr>
          <p:cNvPr id="8" name="Text 6"/>
          <p:cNvSpPr txBox="1"/>
          <p:nvPr/>
        </p:nvSpPr>
        <p:spPr>
          <a:xfrm>
            <a:off x="2606040" y="1481328"/>
            <a:ext cx="5989320" cy="347472"/>
          </a:xfrm>
          <a:prstGeom prst="rect">
            <a:avLst/>
          </a:prstGeom>
          <a:noFill/>
          <a:ln/>
        </p:spPr>
        <p:txBody>
          <a:bodyPr wrap="square" lIns="0" tIns="0" rIns="0" bIns="0" rtlCol="0" anchor="ctr"/>
          <a:lstStyle/>
          <a:p>
            <a:pPr indent="0" marL="0">
              <a:buNone/>
            </a:pPr>
            <a:r>
              <a:rPr lang="en-US" sz="1150" dirty="0">
                <a:solidFill>
                  <a:srgbClr val="221E1B"/>
                </a:solidFill>
                <a:latin typeface="Calibri" pitchFamily="34" charset="0"/>
                <a:ea typeface="Calibri" pitchFamily="34" charset="-122"/>
                <a:cs typeface="Calibri" pitchFamily="34" charset="-120"/>
              </a:rPr>
              <a:t>Buys 200 t of physical, sells 20 lots as the hedge. Minutes.</a:t>
            </a:r>
            <a:endParaRPr lang="en-US" sz="1150" dirty="0"/>
          </a:p>
        </p:txBody>
      </p:sp>
      <p:sp>
        <p:nvSpPr>
          <p:cNvPr id="9" name="Text 7"/>
          <p:cNvSpPr txBox="1"/>
          <p:nvPr/>
        </p:nvSpPr>
        <p:spPr>
          <a:xfrm>
            <a:off x="548640" y="1883664"/>
            <a:ext cx="457200" cy="347472"/>
          </a:xfrm>
          <a:prstGeom prst="rect">
            <a:avLst/>
          </a:prstGeom>
          <a:noFill/>
          <a:ln/>
        </p:spPr>
        <p:txBody>
          <a:bodyPr wrap="square" lIns="0" tIns="0" rIns="0" bIns="0" rtlCol="0" anchor="ctr"/>
          <a:lstStyle/>
          <a:p>
            <a:pPr indent="0" marL="0">
              <a:buNone/>
            </a:pPr>
            <a:r>
              <a:rPr lang="en-US" sz="1100" b="1" dirty="0">
                <a:solidFill>
                  <a:srgbClr val="A34B12"/>
                </a:solidFill>
                <a:latin typeface="Courier New" pitchFamily="34" charset="0"/>
                <a:ea typeface="Courier New" pitchFamily="34" charset="-122"/>
                <a:cs typeface="Courier New" pitchFamily="34" charset="-120"/>
              </a:rPr>
              <a:t>3</a:t>
            </a:r>
            <a:endParaRPr lang="en-US" sz="1100" dirty="0"/>
          </a:p>
        </p:txBody>
      </p:sp>
      <p:sp>
        <p:nvSpPr>
          <p:cNvPr id="10" name="Text 8"/>
          <p:cNvSpPr txBox="1"/>
          <p:nvPr/>
        </p:nvSpPr>
        <p:spPr>
          <a:xfrm>
            <a:off x="1097280" y="1883664"/>
            <a:ext cx="1417320" cy="347472"/>
          </a:xfrm>
          <a:prstGeom prst="rect">
            <a:avLst/>
          </a:prstGeom>
          <a:noFill/>
          <a:ln/>
        </p:spPr>
        <p:txBody>
          <a:bodyPr wrap="square" lIns="0" tIns="0" rIns="0" bIns="0" rtlCol="0" anchor="ctr"/>
          <a:lstStyle/>
          <a:p>
            <a:pPr indent="0" marL="0">
              <a:buNone/>
            </a:pPr>
            <a:r>
              <a:rPr lang="en-US" sz="1150" b="1" dirty="0">
                <a:solidFill>
                  <a:srgbClr val="221E1B"/>
                </a:solidFill>
                <a:latin typeface="Calibri" pitchFamily="34" charset="0"/>
                <a:ea typeface="Calibri" pitchFamily="34" charset="-122"/>
                <a:cs typeface="Calibri" pitchFamily="34" charset="-120"/>
              </a:rPr>
              <a:t>Middle office</a:t>
            </a:r>
            <a:endParaRPr lang="en-US" sz="1150" dirty="0"/>
          </a:p>
        </p:txBody>
      </p:sp>
      <p:sp>
        <p:nvSpPr>
          <p:cNvPr id="11" name="Text 9"/>
          <p:cNvSpPr txBox="1"/>
          <p:nvPr/>
        </p:nvSpPr>
        <p:spPr>
          <a:xfrm>
            <a:off x="2606040" y="1883664"/>
            <a:ext cx="5989320" cy="347472"/>
          </a:xfrm>
          <a:prstGeom prst="rect">
            <a:avLst/>
          </a:prstGeom>
          <a:noFill/>
          <a:ln/>
        </p:spPr>
        <p:txBody>
          <a:bodyPr wrap="square" lIns="0" tIns="0" rIns="0" bIns="0" rtlCol="0" anchor="ctr"/>
          <a:lstStyle/>
          <a:p>
            <a:pPr indent="0" marL="0">
              <a:buNone/>
            </a:pPr>
            <a:r>
              <a:rPr lang="en-US" sz="1150" dirty="0">
                <a:solidFill>
                  <a:srgbClr val="221E1B"/>
                </a:solidFill>
                <a:latin typeface="Calibri" pitchFamily="34" charset="0"/>
                <a:ea typeface="Calibri" pitchFamily="34" charset="-122"/>
                <a:cs typeface="Calibri" pitchFamily="34" charset="-120"/>
              </a:rPr>
              <a:t>Captures the trade, checks it against position and credit limits.</a:t>
            </a:r>
            <a:endParaRPr lang="en-US" sz="1150" dirty="0"/>
          </a:p>
        </p:txBody>
      </p:sp>
      <p:sp>
        <p:nvSpPr>
          <p:cNvPr id="12" name="Text 10"/>
          <p:cNvSpPr txBox="1"/>
          <p:nvPr/>
        </p:nvSpPr>
        <p:spPr>
          <a:xfrm>
            <a:off x="548640" y="2286000"/>
            <a:ext cx="457200" cy="347472"/>
          </a:xfrm>
          <a:prstGeom prst="rect">
            <a:avLst/>
          </a:prstGeom>
          <a:noFill/>
          <a:ln/>
        </p:spPr>
        <p:txBody>
          <a:bodyPr wrap="square" lIns="0" tIns="0" rIns="0" bIns="0" rtlCol="0" anchor="ctr"/>
          <a:lstStyle/>
          <a:p>
            <a:pPr indent="0" marL="0">
              <a:buNone/>
            </a:pPr>
            <a:r>
              <a:rPr lang="en-US" sz="1100" b="1" dirty="0">
                <a:solidFill>
                  <a:srgbClr val="A34B12"/>
                </a:solidFill>
                <a:latin typeface="Courier New" pitchFamily="34" charset="0"/>
                <a:ea typeface="Courier New" pitchFamily="34" charset="-122"/>
                <a:cs typeface="Courier New" pitchFamily="34" charset="-120"/>
              </a:rPr>
              <a:t>4</a:t>
            </a:r>
            <a:endParaRPr lang="en-US" sz="1100" dirty="0"/>
          </a:p>
        </p:txBody>
      </p:sp>
      <p:sp>
        <p:nvSpPr>
          <p:cNvPr id="13" name="Text 11"/>
          <p:cNvSpPr txBox="1"/>
          <p:nvPr/>
        </p:nvSpPr>
        <p:spPr>
          <a:xfrm>
            <a:off x="1097280" y="2286000"/>
            <a:ext cx="1417320" cy="347472"/>
          </a:xfrm>
          <a:prstGeom prst="rect">
            <a:avLst/>
          </a:prstGeom>
          <a:noFill/>
          <a:ln/>
        </p:spPr>
        <p:txBody>
          <a:bodyPr wrap="square" lIns="0" tIns="0" rIns="0" bIns="0" rtlCol="0" anchor="ctr"/>
          <a:lstStyle/>
          <a:p>
            <a:pPr indent="0" marL="0">
              <a:buNone/>
            </a:pPr>
            <a:r>
              <a:rPr lang="en-US" sz="1150" b="1" dirty="0">
                <a:solidFill>
                  <a:srgbClr val="221E1B"/>
                </a:solidFill>
                <a:latin typeface="Calibri" pitchFamily="34" charset="0"/>
                <a:ea typeface="Calibri" pitchFamily="34" charset="-122"/>
                <a:cs typeface="Calibri" pitchFamily="34" charset="-120"/>
              </a:rPr>
              <a:t>Back office</a:t>
            </a:r>
            <a:endParaRPr lang="en-US" sz="1150" dirty="0"/>
          </a:p>
        </p:txBody>
      </p:sp>
      <p:sp>
        <p:nvSpPr>
          <p:cNvPr id="14" name="Text 12"/>
          <p:cNvSpPr txBox="1"/>
          <p:nvPr/>
        </p:nvSpPr>
        <p:spPr>
          <a:xfrm>
            <a:off x="2606040" y="2286000"/>
            <a:ext cx="5989320" cy="347472"/>
          </a:xfrm>
          <a:prstGeom prst="rect">
            <a:avLst/>
          </a:prstGeom>
          <a:noFill/>
          <a:ln/>
        </p:spPr>
        <p:txBody>
          <a:bodyPr wrap="square" lIns="0" tIns="0" rIns="0" bIns="0" rtlCol="0" anchor="ctr"/>
          <a:lstStyle/>
          <a:p>
            <a:pPr indent="0" marL="0">
              <a:buNone/>
            </a:pPr>
            <a:r>
              <a:rPr lang="en-US" sz="1150" dirty="0">
                <a:solidFill>
                  <a:srgbClr val="221E1B"/>
                </a:solidFill>
                <a:latin typeface="Calibri" pitchFamily="34" charset="0"/>
                <a:ea typeface="Calibri" pitchFamily="34" charset="-122"/>
                <a:cs typeface="Calibri" pitchFamily="34" charset="-120"/>
              </a:rPr>
              <a:t>Matches the broker confirmations against the booked ticket.</a:t>
            </a:r>
            <a:endParaRPr lang="en-US" sz="1150" dirty="0"/>
          </a:p>
        </p:txBody>
      </p:sp>
      <p:sp>
        <p:nvSpPr>
          <p:cNvPr id="15" name="Text 13"/>
          <p:cNvSpPr txBox="1"/>
          <p:nvPr/>
        </p:nvSpPr>
        <p:spPr>
          <a:xfrm>
            <a:off x="548640" y="2688336"/>
            <a:ext cx="457200" cy="347472"/>
          </a:xfrm>
          <a:prstGeom prst="rect">
            <a:avLst/>
          </a:prstGeom>
          <a:noFill/>
          <a:ln/>
        </p:spPr>
        <p:txBody>
          <a:bodyPr wrap="square" lIns="0" tIns="0" rIns="0" bIns="0" rtlCol="0" anchor="ctr"/>
          <a:lstStyle/>
          <a:p>
            <a:pPr indent="0" marL="0">
              <a:buNone/>
            </a:pPr>
            <a:r>
              <a:rPr lang="en-US" sz="1100" b="1" dirty="0">
                <a:solidFill>
                  <a:srgbClr val="A34B12"/>
                </a:solidFill>
                <a:latin typeface="Courier New" pitchFamily="34" charset="0"/>
                <a:ea typeface="Courier New" pitchFamily="34" charset="-122"/>
                <a:cs typeface="Courier New" pitchFamily="34" charset="-120"/>
              </a:rPr>
              <a:t>5</a:t>
            </a:r>
            <a:endParaRPr lang="en-US" sz="1100" dirty="0"/>
          </a:p>
        </p:txBody>
      </p:sp>
      <p:sp>
        <p:nvSpPr>
          <p:cNvPr id="16" name="Text 14"/>
          <p:cNvSpPr txBox="1"/>
          <p:nvPr/>
        </p:nvSpPr>
        <p:spPr>
          <a:xfrm>
            <a:off x="1097280" y="2688336"/>
            <a:ext cx="1417320" cy="347472"/>
          </a:xfrm>
          <a:prstGeom prst="rect">
            <a:avLst/>
          </a:prstGeom>
          <a:noFill/>
          <a:ln/>
        </p:spPr>
        <p:txBody>
          <a:bodyPr wrap="square" lIns="0" tIns="0" rIns="0" bIns="0" rtlCol="0" anchor="ctr"/>
          <a:lstStyle/>
          <a:p>
            <a:pPr indent="0" marL="0">
              <a:buNone/>
            </a:pPr>
            <a:r>
              <a:rPr lang="en-US" sz="1150" b="1" dirty="0">
                <a:solidFill>
                  <a:srgbClr val="221E1B"/>
                </a:solidFill>
                <a:latin typeface="Calibri" pitchFamily="34" charset="0"/>
                <a:ea typeface="Calibri" pitchFamily="34" charset="-122"/>
                <a:cs typeface="Calibri" pitchFamily="34" charset="-120"/>
              </a:rPr>
              <a:t>Treasury</a:t>
            </a:r>
            <a:endParaRPr lang="en-US" sz="1150" dirty="0"/>
          </a:p>
        </p:txBody>
      </p:sp>
      <p:sp>
        <p:nvSpPr>
          <p:cNvPr id="17" name="Text 15"/>
          <p:cNvSpPr txBox="1"/>
          <p:nvPr/>
        </p:nvSpPr>
        <p:spPr>
          <a:xfrm>
            <a:off x="2606040" y="2688336"/>
            <a:ext cx="5989320" cy="347472"/>
          </a:xfrm>
          <a:prstGeom prst="rect">
            <a:avLst/>
          </a:prstGeom>
          <a:noFill/>
          <a:ln/>
        </p:spPr>
        <p:txBody>
          <a:bodyPr wrap="square" lIns="0" tIns="0" rIns="0" bIns="0" rtlCol="0" anchor="ctr"/>
          <a:lstStyle/>
          <a:p>
            <a:pPr indent="0" marL="0">
              <a:buNone/>
            </a:pPr>
            <a:r>
              <a:rPr lang="en-US" sz="1150" dirty="0">
                <a:solidFill>
                  <a:srgbClr val="221E1B"/>
                </a:solidFill>
                <a:latin typeface="Calibri" pitchFamily="34" charset="0"/>
                <a:ea typeface="Calibri" pitchFamily="34" charset="-122"/>
                <a:cs typeface="Calibri" pitchFamily="34" charset="-120"/>
              </a:rPr>
              <a:t>Wires the initial margin, finances the physical purchase.</a:t>
            </a:r>
            <a:endParaRPr lang="en-US" sz="1150" dirty="0"/>
          </a:p>
        </p:txBody>
      </p:sp>
      <p:sp>
        <p:nvSpPr>
          <p:cNvPr id="18" name="Text 16"/>
          <p:cNvSpPr txBox="1"/>
          <p:nvPr/>
        </p:nvSpPr>
        <p:spPr>
          <a:xfrm>
            <a:off x="548640" y="3090672"/>
            <a:ext cx="457200" cy="347472"/>
          </a:xfrm>
          <a:prstGeom prst="rect">
            <a:avLst/>
          </a:prstGeom>
          <a:noFill/>
          <a:ln/>
        </p:spPr>
        <p:txBody>
          <a:bodyPr wrap="square" lIns="0" tIns="0" rIns="0" bIns="0" rtlCol="0" anchor="ctr"/>
          <a:lstStyle/>
          <a:p>
            <a:pPr indent="0" marL="0">
              <a:buNone/>
            </a:pPr>
            <a:r>
              <a:rPr lang="en-US" sz="1100" b="1" dirty="0">
                <a:solidFill>
                  <a:srgbClr val="A34B12"/>
                </a:solidFill>
                <a:latin typeface="Courier New" pitchFamily="34" charset="0"/>
                <a:ea typeface="Courier New" pitchFamily="34" charset="-122"/>
                <a:cs typeface="Courier New" pitchFamily="34" charset="-120"/>
              </a:rPr>
              <a:t>6</a:t>
            </a:r>
            <a:endParaRPr lang="en-US" sz="1100" dirty="0"/>
          </a:p>
        </p:txBody>
      </p:sp>
      <p:sp>
        <p:nvSpPr>
          <p:cNvPr id="19" name="Text 17"/>
          <p:cNvSpPr txBox="1"/>
          <p:nvPr/>
        </p:nvSpPr>
        <p:spPr>
          <a:xfrm>
            <a:off x="1097280" y="3090672"/>
            <a:ext cx="1417320" cy="347472"/>
          </a:xfrm>
          <a:prstGeom prst="rect">
            <a:avLst/>
          </a:prstGeom>
          <a:noFill/>
          <a:ln/>
        </p:spPr>
        <p:txBody>
          <a:bodyPr wrap="square" lIns="0" tIns="0" rIns="0" bIns="0" rtlCol="0" anchor="ctr"/>
          <a:lstStyle/>
          <a:p>
            <a:pPr indent="0" marL="0">
              <a:buNone/>
            </a:pPr>
            <a:r>
              <a:rPr lang="en-US" sz="1150" b="1" dirty="0">
                <a:solidFill>
                  <a:srgbClr val="221E1B"/>
                </a:solidFill>
                <a:latin typeface="Calibri" pitchFamily="34" charset="0"/>
                <a:ea typeface="Calibri" pitchFamily="34" charset="-122"/>
                <a:cs typeface="Calibri" pitchFamily="34" charset="-120"/>
              </a:rPr>
              <a:t>Operations</a:t>
            </a:r>
            <a:endParaRPr lang="en-US" sz="1150" dirty="0"/>
          </a:p>
        </p:txBody>
      </p:sp>
      <p:sp>
        <p:nvSpPr>
          <p:cNvPr id="20" name="Text 18"/>
          <p:cNvSpPr txBox="1"/>
          <p:nvPr/>
        </p:nvSpPr>
        <p:spPr>
          <a:xfrm>
            <a:off x="2606040" y="3090672"/>
            <a:ext cx="5989320" cy="347472"/>
          </a:xfrm>
          <a:prstGeom prst="rect">
            <a:avLst/>
          </a:prstGeom>
          <a:noFill/>
          <a:ln/>
        </p:spPr>
        <p:txBody>
          <a:bodyPr wrap="square" lIns="0" tIns="0" rIns="0" bIns="0" rtlCol="0" anchor="ctr"/>
          <a:lstStyle/>
          <a:p>
            <a:pPr indent="0" marL="0">
              <a:buNone/>
            </a:pPr>
            <a:r>
              <a:rPr lang="en-US" sz="1150" dirty="0">
                <a:solidFill>
                  <a:srgbClr val="221E1B"/>
                </a:solidFill>
                <a:latin typeface="Calibri" pitchFamily="34" charset="0"/>
                <a:ea typeface="Calibri" pitchFamily="34" charset="-122"/>
                <a:cs typeface="Calibri" pitchFamily="34" charset="-120"/>
              </a:rPr>
              <a:t>Trucks, container, vessel, warehouse slot. The cargo actually moves.</a:t>
            </a:r>
            <a:endParaRPr lang="en-US" sz="1150" dirty="0"/>
          </a:p>
        </p:txBody>
      </p:sp>
      <p:sp>
        <p:nvSpPr>
          <p:cNvPr id="21" name="Text 19"/>
          <p:cNvSpPr txBox="1"/>
          <p:nvPr/>
        </p:nvSpPr>
        <p:spPr>
          <a:xfrm>
            <a:off x="548640" y="3493008"/>
            <a:ext cx="457200" cy="347472"/>
          </a:xfrm>
          <a:prstGeom prst="rect">
            <a:avLst/>
          </a:prstGeom>
          <a:noFill/>
          <a:ln/>
        </p:spPr>
        <p:txBody>
          <a:bodyPr wrap="square" lIns="0" tIns="0" rIns="0" bIns="0" rtlCol="0" anchor="ctr"/>
          <a:lstStyle/>
          <a:p>
            <a:pPr indent="0" marL="0">
              <a:buNone/>
            </a:pPr>
            <a:r>
              <a:rPr lang="en-US" sz="1100" b="1" dirty="0">
                <a:solidFill>
                  <a:srgbClr val="A34B12"/>
                </a:solidFill>
                <a:latin typeface="Courier New" pitchFamily="34" charset="0"/>
                <a:ea typeface="Courier New" pitchFamily="34" charset="-122"/>
                <a:cs typeface="Courier New" pitchFamily="34" charset="-120"/>
              </a:rPr>
              <a:t>7</a:t>
            </a:r>
            <a:endParaRPr lang="en-US" sz="1100" dirty="0"/>
          </a:p>
        </p:txBody>
      </p:sp>
      <p:sp>
        <p:nvSpPr>
          <p:cNvPr id="22" name="Text 20"/>
          <p:cNvSpPr txBox="1"/>
          <p:nvPr/>
        </p:nvSpPr>
        <p:spPr>
          <a:xfrm>
            <a:off x="1097280" y="3493008"/>
            <a:ext cx="1417320" cy="347472"/>
          </a:xfrm>
          <a:prstGeom prst="rect">
            <a:avLst/>
          </a:prstGeom>
          <a:noFill/>
          <a:ln/>
        </p:spPr>
        <p:txBody>
          <a:bodyPr wrap="square" lIns="0" tIns="0" rIns="0" bIns="0" rtlCol="0" anchor="ctr"/>
          <a:lstStyle/>
          <a:p>
            <a:pPr indent="0" marL="0">
              <a:buNone/>
            </a:pPr>
            <a:r>
              <a:rPr lang="en-US" sz="1150" b="1" dirty="0">
                <a:solidFill>
                  <a:srgbClr val="221E1B"/>
                </a:solidFill>
                <a:latin typeface="Calibri" pitchFamily="34" charset="0"/>
                <a:ea typeface="Calibri" pitchFamily="34" charset="-122"/>
                <a:cs typeface="Calibri" pitchFamily="34" charset="-120"/>
              </a:rPr>
              <a:t>Back office</a:t>
            </a:r>
            <a:endParaRPr lang="en-US" sz="1150" dirty="0"/>
          </a:p>
        </p:txBody>
      </p:sp>
      <p:sp>
        <p:nvSpPr>
          <p:cNvPr id="23" name="Text 21"/>
          <p:cNvSpPr txBox="1"/>
          <p:nvPr/>
        </p:nvSpPr>
        <p:spPr>
          <a:xfrm>
            <a:off x="2606040" y="3493008"/>
            <a:ext cx="5989320" cy="347472"/>
          </a:xfrm>
          <a:prstGeom prst="rect">
            <a:avLst/>
          </a:prstGeom>
          <a:noFill/>
          <a:ln/>
        </p:spPr>
        <p:txBody>
          <a:bodyPr wrap="square" lIns="0" tIns="0" rIns="0" bIns="0" rtlCol="0" anchor="ctr"/>
          <a:lstStyle/>
          <a:p>
            <a:pPr indent="0" marL="0">
              <a:buNone/>
            </a:pPr>
            <a:r>
              <a:rPr lang="en-US" sz="1150" dirty="0">
                <a:solidFill>
                  <a:srgbClr val="221E1B"/>
                </a:solidFill>
                <a:latin typeface="Calibri" pitchFamily="34" charset="0"/>
                <a:ea typeface="Calibri" pitchFamily="34" charset="-122"/>
                <a:cs typeface="Calibri" pitchFamily="34" charset="-120"/>
              </a:rPr>
              <a:t>Cuts the shipping documents from what operations executed.</a:t>
            </a:r>
            <a:endParaRPr lang="en-US" sz="1150" dirty="0"/>
          </a:p>
        </p:txBody>
      </p:sp>
      <p:sp>
        <p:nvSpPr>
          <p:cNvPr id="24" name="Text 22"/>
          <p:cNvSpPr txBox="1"/>
          <p:nvPr/>
        </p:nvSpPr>
        <p:spPr>
          <a:xfrm>
            <a:off x="548640" y="3895344"/>
            <a:ext cx="457200" cy="347472"/>
          </a:xfrm>
          <a:prstGeom prst="rect">
            <a:avLst/>
          </a:prstGeom>
          <a:noFill/>
          <a:ln/>
        </p:spPr>
        <p:txBody>
          <a:bodyPr wrap="square" lIns="0" tIns="0" rIns="0" bIns="0" rtlCol="0" anchor="ctr"/>
          <a:lstStyle/>
          <a:p>
            <a:pPr indent="0" marL="0">
              <a:buNone/>
            </a:pPr>
            <a:r>
              <a:rPr lang="en-US" sz="1100" b="1" dirty="0">
                <a:solidFill>
                  <a:srgbClr val="A34B12"/>
                </a:solidFill>
                <a:latin typeface="Courier New" pitchFamily="34" charset="0"/>
                <a:ea typeface="Courier New" pitchFamily="34" charset="-122"/>
                <a:cs typeface="Courier New" pitchFamily="34" charset="-120"/>
              </a:rPr>
              <a:t>8</a:t>
            </a:r>
            <a:endParaRPr lang="en-US" sz="1100" dirty="0"/>
          </a:p>
        </p:txBody>
      </p:sp>
      <p:sp>
        <p:nvSpPr>
          <p:cNvPr id="25" name="Text 23"/>
          <p:cNvSpPr txBox="1"/>
          <p:nvPr/>
        </p:nvSpPr>
        <p:spPr>
          <a:xfrm>
            <a:off x="1097280" y="3895344"/>
            <a:ext cx="1417320" cy="347472"/>
          </a:xfrm>
          <a:prstGeom prst="rect">
            <a:avLst/>
          </a:prstGeom>
          <a:noFill/>
          <a:ln/>
        </p:spPr>
        <p:txBody>
          <a:bodyPr wrap="square" lIns="0" tIns="0" rIns="0" bIns="0" rtlCol="0" anchor="ctr"/>
          <a:lstStyle/>
          <a:p>
            <a:pPr indent="0" marL="0">
              <a:buNone/>
            </a:pPr>
            <a:r>
              <a:rPr lang="en-US" sz="1150" b="1" dirty="0">
                <a:solidFill>
                  <a:srgbClr val="221E1B"/>
                </a:solidFill>
                <a:latin typeface="Calibri" pitchFamily="34" charset="0"/>
                <a:ea typeface="Calibri" pitchFamily="34" charset="-122"/>
                <a:cs typeface="Calibri" pitchFamily="34" charset="-120"/>
              </a:rPr>
              <a:t>Middle office</a:t>
            </a:r>
            <a:endParaRPr lang="en-US" sz="1150" dirty="0"/>
          </a:p>
        </p:txBody>
      </p:sp>
      <p:sp>
        <p:nvSpPr>
          <p:cNvPr id="26" name="Text 24"/>
          <p:cNvSpPr txBox="1"/>
          <p:nvPr/>
        </p:nvSpPr>
        <p:spPr>
          <a:xfrm>
            <a:off x="2606040" y="3895344"/>
            <a:ext cx="5989320" cy="347472"/>
          </a:xfrm>
          <a:prstGeom prst="rect">
            <a:avLst/>
          </a:prstGeom>
          <a:noFill/>
          <a:ln/>
        </p:spPr>
        <p:txBody>
          <a:bodyPr wrap="square" lIns="0" tIns="0" rIns="0" bIns="0" rtlCol="0" anchor="ctr"/>
          <a:lstStyle/>
          <a:p>
            <a:pPr indent="0" marL="0">
              <a:buNone/>
            </a:pPr>
            <a:r>
              <a:rPr lang="en-US" sz="1150" dirty="0">
                <a:solidFill>
                  <a:srgbClr val="221E1B"/>
                </a:solidFill>
                <a:latin typeface="Calibri" pitchFamily="34" charset="0"/>
                <a:ea typeface="Calibri" pitchFamily="34" charset="-122"/>
                <a:cs typeface="Calibri" pitchFamily="34" charset="-120"/>
              </a:rPr>
              <a:t>Marks the book and hands the desk head a P&amp;L to sign.</a:t>
            </a:r>
            <a:endParaRPr lang="en-US" sz="1150" dirty="0"/>
          </a:p>
        </p:txBody>
      </p:sp>
      <p:sp>
        <p:nvSpPr>
          <p:cNvPr id="27" name="Text 25"/>
          <p:cNvSpPr txBox="1"/>
          <p:nvPr/>
        </p:nvSpPr>
        <p:spPr>
          <a:xfrm>
            <a:off x="548640" y="4389120"/>
            <a:ext cx="8046720" cy="320040"/>
          </a:xfrm>
          <a:prstGeom prst="rect">
            <a:avLst/>
          </a:prstGeom>
          <a:noFill/>
          <a:ln/>
        </p:spPr>
        <p:txBody>
          <a:bodyPr wrap="square" lIns="0" tIns="0" rIns="0" bIns="0" rtlCol="0" anchor="ctr"/>
          <a:lstStyle/>
          <a:p>
            <a:pPr indent="0" marL="0">
              <a:buNone/>
            </a:pPr>
            <a:r>
              <a:rPr lang="en-US" sz="1250" i="1" dirty="0">
                <a:solidFill>
                  <a:srgbClr val="6B655F"/>
                </a:solidFill>
                <a:latin typeface="Calibri" pitchFamily="34" charset="0"/>
                <a:ea typeface="Calibri" pitchFamily="34" charset="-122"/>
                <a:cs typeface="Calibri" pitchFamily="34" charset="-120"/>
              </a:rPr>
              <a:t>Eight touches, five departments — and only one of them is the part outsiders call trading.</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046720" cy="219456"/>
          </a:xfrm>
          <a:prstGeom prst="rect">
            <a:avLst/>
          </a:prstGeom>
          <a:noFill/>
          <a:ln/>
        </p:spPr>
        <p:txBody>
          <a:bodyPr wrap="square" lIns="0" tIns="0" rIns="0" bIns="0" rtlCol="0" anchor="ctr"/>
          <a:lstStyle/>
          <a:p>
            <a:pPr indent="0" marL="0">
              <a:buNone/>
            </a:pPr>
            <a:r>
              <a:rPr lang="en-US" sz="900" spc="140" kern="0" dirty="0">
                <a:solidFill>
                  <a:srgbClr val="A34B12"/>
                </a:solidFill>
                <a:latin typeface="Courier New" pitchFamily="34" charset="0"/>
                <a:ea typeface="Courier New" pitchFamily="34" charset="-122"/>
                <a:cs typeface="Courier New" pitchFamily="34" charset="-120"/>
              </a:rPr>
              <a:t>the building</a:t>
            </a:r>
            <a:endParaRPr lang="en-US" sz="900" dirty="0"/>
          </a:p>
        </p:txBody>
      </p:sp>
      <p:sp>
        <p:nvSpPr>
          <p:cNvPr id="3" name="Text 1"/>
          <p:cNvSpPr txBox="1"/>
          <p:nvPr/>
        </p:nvSpPr>
        <p:spPr>
          <a:xfrm>
            <a:off x="548640" y="566928"/>
            <a:ext cx="8046720" cy="914400"/>
          </a:xfrm>
          <a:prstGeom prst="rect">
            <a:avLst/>
          </a:prstGeom>
          <a:noFill/>
          <a:ln/>
        </p:spPr>
        <p:txBody>
          <a:bodyPr wrap="square" lIns="0" tIns="0" rIns="0" bIns="0" rtlCol="0" anchor="ctr"/>
          <a:lstStyle/>
          <a:p>
            <a:pPr indent="0" marL="0">
              <a:lnSpc>
                <a:spcPts val="3200"/>
              </a:lnSpc>
              <a:buNone/>
            </a:pPr>
            <a:r>
              <a:rPr lang="en-US" sz="2900" b="1" dirty="0">
                <a:solidFill>
                  <a:srgbClr val="221E1B"/>
                </a:solidFill>
                <a:latin typeface="Cambria" pitchFamily="34" charset="0"/>
                <a:ea typeface="Cambria" pitchFamily="34" charset="-122"/>
                <a:cs typeface="Cambria" pitchFamily="34" charset="-120"/>
              </a:rPr>
              <a:t>Goods forward, money backward</a:t>
            </a:r>
            <a:endParaRPr lang="en-US" sz="2900" dirty="0"/>
          </a:p>
        </p:txBody>
      </p:sp>
      <p:sp>
        <p:nvSpPr>
          <p:cNvPr id="4" name="Text 2"/>
          <p:cNvSpPr txBox="1"/>
          <p:nvPr/>
        </p:nvSpPr>
        <p:spPr>
          <a:xfrm>
            <a:off x="548640" y="4718304"/>
            <a:ext cx="5486400" cy="228600"/>
          </a:xfrm>
          <a:prstGeom prst="rect">
            <a:avLst/>
          </a:prstGeom>
          <a:noFill/>
          <a:ln/>
        </p:spPr>
        <p:txBody>
          <a:bodyPr wrap="square" lIns="0" tIns="0" rIns="0" bIns="0" rtlCol="0" anchor="ctr"/>
          <a:lstStyle/>
          <a:p>
            <a:pPr indent="0" marL="0">
              <a:buNone/>
            </a:pPr>
            <a:r>
              <a:rPr lang="en-US" sz="800" spc="120" kern="0" dirty="0">
                <a:solidFill>
                  <a:srgbClr val="6B655F"/>
                </a:solidFill>
                <a:latin typeface="Courier New" pitchFamily="34" charset="0"/>
                <a:ea typeface="Courier New" pitchFamily="34" charset="-122"/>
                <a:cs typeface="Courier New" pitchFamily="34" charset="-120"/>
              </a:rPr>
              <a:t>THE BUILDING</a:t>
            </a:r>
            <a:endParaRPr lang="en-US" sz="800" dirty="0"/>
          </a:p>
        </p:txBody>
      </p:sp>
      <p:sp>
        <p:nvSpPr>
          <p:cNvPr id="5" name="Text 3"/>
          <p:cNvSpPr txBox="1"/>
          <p:nvPr/>
        </p:nvSpPr>
        <p:spPr>
          <a:xfrm>
            <a:off x="8046720" y="4718304"/>
            <a:ext cx="548640" cy="228600"/>
          </a:xfrm>
          <a:prstGeom prst="rect">
            <a:avLst/>
          </a:prstGeom>
          <a:noFill/>
          <a:ln/>
        </p:spPr>
        <p:txBody>
          <a:bodyPr wrap="square" lIns="0" tIns="0" rIns="0" bIns="0" rtlCol="0" anchor="ctr"/>
          <a:lstStyle/>
          <a:p>
            <a:pPr algn="r" indent="0" marL="0">
              <a:buNone/>
            </a:pPr>
            <a:r>
              <a:rPr lang="en-US" sz="800" dirty="0">
                <a:solidFill>
                  <a:srgbClr val="6B655F"/>
                </a:solidFill>
                <a:latin typeface="Courier New" pitchFamily="34" charset="0"/>
                <a:ea typeface="Courier New" pitchFamily="34" charset="-122"/>
                <a:cs typeface="Courier New" pitchFamily="34" charset="-120"/>
              </a:rPr>
              <a:t>45</a:t>
            </a:r>
            <a:endParaRPr lang="en-US" sz="800" dirty="0"/>
          </a:p>
        </p:txBody>
      </p:sp>
      <p:sp>
        <p:nvSpPr>
          <p:cNvPr id="6" name="Text 4"/>
          <p:cNvSpPr txBox="1"/>
          <p:nvPr/>
        </p:nvSpPr>
        <p:spPr>
          <a:xfrm>
            <a:off x="548640" y="1645920"/>
            <a:ext cx="1554480" cy="365760"/>
          </a:xfrm>
          <a:prstGeom prst="rect">
            <a:avLst/>
          </a:prstGeom>
          <a:noFill/>
          <a:ln/>
        </p:spPr>
        <p:txBody>
          <a:bodyPr wrap="square" lIns="0" tIns="0" rIns="0" bIns="0" rtlCol="0" anchor="ctr"/>
          <a:lstStyle/>
          <a:p>
            <a:pPr indent="0" marL="0">
              <a:buNone/>
            </a:pPr>
            <a:r>
              <a:rPr lang="en-US" sz="1200" b="1" dirty="0">
                <a:solidFill>
                  <a:srgbClr val="A34B12"/>
                </a:solidFill>
                <a:latin typeface="Courier New" pitchFamily="34" charset="0"/>
                <a:ea typeface="Courier New" pitchFamily="34" charset="-122"/>
                <a:cs typeface="Courier New" pitchFamily="34" charset="-120"/>
              </a:rPr>
              <a:t>GOODS →</a:t>
            </a:r>
            <a:endParaRPr lang="en-US" sz="1200" dirty="0"/>
          </a:p>
        </p:txBody>
      </p:sp>
      <p:sp>
        <p:nvSpPr>
          <p:cNvPr id="7" name="Text 5"/>
          <p:cNvSpPr txBox="1"/>
          <p:nvPr/>
        </p:nvSpPr>
        <p:spPr>
          <a:xfrm>
            <a:off x="2240280" y="1645920"/>
            <a:ext cx="6355080" cy="731520"/>
          </a:xfrm>
          <a:prstGeom prst="rect">
            <a:avLst/>
          </a:prstGeom>
          <a:noFill/>
          <a:ln/>
        </p:spPr>
        <p:txBody>
          <a:bodyPr wrap="square" lIns="0" tIns="0" rIns="0" bIns="0" rtlCol="0" anchor="ctr"/>
          <a:lstStyle/>
          <a:p>
            <a:pPr indent="0" marL="0">
              <a:lnSpc>
                <a:spcPts val="1800"/>
              </a:lnSpc>
              <a:buNone/>
            </a:pPr>
            <a:r>
              <a:rPr lang="en-US" sz="1250" dirty="0">
                <a:solidFill>
                  <a:srgbClr val="221E1B"/>
                </a:solidFill>
                <a:latin typeface="Calibri" pitchFamily="34" charset="0"/>
                <a:ea typeface="Calibri" pitchFamily="34" charset="-122"/>
                <a:cs typeface="Calibri" pitchFamily="34" charset="-120"/>
              </a:rPr>
              <a:t>Truck, mill, container, vessel, warehouse, roastery. Months.</a:t>
            </a:r>
            <a:endParaRPr lang="en-US" sz="1250" dirty="0"/>
          </a:p>
        </p:txBody>
      </p:sp>
      <p:sp>
        <p:nvSpPr>
          <p:cNvPr id="8" name="Text 6"/>
          <p:cNvSpPr txBox="1"/>
          <p:nvPr/>
        </p:nvSpPr>
        <p:spPr>
          <a:xfrm>
            <a:off x="548640" y="2487168"/>
            <a:ext cx="1554480" cy="365760"/>
          </a:xfrm>
          <a:prstGeom prst="rect">
            <a:avLst/>
          </a:prstGeom>
          <a:noFill/>
          <a:ln/>
        </p:spPr>
        <p:txBody>
          <a:bodyPr wrap="square" lIns="0" tIns="0" rIns="0" bIns="0" rtlCol="0" anchor="ctr"/>
          <a:lstStyle/>
          <a:p>
            <a:pPr indent="0" marL="0">
              <a:buNone/>
            </a:pPr>
            <a:r>
              <a:rPr lang="en-US" sz="1200" b="1" dirty="0">
                <a:solidFill>
                  <a:srgbClr val="46505A"/>
                </a:solidFill>
                <a:latin typeface="Courier New" pitchFamily="34" charset="0"/>
                <a:ea typeface="Courier New" pitchFamily="34" charset="-122"/>
                <a:cs typeface="Courier New" pitchFamily="34" charset="-120"/>
              </a:rPr>
              <a:t>DOCUMENTS →</a:t>
            </a:r>
            <a:endParaRPr lang="en-US" sz="1200" dirty="0"/>
          </a:p>
        </p:txBody>
      </p:sp>
      <p:sp>
        <p:nvSpPr>
          <p:cNvPr id="9" name="Text 7"/>
          <p:cNvSpPr txBox="1"/>
          <p:nvPr/>
        </p:nvSpPr>
        <p:spPr>
          <a:xfrm>
            <a:off x="2240280" y="2487168"/>
            <a:ext cx="6355080" cy="731520"/>
          </a:xfrm>
          <a:prstGeom prst="rect">
            <a:avLst/>
          </a:prstGeom>
          <a:noFill/>
          <a:ln/>
        </p:spPr>
        <p:txBody>
          <a:bodyPr wrap="square" lIns="0" tIns="0" rIns="0" bIns="0" rtlCol="0" anchor="ctr"/>
          <a:lstStyle/>
          <a:p>
            <a:pPr indent="0" marL="0">
              <a:lnSpc>
                <a:spcPts val="1800"/>
              </a:lnSpc>
              <a:buNone/>
            </a:pPr>
            <a:r>
              <a:rPr lang="en-US" sz="1250" dirty="0">
                <a:solidFill>
                  <a:srgbClr val="221E1B"/>
                </a:solidFill>
                <a:latin typeface="Calibri" pitchFamily="34" charset="0"/>
                <a:ea typeface="Calibri" pitchFamily="34" charset="-122"/>
                <a:cs typeface="Calibri" pitchFamily="34" charset="-120"/>
              </a:rPr>
              <a:t>Purchase contract, weighbridge slip, bill of lading, quality and phyto certificates, invoice. No clean documents, no payment.</a:t>
            </a:r>
            <a:endParaRPr lang="en-US" sz="1250" dirty="0"/>
          </a:p>
        </p:txBody>
      </p:sp>
      <p:sp>
        <p:nvSpPr>
          <p:cNvPr id="10" name="Text 8"/>
          <p:cNvSpPr txBox="1"/>
          <p:nvPr/>
        </p:nvSpPr>
        <p:spPr>
          <a:xfrm>
            <a:off x="548640" y="3328416"/>
            <a:ext cx="1554480" cy="365760"/>
          </a:xfrm>
          <a:prstGeom prst="rect">
            <a:avLst/>
          </a:prstGeom>
          <a:noFill/>
          <a:ln/>
        </p:spPr>
        <p:txBody>
          <a:bodyPr wrap="square" lIns="0" tIns="0" rIns="0" bIns="0" rtlCol="0" anchor="ctr"/>
          <a:lstStyle/>
          <a:p>
            <a:pPr indent="0" marL="0">
              <a:buNone/>
            </a:pPr>
            <a:r>
              <a:rPr lang="en-US" sz="1200" b="1" dirty="0">
                <a:solidFill>
                  <a:srgbClr val="6B655F"/>
                </a:solidFill>
                <a:latin typeface="Courier New" pitchFamily="34" charset="0"/>
                <a:ea typeface="Courier New" pitchFamily="34" charset="-122"/>
                <a:cs typeface="Courier New" pitchFamily="34" charset="-120"/>
              </a:rPr>
              <a:t>← MONEY</a:t>
            </a:r>
            <a:endParaRPr lang="en-US" sz="1200" dirty="0"/>
          </a:p>
        </p:txBody>
      </p:sp>
      <p:sp>
        <p:nvSpPr>
          <p:cNvPr id="11" name="Text 9"/>
          <p:cNvSpPr txBox="1"/>
          <p:nvPr/>
        </p:nvSpPr>
        <p:spPr>
          <a:xfrm>
            <a:off x="2240280" y="3328416"/>
            <a:ext cx="6355080" cy="731520"/>
          </a:xfrm>
          <a:prstGeom prst="rect">
            <a:avLst/>
          </a:prstGeom>
          <a:noFill/>
          <a:ln/>
        </p:spPr>
        <p:txBody>
          <a:bodyPr wrap="square" lIns="0" tIns="0" rIns="0" bIns="0" rtlCol="0" anchor="ctr"/>
          <a:lstStyle/>
          <a:p>
            <a:pPr indent="0" marL="0">
              <a:lnSpc>
                <a:spcPts val="1800"/>
              </a:lnSpc>
              <a:buNone/>
            </a:pPr>
            <a:r>
              <a:rPr lang="en-US" sz="1250" dirty="0">
                <a:solidFill>
                  <a:srgbClr val="221E1B"/>
                </a:solidFill>
                <a:latin typeface="Calibri" pitchFamily="34" charset="0"/>
                <a:ea typeface="Calibri" pitchFamily="34" charset="-122"/>
                <a:cs typeface="Calibri" pitchFamily="34" charset="-120"/>
              </a:rPr>
              <a:t>The desk pays the farmer in November and is paid by the roaster months later. The gap is financed, insured and hedged.</a:t>
            </a:r>
            <a:endParaRPr lang="en-US" sz="1250" dirty="0"/>
          </a:p>
        </p:txBody>
      </p:sp>
      <p:sp>
        <p:nvSpPr>
          <p:cNvPr id="12" name="Text 10"/>
          <p:cNvSpPr txBox="1"/>
          <p:nvPr/>
        </p:nvSpPr>
        <p:spPr>
          <a:xfrm>
            <a:off x="548640" y="4160520"/>
            <a:ext cx="8046720" cy="457200"/>
          </a:xfrm>
          <a:prstGeom prst="rect">
            <a:avLst/>
          </a:prstGeom>
          <a:noFill/>
          <a:ln/>
        </p:spPr>
        <p:txBody>
          <a:bodyPr wrap="square" lIns="0" tIns="0" rIns="0" bIns="0" rtlCol="0" anchor="ctr"/>
          <a:lstStyle/>
          <a:p>
            <a:pPr indent="0" marL="0">
              <a:lnSpc>
                <a:spcPts val="1800"/>
              </a:lnSpc>
              <a:buNone/>
            </a:pPr>
            <a:r>
              <a:rPr lang="en-US" sz="1250" dirty="0">
                <a:solidFill>
                  <a:srgbClr val="221E1B"/>
                </a:solidFill>
                <a:latin typeface="Calibri" pitchFamily="34" charset="0"/>
                <a:ea typeface="Calibri" pitchFamily="34" charset="-122"/>
                <a:cs typeface="Calibri" pitchFamily="34" charset="-120"/>
              </a:rPr>
              <a:t>That is the machine you would be joining: not a trading screen, but a chain that turns a farmer's crop into a roaster's delivery — profitably, and on paper a bank will finance.</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221E1B"/>
        </a:solidFill>
      </p:bgPr>
    </p:bg>
    <p:spTree>
      <p:nvGrpSpPr>
        <p:cNvPr id="1" name=""/>
        <p:cNvGrpSpPr/>
        <p:nvPr/>
      </p:nvGrpSpPr>
      <p:grpSpPr>
        <a:xfrm>
          <a:off x="0" y="0"/>
          <a:ext cx="0" cy="0"/>
          <a:chOff x="0" y="0"/>
          <a:chExt cx="0" cy="0"/>
        </a:xfrm>
      </p:grpSpPr>
      <p:sp>
        <p:nvSpPr>
          <p:cNvPr id="2" name="Text 0"/>
          <p:cNvSpPr txBox="1"/>
          <p:nvPr/>
        </p:nvSpPr>
        <p:spPr>
          <a:xfrm>
            <a:off x="548640" y="777240"/>
            <a:ext cx="804672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we got to</a:t>
            </a:r>
            <a:endParaRPr lang="en-US" sz="3000" dirty="0"/>
          </a:p>
        </p:txBody>
      </p:sp>
      <p:sp>
        <p:nvSpPr>
          <p:cNvPr id="3" name="Text 1"/>
          <p:cNvSpPr txBox="1"/>
          <p:nvPr/>
        </p:nvSpPr>
        <p:spPr>
          <a:xfrm>
            <a:off x="548640" y="1554480"/>
            <a:ext cx="8046720" cy="2194560"/>
          </a:xfrm>
          <a:prstGeom prst="rect">
            <a:avLst/>
          </a:prstGeom>
          <a:noFill/>
          <a:ln/>
        </p:spPr>
        <p:txBody>
          <a:bodyPr wrap="square" lIns="0" tIns="0" rIns="0" bIns="0" rtlCol="0" anchor="ctr"/>
          <a:lstStyle/>
          <a:p>
            <a:pPr marL="342900" indent="-342900">
              <a:lnSpc>
                <a:spcPts val="2600"/>
              </a:lnSpc>
              <a:spcAft>
                <a:spcPts val="600"/>
              </a:spcAft>
              <a:buSzPct val="100000"/>
              <a:buChar char="–"/>
            </a:pPr>
            <a:r>
              <a:rPr lang="en-US" sz="1400" dirty="0">
                <a:solidFill>
                  <a:srgbClr val="D9D2CB"/>
                </a:solidFill>
                <a:latin typeface="Calibri" pitchFamily="34" charset="0"/>
                <a:ea typeface="Calibri" pitchFamily="34" charset="-122"/>
                <a:cs typeface="Calibri" pitchFamily="34" charset="-120"/>
              </a:rPr>
              <a:t>A trader is paid to carry risk the chain cannot carry, and to convert a flat price into a differential.</a:t>
            </a:r>
            <a:endParaRPr lang="en-US" sz="1400" dirty="0"/>
          </a:p>
          <a:p>
            <a:pPr marL="342900" indent="-342900">
              <a:lnSpc>
                <a:spcPts val="2600"/>
              </a:lnSpc>
              <a:spcAft>
                <a:spcPts val="600"/>
              </a:spcAft>
              <a:buSzPct val="100000"/>
              <a:buChar char="–"/>
            </a:pPr>
            <a:r>
              <a:rPr lang="en-US" sz="1400" dirty="0">
                <a:solidFill>
                  <a:srgbClr val="D9D2CB"/>
                </a:solidFill>
                <a:latin typeface="Calibri" pitchFamily="34" charset="0"/>
                <a:ea typeface="Calibri" pitchFamily="34" charset="-122"/>
                <a:cs typeface="Calibri" pitchFamily="34" charset="-120"/>
              </a:rPr>
              <a:t>The exchange exists because bilateral markets have no reference price and no protection in advance.</a:t>
            </a:r>
            <a:endParaRPr lang="en-US" sz="1400" dirty="0"/>
          </a:p>
          <a:p>
            <a:pPr marL="342900" indent="-342900">
              <a:lnSpc>
                <a:spcPts val="2600"/>
              </a:lnSpc>
              <a:spcAft>
                <a:spcPts val="600"/>
              </a:spcAft>
              <a:buSzPct val="100000"/>
              <a:buChar char="–"/>
            </a:pPr>
            <a:r>
              <a:rPr lang="en-US" sz="1400" dirty="0">
                <a:solidFill>
                  <a:srgbClr val="D9D2CB"/>
                </a:solidFill>
                <a:latin typeface="Calibri" pitchFamily="34" charset="0"/>
                <a:ea typeface="Calibri" pitchFamily="34" charset="-122"/>
                <a:cs typeface="Calibri" pitchFamily="34" charset="-120"/>
              </a:rPr>
              <a:t>A futures contract standardises everything except price — and the clearing house makes strangers tradeable.</a:t>
            </a:r>
            <a:endParaRPr lang="en-US" sz="1400" dirty="0"/>
          </a:p>
          <a:p>
            <a:pPr marL="342900" indent="-342900">
              <a:lnSpc>
                <a:spcPts val="2600"/>
              </a:lnSpc>
              <a:spcAft>
                <a:spcPts val="600"/>
              </a:spcAft>
              <a:buSzPct val="100000"/>
              <a:buChar char="–"/>
            </a:pPr>
            <a:r>
              <a:rPr lang="en-US" sz="1400" dirty="0">
                <a:solidFill>
                  <a:srgbClr val="D9D2CB"/>
                </a:solidFill>
                <a:latin typeface="Calibri" pitchFamily="34" charset="0"/>
                <a:ea typeface="Calibri" pitchFamily="34" charset="-122"/>
                <a:cs typeface="Calibri" pitchFamily="34" charset="-120"/>
              </a:rPr>
              <a:t>The curve is not a forecast. Open interest tells you who is really there.</a:t>
            </a:r>
            <a:endParaRPr lang="en-US" sz="1400" dirty="0"/>
          </a:p>
          <a:p>
            <a:pPr marL="342900" indent="-342900">
              <a:lnSpc>
                <a:spcPts val="2600"/>
              </a:lnSpc>
              <a:spcAft>
                <a:spcPts val="600"/>
              </a:spcAft>
              <a:buSzPct val="100000"/>
              <a:buChar char="–"/>
            </a:pPr>
            <a:r>
              <a:rPr lang="en-US" sz="1400" dirty="0">
                <a:solidFill>
                  <a:srgbClr val="D9D2CB"/>
                </a:solidFill>
                <a:latin typeface="Calibri" pitchFamily="34" charset="0"/>
                <a:ea typeface="Calibri" pitchFamily="34" charset="-122"/>
                <a:cs typeface="Calibri" pitchFamily="34" charset="-120"/>
              </a:rPr>
              <a:t>Supply and demand is a balance sheet, and the carry-out is the line that adjusts.</a:t>
            </a:r>
            <a:endParaRPr lang="en-US" sz="1400" dirty="0"/>
          </a:p>
        </p:txBody>
      </p:sp>
      <p:sp>
        <p:nvSpPr>
          <p:cNvPr id="4" name="Text 2"/>
          <p:cNvSpPr txBox="1"/>
          <p:nvPr/>
        </p:nvSpPr>
        <p:spPr>
          <a:xfrm>
            <a:off x="548640" y="3931920"/>
            <a:ext cx="8046720" cy="411480"/>
          </a:xfrm>
          <a:prstGeom prst="rect">
            <a:avLst/>
          </a:prstGeom>
          <a:noFill/>
          <a:ln/>
        </p:spPr>
        <p:txBody>
          <a:bodyPr wrap="square" lIns="0" tIns="0" rIns="0" bIns="0" rtlCol="0" anchor="ctr"/>
          <a:lstStyle/>
          <a:p>
            <a:pPr indent="0" marL="0">
              <a:buNone/>
            </a:pPr>
            <a:r>
              <a:rPr lang="en-US" sz="1600" dirty="0">
                <a:solidFill>
                  <a:srgbClr val="A34B12"/>
                </a:solidFill>
                <a:latin typeface="Cambria" pitchFamily="34" charset="0"/>
                <a:ea typeface="Cambria" pitchFamily="34" charset="-122"/>
                <a:cs typeface="Cambria" pitchFamily="34" charset="-120"/>
              </a:rPr>
              <a:t>Module 2 — hedging, PTBF and the basis. Everything today was the vocabulary for 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Commodity Trading — Module 1</dc:title>
  <dc:subject>PptxGenJS Presentation</dc:subject>
  <dc:creator>Loïc Scanu</dc:creator>
  <cp:lastModifiedBy>Loïc Scanu</cp:lastModifiedBy>
  <cp:revision>1</cp:revision>
  <dcterms:created xsi:type="dcterms:W3CDTF">2026-09-19T11:52:32Z</dcterms:created>
  <dcterms:modified xsi:type="dcterms:W3CDTF">2026-09-19T11:52:32Z</dcterms:modified>
</cp:coreProperties>
</file>